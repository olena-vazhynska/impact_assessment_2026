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Welcome participants and frame the session as a discussion about the people who will operate, repair, modernize and lead the energy system. Emphasize that the session brings together three issues that are often treated separately: the future of energy work, gender equality and inclusion, and occupational safety and health. In the Ukrainian context these questions are immediate, because energy workers are simultaneously protecting continuity of essential services, responding to extraordinary operational strain and preparing for a more decentralized, digital and renewable energy system. The core proposition is simple: a workforce cannot be future-ready if part of that workforce is excluded, if equipment and work organization do not fit the people doing the job, or if physical and psychosocial risks are transferred to individuals rather than managed by institutions. Invite participants to keep their own workplace, enterprise or policy role in mind throughout the session.
[Sources]
- ILO, Protecting and Preparing Ukraine's Energy Workforce for Sustainable Recovery (2026): https://www.ilo.org/resource/news/ilo-and-government-netherlands-launch-project-protect-ukrainians-working
- ITCILO Brand Guidelines, April 2026 (user-provided file).
- Photo: Adam Jones, Wind Turbine with Workers - Boryspil - Ukraine, CC BY-SA 2.0.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 minutes
Use this as a quick opening poll. Ask participants to choose one word - safe, inclusive, skilled or resilient - that is currently the weakest dimension in their institution or enterprise. Take two or three responses. Then make the connection: these are not competing objectives. Safety without inclusion can overlook how risk is distributed. Inclusion without competence and safe work design can become symbolic. Skills investment without social dialogue can miss the realities of the job. Resilience that relies on chronic overwork is not sustainable. The centre of the diagram is decent work because the ILO just transition framework is not only about the number of jobs created; it is about rights, protection, participation, equality and the quality of those jobs. This slide also gives you an early reading of the room and helps you return to participants' priorities at the end.
[Sources]
- ILO, Gender, equality and inclusion for a just transition in climate action (2024): https://www.ilo.org/publications/gender-equality-and-inclusion-just-transition-climate-action
- ILO, Resolution concerning a just transition towards environmentally sustainable economies and societies for all (2023): https://www.ilo.org/resource/resolution-concerning-just-transition-towards-environmentally-sustainable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 minutes
Explain that the future of energy work is shaped by three transitions that overlap rather than arrive one after another. First, resilience and reconstruction require workers who can restore services under difficult conditions and organizations that can learn from emergencies. Second, decarbonization and decentralization change technologies, supply chains, occupational profiles and the location of work. Third, digitalization changes how hazards are detected, how work is allocated and how performance is monitored. Each transition can improve safety and widen opportunity, but each can also reproduce exclusion or introduce new risks. For example, remote monitoring may reduce exposure to high-voltage environments, but poorly designed systems may intensify work or reduce autonomy. New renewable occupations may expand employment, but women may remain concentrated in administration rather than technical and leadership roles. The policy challenge is therefore to connect energy policy, skills policy, equality policy and OSH governance instead of treating them as separate workstreams.
[Sources]
- ILO, Occupational safety and health in a just transition (2023): https://www.ilo.org/publications/occupational-safety-and-health-just-transition
- IRENA and ILO, Renewable energy and jobs: Annual review 2025 (2026): https://www.irena.org/Publications/2026/Jan/Renewable-energy-and-jobs-Annual-review-2025
- ILO, Revolutionizing health and safety: The role of AI and digitalization at work (2025), user-provided project file.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 minutes
Present the four verbs as a practical workforce logic. Anticipation means using labour-market information, risk data and worker knowledge to understand how jobs and hazards are changing. Preparation means more than offering a course: it includes accessible recruitment, apprenticeships, recognition of prior learning and pathways for workers whose jobs are changing. Protection means that speed of deployment or reconstruction cannot displace labour rights, OSH obligations or social protection. Participation means that workers and their representatives are involved early enough to influence decisions, not only informed after technology and work organization have already been selected. Connect this to gender: women and other underrepresented groups need to be visible in the data, present in decision-making and able to access technical and leadership pathways. Connect it to OSH: prevention should be designed into new infrastructure, procurement and training from the beginning. This is cheaper and more effective than correcting unsafe systems later.
[Sources]
- ILO, Guidelines for a just transition towards environmentally sustainable economies and societies for all (2015).
- ILO, Gender, equality and inclusion for a just transition in climate action (2024): https://www.ilo.org/publications/gender-equality-and-inclusion-just-transition-climate-action
- ILO, The role of collective bargaining in promoting just transitions (2025): https://www.ilo.org/publications/role-collective-bargaining-promoting-just-transitions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Use this slide to establish the scale and nature of the gap without treating women as a single homogeneous group. The IEA estimates that women hold about one in five energy jobs, compared with roughly two in five jobs across the economy. IRENA finds a higher share in renewables, around 32 per cent, but the distribution is uneven: participation declines in STEM, installation and construction, and senior leadership. Clarify that the figures come from different datasets and are not a time series. The important message is the pattern. Growth in renewable energy jobs does not automatically remove occupational segregation, biased recruitment, unequal care responsibilities, unsuitable facilities or workplace cultures that discourage retention. Ask participants where they see the largest gap in their own context: entry into technical occupations, retention, promotion or leadership. Link the answer to workforce planning: underrepresentation is not only an equality issue; it can become a skills bottleneck and a source of blind spots in design and risk management.
[Sources]
- IEA, Understanding gender gaps in the energy sector: https://www.iea.org/spotlights/understanding-gender-gaps-in-the-energy-sector
- IRENA, Renewable Energy: A Gender Perspective, second edition (2025): https://www.irena.org/Publications/2025/Oct/Renewable-Energy-A-Gender-Perspective
- IRENA, Women's Share of the Renewable Energy Workforce Remains at 32% (2025): https://www.irena.org/News/pressreleases/2025/Oct/Womens-Share-of-the-Renewable-Energy-Workforce-Remains-at-32-percent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 minutes
Explain that inclusion changes exposure, protection and the ability to act. Occupational risk is not distributed only by job title. It is distributed through everyday decisions about who performs emergency tasks, who works nights, who travels, who receives mentoring, whose body dimensions are reflected in equipment and who is listened to when raising a concern. This is why equality should not be placed outside the OSH management system as a separate human-resources topic. A workforce may appear diverse in headcount while women, younger workers, contractors or persons with disabilities remain excluded from decision-making or concentrated in particular tasks. Conversely, an inclusive OSH approach improves the quality of hazard identification because it draws on a wider range of experience. Invite participants to think of one task in their workplace for which allocation is shaped by habit or stereotype rather than a transparent assessment of competence, exposure and controls.
[Sources]
- ILO, Gender and Occupational Safety and Health: https://www.ilo.org/topics-and-sectors/safety-and-health-work/gender-and-occupational-safety-and-health
- ILO, 10 Keys for gender sensitive OSH practice (2013): https://www.ilo.org/publications/10-keys-gender-sensitive-osh-practice-%E2%80%93-guidelines-gender-mainstreaming
- User-provided presentation: Felix Martin Daza, Key Gender Issues in the Field of Occupational Health and Safety.
- Photo: Gaius Cornelius, Maintenance workers on electricity pylon, CC BY-SA 4.0.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 minutes
This slide updates the sex and gender distinction from the attached presentation. Sex-related factors may matter for some exposures, body dimensions, equipment fit and reproductive health. Gender-related factors are socially produced: who enters a job, who is expected to perform particular tasks, who works particular schedules, who has unpaid care responsibilities and who has authority. The overlap is work design. A poorly designed workplace converts differences into unequal risk. A well-designed workplace anticipates variation and creates controls that work for a diverse workforce. Avoid presenting women and men as two uniform groups. The aim is not to make assumptions about strength, behaviour or vulnerability. It is to ask whether data, equipment, task design and preventive measures reflect the actual workforce. Emphasize the phrase on the right: gender-sensitive risk assessment should replace stereotypes with evidence. This also opens the door to intersectionality - age, disability, contract status, displacement, pregnancy, caregiving and other factors may combine with gender to shape exposure and access to protection.
[Sources]
- User-provided presentation: Felix Martin Daza, Key Gender Issues in the Field of Occupational Health and Safety.
- ILO, Gender and Occupational Safety and Health: https://www.ilo.org/topics-and-sectors/safety-and-health-work/gender-and-occupational-safety-and-health
- ILO, 10 Keys for gender sensitive OSH practice (2013): https://www.ilo.org/publications/10-keys-gender-sensitive-osh-practice-%E2%80%93-guidelines-gender-mainstreaming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Walk along the energy value chain and explain that occupational segregation determines which hazards people encounter. Women may be present in the sector but concentrated in administrative or support roles, while men may be concentrated in field, maintenance, construction, mining and emergency response tasks. This can produce two blind spots. First, highly visible traditional hazards may be associated with male-dominated work, while risks in office, control-room, customer-facing or support work are underestimated. Second, when women enter technical roles, the workplace may still be designed around the previous workforce - in equipment, facilities, schedules, training examples and workplace culture. Ask participants where contractors fit in this picture, because contracted workers often carry high-risk tasks while being less visible in enterprise data and consultation. The practical implication is to disaggregate exposure by task and employment arrangement, not only by sex or job title. A modern risk profile must cover the entire value chain and all categories of worker.
[Sources]
- IEA, Energy and Gender: https://www.iea.org/topics/energy-and-gender
- IRENA, Renewable Energy: A Gender Perspective, second edition (2025): https://www.irena.org/Publications/2025/Oct/Renewable-Energy-A-Gender-Perspective
- ILO, Decent work in renewable energy and critical mineral supply chains (2025): https://researchrepository.ilo.org/esploro/outputs/encyclopediaEntry/Decent-work-in-renewable-energy-and/995703659302676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Use the pathway to move the discussion from hazard identification to exposure pathways. The same electrical, chemical or psychosocial hazard may affect workers differently because they perform different tasks, use different equipment, work different schedules or have different power to stop work. For example, an emergency repair hazard may be technically identical for all workers, but one worker may have a harness that fits, another may be fatigued after a long shift, and a contractor may feel unable to challenge the schedule. These differences are not personal weakness; they are features of the work system. Ask participants where their risk assessments typically stop. Do they identify the hazard and list PPE, or do they also examine task duration, equipment fit, staffing, working time, reporting culture and recovery? The final outcome includes exclusion: a poorly designed control may keep women, pregnant workers or persons with disabilities out of a task instead of controlling the hazard for everyone.
[Sources]
- ILO, 10 Keys for gender sensitive OSH practice (2013).
- ILO, Occupational safety and health in a just transition (2023).
- User-provided presentation: Felix Martin Daza, Key Gender Issues in the Field of Occupational Health and Safety.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 minutes
Stress that gender-sensitive risk assessment does not require a separate assessment for every group. It requires a better assessment of the real workforce and the real task. The three questions help teams challenge apparently neutral assumptions. Who is exposed may not be visible in formal job descriptions. How the task is done may differ from the procedure because of staffing shortages, equipment design or informal workarounds. Who is absent from the data is especially important: low incident numbers may reflect under-reporting, lack of access or the exclusion of certain workers from particular tasks. Use the blind spots to prompt examples. In energy workplaces, sanitation, changing facilities and safe transport can affect retention and safe participation. PPE fit can affect fall protection, electrical protection and emergency movement. Working time and commuting can create fatigue exposure. Violence and harassment can occur in crews, accommodation, transport, customer-facing work or digital communication. The output of the assessment should be preventive action, not a list of vulnerable people.
[Sources]
- ILO, 10 Keys for gender sensitive OSH practice (2013).
- ILO Curriculum on Building Modern and Effective Labour Inspection Systems, Module 8: Occupational safety and health (user-provided file).
- ILO Curriculum, Modules 14 and 15 on psychosocial risks (user-provided files).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Emphasize that PPE fit is not a comfort issue; it is part of the effectiveness of the control. A respirator that does not seal, a harness that does not fit, gloves that reduce dexterity or boots that alter balance may create new hazards. The same principle applies to tools, controls, vehicles and emergency procedures. The attached gender presentation explicitly noted that PPE has often been designed around male body dimensions. Ask participants how procurement specifications are currently written: by a single standard size, or by functional performance across a range of users? Encourage organizations to include workers in trials before large purchases, maintain size ranges, record fit problems and ensure that the answer is not to exclude the worker from the task. Extend the point to facilities. Changing rooms, sanitation, lighting, transport and accommodation affect whether women and other workers can participate safely, especially in remote, underground, night or emergency work. Procurement and infrastructure decisions are therefore part of gender-responsive OSH.
[Sources]
- User-provided presentation: Felix Martin Daza, Key Gender Issues in the Field of Occupational Health and Safety.
- ILO, 10 Keys for gender sensitive OSH practice (2013), Key 9: Designing equipment, tools and PPE for both women and men.
- Photo: Climate Visuals / technicians working on a solar panel installation, CC BY 2.0.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Use this slide to distinguish protection from paternalistic exclusion. Historical protective legislation sometimes prohibited women from night work, underground work or other occupations. Contemporary OSH principles focus on controlling hazards for all workers and providing appropriate maternity protection and accommodation. Reproductive hazards can affect women and men before conception, during pregnancy and after birth. They may include chemicals, radiation, heat, biological agents, heavy physical work, stress and working time. The preventive approach therefore starts with substitution, engineering controls, safe work organization and exposure limits, followed by confidential occupational health advice and individual accommodation where required. Employment protection and non-discrimination are essential so that workers can disclose needs without fear of losing their job or career opportunities. Avoid turning this into a medical lecture; keep the focus on risk management, equality and confidentiality. Ask whether current policies protect the worker or remove the worker from opportunity.
[Sources]
- User-provided presentation: Felix Martin Daza, Key Gender Issues in the Field of Occupational Health and Safety.
- ILO, Gender and Occupational Safety and Health: https://www.ilo.org/topics-and-sectors/safety-and-health-work/gender-and-occupational-safety-and-health
- ILO Maternity Protection Convention, 2000 (No. 183), and Recommendation No. 191.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State clearly that violence and harassment are not only conduct or disciplinary issues. They affect physical and mental health, concentration, reporting, retention and the ability to perform work safely. Convention No. 190 covers violence and harassment connected with work, including in places where workers are paid, take breaks, use sanitary facilities, travel, receive training, communicate through work-related technologies or stay in employer-provided accommodation. In energy work, risk may be heightened by isolated sites, night work, emergency call-outs, contractor interfaces, male-dominated teams and power imbalances between apprentices, supervisors and permanent and temporary workers. Prevention should be integrated into OSH risk assessment and management, not left to a policy document that workers do not trust. Stress confidentiality, non-retaliation, multiple reporting channels, access to support and fair investigation. Ask whether a worker could raise a concern about harassment by a high-performing technical expert without fearing damage to their career.
[Sources]
- ILO Violence and Harassment Convention, 2019 (No. 190): https://www.ilo.org/resource/ilc/108/violence-and-harassment-convention-2019-no-190
- ILO, Safe and healthy working environments free from violence and harassment (2020): https://www.ilo.org/publications/safe-and-healthy-working-environments-free-violence-and-harassment
- ILO, Guide on Convention No. 190 and Recommendation No. 206 (2021): https://www.ilo.org/publications/violence-and-harassment-world-work-guide-convention-no-190-and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Use this slide to resist the idea that modernization automatically means safer work. Renewable generation, storage, hydrogen, smart grids and digital tools introduce new processes and interfaces while traditional hazards remain. Electrical work, work at height, lifting, driving, confined spaces, fire and chemical exposure continue to require strong controls. At the same time, climate change increases heat and extreme-weather exposure; battery and hydrogen systems introduce specific fire, explosion and chemical hazards; automation can create over-trust or deskilling; and cyber-physical failures can have safety consequences. Complex supply chains and contractors can fragment responsibility. The management response is not to reject innovation, but to integrate OSH into design, procurement, commissioning, training and change management. Ask participants which emerging risk is currently least developed in their organization's risk register. Note that gender and inclusion cut across both columns because exposure, fit, training and voice influence how every hazard is experienced.
[Sources]
- ILO, Occupational safety and health in a just transition (2023).
- ILO, Ensuring safety and health at work in a changing climate (2024): https://www.ilo.org/publications/ensuring-safety-and-health-work-changing-climate
- ILO, Revolutionizing health and safety: The role of AI and digitalization at work (2025), user-provided project file.
- Photo: Kenueone, Renewable Energy on the Grid, CC0.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Explain that energy workers are both essential to climate adaptation and exposed to climate-related hazards. Outdoor line workers, construction crews, renewable-energy technicians and emergency restoration teams may face heat, UV radiation and extreme weather. Indoor workers may also experience heat where ventilation is limited or equipment generates heat. Climate events can change the work context rapidly: damaged structures, unstable ground, smoke, contaminated water, disrupted transport and extended shifts. The ILO global report highlights excessive heat, UV radiation, extreme weather, air pollution, vector-borne disease and agrochemicals; in energy work, psychosocial effects and fatigue during disaster response are also central. Stress that adaptation is organizational: heat plans, work-rest cycles, hydration, acclimatization, staffing, weather monitoring, emergency coordination and the right to stop work. PPE choices must consider heat load and fit. The gender lens matters because task allocation, clothing, sanitation, pregnancy, commuting and unpaid care may affect exposure and recovery.
[Sources]
- ILO, Ensuring safety and health at work in a changing climate (2024): https://www.ilo.org/publications/ensuring-safety-and-health-work-changing-climate
- ILO, Report at a glance: Ensuring safety and health at work in a changing climate (2024).
- Photo: Electrical substation, public domain / Wikimedia Commons.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 minutes
Balance the discussion. Digital technologies can remove workers from dangerous environments, improve detection and support faster response. In the energy sector, drones, thermal imaging, sensors, predictive analytics and remote support can be particularly valuable. But a tool that produces data is not automatically a control. Poor data, weak calibration, automation bias or unclear responsibility may create false confidence. Algorithmic management can increase work pace, reduce autonomy or monitor workers in ways that undermine trust and psychosocial health. Bias may arise if systems are trained on data that do not represent women, older workers, persons with disabilities or different body types. Stress that qualified professionals remain accountable for final decisions. Worker participation is essential before deployment, because users understand how the technology interacts with real tasks. The governing question is not only whether the tool works technically, but whether it improves safety for the whole workforce under actual operating conditions.
[Sources]
- ILO, Revolutionizing health and safety: The role of AI and digitalization at work (2025), user-provided project file.
- EU-OSHA, Strategies for safety and health in an automated world, user-provided project file.
- EU-OSHA, Towards AI-based and algorithmic worker management systems, user-provided project file.
- ICOH presentation on AI use in occupational health practice, user-provided project file.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Offer the six questions as a practical governance checklist before procurement, pilot or scale-up. Start with purpose: a technology should respond to a defined risk or work problem, not be adopted because it is fashionable. Participation should include the people who will use the tool and those affected by the data it generates. Human oversight means a qualified person remains responsible and workers can challenge unsafe outputs. Privacy requires data minimization, transparency and safeguards against using OSH data for punitive performance management. Inclusion requires testing across different users, body sizes, languages, digital skills and accessibility needs. Learning means treating deployment as an ongoing change process: review false alarms, missed hazards, workarounds, incidents and psychosocial effects. Ask participants which question is most often missing in their technology projects. This framework can also be applied to AI-based inspection tools and digital monitoring systems used by authorities.
[Sources]
- ILO, Revolutionizing health and safety: The role of AI and digitalization at work (2025).
- EU-OSHA, Smart digital systems for improving worker safety and health (2024), user-provided project file.
- ICOH, AI use in occupational health and safety practice, user-provided presentation.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 minutes
Introduce psychosocial risks as features of job design, work organization, management and the broader context. The 2026 ILO global report uses three interrelated levels. At the task and role level, consider workload, autonomy, role clarity, emotional demands and traumatic exposure. At the organizational level, consider staffing, schedules, leadership, support, fairness, communication and participation. At the sector and policy level, consider restructuring, insecurity, regulation, social dialogue and public expectations. This framing prevents a common error: treating stress as an individual weakness and responding only with resilience training or counselling. Individual support is important, especially after traumatic events, but it cannot substitute for adequate staffing, realistic deadlines, rest, clear roles and fair processes. Mention the global scale carefully: the report estimates major mortality, disability and economic losses associated with psychosocial risk factors, but the purpose here is prevention, not alarm. Ask participants which of the three levels receives most attention in their current system and which is neglected.
[Sources]
- ILO, The psychosocial working environment: Global developments and pathways for action (2026): https://www.ilo.org/publications/psychosocial-working-environment-global-developments-and-pathways-action
- ILO Curriculum on Building Modern and Effective Labour Inspection Systems, Modules 14 and 15 on psychosocial risks, user-provided files.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 minutes
Review the six risk clusters and invite participants to add examples. Fatigue is especially important because it connects psychosocial and physical safety: reduced attention and slower reaction can contribute to electrical, driving and maintenance incidents. Traumatic exposure may arise from serious incidents, attacks, disasters, seeing injured colleagues or repeated work in damaged environments. Time pressure is often justified by the essential nature of energy services, but unrealistic restoration targets can normalize unsafe shortcuts. Role conflict appears when operational, security and production priorities compete or authority is unclear. Isolation may be physical or organizational. Insecurity can be created by restructuring, automation, closure or fear of being left behind by new skills requirements. Gender and inclusion influence all six: workers may have different care responsibilities, face harassment, have less authority, or fear that disclosing fatigue, disability or mental-health needs will damage their career. Prevention should combine work design, staffing, leadership, peer support, confidential services and post-incident learning.
[Sources]
- ILO, The psychosocial working environment: Global developments and pathways for action (2026).
- ILO Curriculum, Module 14: Concept and scope - Ensuring compliance with legislation on psychosocial risks.
- ILO Curriculum, Module 15: Inspection actions to deal with psychosocial risks.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7 minutes
Connect the global framework directly to Ukraine. The ILO project developed with the Ministry of Energy and employers' and workers' organizations recognizes that crews maintaining and restoring electricity and heating face attacks on infrastructure, unexploded ordnance, fatigue and psychosocial stress. The immediate agenda is to update wartime OSH protocols, improve access to appropriate PPE, strengthen inspection and reporting, and expand workplace-based psychosocial support. The longer-term agenda is equally important: the workforce must be prepared for a modern, decentralized and greener energy system. Inclusion is part of resilience because the sector needs to retain and expand its skills base. Safe reintegration pathways for veterans, women, persons with disabilities and internally displaced persons require accessible training, suitable work design, reasonable adjustments and a culture that does not stigmatize support needs. Invite participants to identify where short-term emergency practice should be converted into permanent institutional capacity.
[Sources]
- ILO, Protecting and Preparing Ukraine's Energy Workforce for Sustainable Recovery (2026): https://www.ilo.org/resource/news/ilo-and-government-netherlands-launch-project-protect-ukrainians-working
- ILO Development Cooperation Dashboard, UKR/25/06/NLD: https://webapps.ilo.org/DevelopmentCooperationDashboard/p/project/110329
- Photo: Western Area Power / Jeff Miller, Transmission system repairs underway, CC BY 2.0.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 minutes
Clarify that inclusion does not mean lowering safety or competence standards. It means removing unnecessary barriers and providing adjustments so people can meet the essential requirements of the job safely. Reasonable accommodation can include modifications to equipment, job content, working time, communication, training or the physical environment. For veterans and workers with disabilities, return-to-work should be planned with the worker, occupational health professionals and line management, focusing on capability rather than assumptions. For women entering technical roles, facilities, PPE, mentoring, transparent promotion and protection from harassment matter for retention. Internally displaced persons, returnees and older workers may need recognition of prior learning, bridging training or flexible pathways. The central idea is dignity: workers should not have to trade privacy, status or career prospects for access to support. Ask participants for examples of low-cost adjustments that could unlock participation in their workplace.
[Sources]
- ILO, Promoting diversity and inclusion through workplace adjustments: A practical guide (2016): https://www.ilo.org/publications/promoting-diversity-and-inclusion-through-workplace-adjustments-practical
- ILO, Disability and work: https://www.ilo.org/resource/disability-and-work
- ILO, Guideline on reasonable accommodation for persons with disabilities (2026): https://www.ilo.org/resource/other/guideline-reasonable-accommodation-persons-disabilities
- ILO Ukraine energy workforce project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Present social dialogue as a source of operational intelligence. Governments and ministries understand policy, regulation and system-level priorities. Employers understand technology, operations and resource constraints. Workers and their organizations understand how tasks are actually performed, where procedures fail and which controls are workable. Safety improves when these perspectives interact early. At sector level, dialogue can shape standards, skills strategies, emergency coordination and campaigns. At enterprise level, it can shape risk assessment, staffing, schedules, technology deployment and reporting systems. At task level, it appears in pre-job briefings, worker consultation, peer checks and stop-work authority. Inclusion matters inside dialogue structures: women, younger workers, contractors, persons with disabilities and workers from different occupations should be represented. Ask whether current consultation mechanisms receive information or have influence. Effective participation requires time, access to information, protection from retaliation and feedback on what changed.
[Sources]
- ILO, Resolution concerning a just transition (2023).
- ILO, The role of collective bargaining in promoting just transitions (2025).
- ILO Curriculum, Module 5: Cooperation and partnership, user-provided file.
- ILO Occupational Safety and Health Convention, 1981 (No. 155), worker participation principles.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 minutes
Explain that the original ILO guidance contains ten keys: legislation, policy, risk management, research, indicators, health services, participation, information and training, equipment and PPE, and working time and work-life balance. This slide groups them into five commitments for the energy sector. The first commitment connects equality and OSH rules so that protection does not become exclusion. The second improves risk assessment and data. The third strengthens participation, reporting and services. The fourth addresses the material design of work and the capability to perform it. The fifth recognizes working time, travel, remote work and care as part of the exposure profile. Encourage participants to use the five commitments as a quick review framework for a company policy, inspection checklist, collective agreement or sector strategy. Ask them which commitment is currently strongest and which lacks an accountable owner.
[Sources]
- ILO, 10 Keys for gender sensitive OSH practice (2013): https://www.ilo.org/publications/10-keys-gender-sensitive-osh-practice-%E2%80%93-guidelines-gender-mainstreaming
- User-provided presentation: Felix Martin Daza, Key Gender Issues in the Field of Occupational Health and Safety.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Read the case slowly and state that it is a fictional composite designed for discussion, not a description of a specific incident. Ask participants not to jump immediately to a technical solution. The scenario deliberately combines life-critical hazards, time pressure, fatigue, inclusion, communication and organizational responsibility. The hospital circuit creates a powerful production pressure. The mixed crew creates questions about competence, mentoring, communication and task allocation. The undocumented clearance and unsuitable harness are red flags. The hearing loss should lead to communication accommodation, not automatic exclusion. The woman technician should not be protected by removing her from meaningful technical work; the task should be allocated by competence and controls. Give groups the next slide and twelve minutes. Encourage them to identify decisions at the task, organizational and management levels.
[Sources]
- Fictional case informed by the ILO Ukraine energy workforce project (2026).
- ILO Curriculum, Module 8: Occupational safety and health.
- ILO Curriculum, Modules 14 and 15 on psychosocial risks.
- Photo: Western Area Power / Jeff Miller, Transmission system repairs underway, CC BY 2.0.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12 minutes plus 8 minutes reporting
Organize participants into small groups. Ask each group to address all four questions, but assign one question as their primary focus if time is limited. During group work, listen for three common traps: accepting the 90-minute target without questioning conditions; excluding the woman technician or the worker with hearing loss instead of adapting the work; and treating fatigue as a personal responsibility rather than an organizational hazard. When groups report, ask them to state their first decision, not a long list. Capture actions under four headings: life-critical controls, task allocation, inclusion and psychosocial prevention. Do not present a single perfect answer. The purpose is to make trade-offs explicit and test whether the same decision protects service continuity, worker safety and equal opportunity.
[Sources]
- Facilitation exercise based on ILO OSH risk-management principles and the fictional case on the previous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 minutes
Use the five steps to synthesize group responses. First, life-critical conditions must be verified; urgency does not replace clearance or isolation. Second, the task should be re-planned so the target reflects actual risk and resources. Third, allocate by competence and provide fit and communication adjustments. The worker with hearing loss may need visual signals, a communication device or a buddy arrangement; the correct choice depends on the task and risk. The woman technician should receive meaningful work based on competence, not be moved to administration as a default. Fourth, fatigue must be managed through staffing and rest, not by telling workers to be careful. Fifth, the job should end with learning: debrief, record near misses, review the unsuitable PPE stock and improve emergency protocols. Reinforce that inclusion and safety point in the same direction when work is well designed. The final statement is useful in high-pressure services: an unsafe shortcut can cause a second incident, delay restoration further and damage trust.
[Sources]
- ILO Guidelines on Occupational Safety and Health Management Systems, ILO-OSH 2001.
- ILO Occupational Safety and Health Convention, 1981 (No. 155).
- ILO Curriculum, Module 8: Occupational safety and health.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 minutes
Present the cycle as a way to integrate the session into existing OSH management rather than create a parallel project. Diagnosis should map tasks and exposure, not only headcount. Consultation brings in the knowledge of workers and groups who may be missing from formal data. Control should follow the hierarchy of controls and avoid relying on PPE or individual behaviour when stronger measures are possible. Equipment and training should be tested for different users. Support includes working-time design, psychosocial prevention and reasonable accommodation. Monitoring should combine quantitative data with worker feedback and learning from near misses. The cycle should be applied whenever technology, staffing, infrastructure or work organization changes. Ask participants to identify where their current cycle breaks down. Some organizations assess well but do not close actions; others implement controls but do not monitor whether they work equally for different groups.
[Sources]
- ILO Guidelines on Occupational Safety and Health Management Systems, ILO-OSH 2001.
- ILO, Fundamental Conventions on Occupational Safety and Health (2023): https://www.ilo.org/publications/fundamental-conventions-occupational-safety-and-health
- ILO, 10 Keys for gender sensitive OSH practice (2013).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 minutes
Explain that gender-responsive OSH needs data, but data collection must be purposeful and safe. Workforce data should show where people enter, remain and progress. Exposure data should identify who performs high-risk tasks and under what schedules. Outcome data should be analysed by task and employment arrangement, because sex-disaggregated incident totals alone may hide segregation. Fit and access measures reveal whether PPE, facilities and adjustments are functioning. Capability measures show whether underrepresented workers can enter technical and leadership pathways. Worker-voice measures show whether concerns lead to action. Stress safeguards: small groups can be identifiable, health and disability data are sensitive, and monitoring data should not be used to punish workers. Numbers should be triangulated with consultation, observation and qualitative feedback. The most useful indicator is one connected to a decision and an accountable owner. Ask participants which existing data source could be repurposed immediately and which new information requires worker agreement.
[Sources]
- ILO, 10 Keys for gender sensitive OSH practice (2013), Key 5 on gender-sensitive OSH indicators.
- ILO, The psychosocial working environment (2026).
- EU-OSHA, Smart digital systems for improving worker safety and health (2024).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7 minutes
Use this as an individual or organizational action-planning exercise. The 30-day phase is diagnostic and participatory: map tasks, consult workers, audit fit and facilities, and select one urgent psychosocial issue. The 60-day phase tests solutions rather than waiting for a perfect strategy. A pilot might involve PPE size ranges, revised shift rules, a mentoring pathway, communication accommodation or a new reporting route. The 90-day phase institutionalizes the change through ownership, budgets, procurement, contractor requirements, indicators and social dialogue. Ask each participant to write one action and a named owner. Where possible, invite them to state the action aloud. The goal is not to complete the entire agenda in three months, but to create a visible sequence from evidence to pilot to system change. Encourage actions that are specific enough to verify and that connect equality and safety rather than treating them as separate projects.
[Sources]
- ILO, Gender, equality and inclusion for a just transition in climate action (2024).
- ILO, Occupational safety and health in a just transition (2023).
- ILO, 10 Keys for gender sensitive OSH practice (2013).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Return to the four words from the opening. Ask participants whether their answer has changed after the discussion. Reinforce the final message: the transition is not successful if it creates clean energy through unsafe work, leaves technical talent unused, excludes workers who need accommodation or relies on chronic fatigue and emergency effort. Safety, inclusion, skills and participation reinforce one another when they are integrated into policy, work design and management systems. Invite one or two final commitments and thank participants for contributing their experience. The final question can be used as a written exit ticket or round of responses.
[Sources]
- Synthesis of the ILO just transition, gender equality and OSH frameworks cited throughout the deck.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Reference only
The full technical references for each slide are provided in the speaker notes. Photo credits are consolidated here to keep content slides visually clean while respecting source and licensing requirements.
[Sources]
- ITCILO Brand Guidelines, April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ers at a wind energy site in Ukraine">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995160" cy="6858000"/>
          </a:xfrm>
          <a:prstGeom prst="rect">
            <a:avLst/>
          </a:prstGeom>
          <a:solidFill>
            <a:srgbClr val="284B96">
              <a:alpha val="87000"/>
            </a:srgbClr>
          </a:solidFill>
          <a:ln w="12700">
            <a:solidFill>
              <a:srgbClr val="284B96">
                <a:alpha val="0"/>
              </a:srgbClr>
            </a:solidFill>
            <a:prstDash val="solid"/>
          </a:ln>
        </p:spPr>
      </p:sp>
      <p:sp>
        <p:nvSpPr>
          <p:cNvPr id="4" name="Shape 1"/>
          <p:cNvSpPr/>
          <p:nvPr/>
        </p:nvSpPr>
        <p:spPr>
          <a:xfrm>
            <a:off x="594360" y="658368"/>
            <a:ext cx="109728" cy="4983480"/>
          </a:xfrm>
          <a:prstGeom prst="rect">
            <a:avLst/>
          </a:prstGeom>
          <a:solidFill>
            <a:srgbClr val="00A3E0"/>
          </a:solidFill>
          <a:ln w="12700">
            <a:solidFill>
              <a:srgbClr val="00A3E0"/>
            </a:solidFill>
            <a:prstDash val="solid"/>
          </a:ln>
        </p:spPr>
      </p:sp>
      <p:sp>
        <p:nvSpPr>
          <p:cNvPr id="5" name="Text 2"/>
          <p:cNvSpPr/>
          <p:nvPr/>
        </p:nvSpPr>
        <p:spPr>
          <a:xfrm>
            <a:off x="960120" y="1078992"/>
            <a:ext cx="5532120" cy="201168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Noto Sans ExtraCondensed" pitchFamily="34" charset="0"/>
                <a:ea typeface="Noto Sans ExtraCondensed" pitchFamily="34" charset="-122"/>
                <a:cs typeface="Noto Sans ExtraCondensed" pitchFamily="34" charset="-120"/>
              </a:rPr>
              <a:t>MODERN AND INCLUSIVE</a:t>
            </a:r>
            <a:endParaRPr lang="en-US" sz="3400" dirty="0"/>
          </a:p>
          <a:p>
            <a:pPr indent="0" marL="0">
              <a:lnSpc>
                <a:spcPct val="105000"/>
              </a:lnSpc>
              <a:buNone/>
            </a:pPr>
            <a:r>
              <a:rPr lang="en-US" sz="3400" b="1" dirty="0">
                <a:solidFill>
                  <a:srgbClr val="FFFFFF"/>
                </a:solidFill>
                <a:latin typeface="Noto Sans ExtraCondensed" pitchFamily="34" charset="0"/>
                <a:ea typeface="Noto Sans ExtraCondensed" pitchFamily="34" charset="-122"/>
                <a:cs typeface="Noto Sans ExtraCondensed" pitchFamily="34" charset="-120"/>
              </a:rPr>
              <a:t>ENERGY WORK FOR THE FUTURE</a:t>
            </a:r>
            <a:endParaRPr lang="en-US" sz="3400" dirty="0"/>
          </a:p>
        </p:txBody>
      </p:sp>
      <p:sp>
        <p:nvSpPr>
          <p:cNvPr id="6" name="Text 3"/>
          <p:cNvSpPr/>
          <p:nvPr/>
        </p:nvSpPr>
        <p:spPr>
          <a:xfrm>
            <a:off x="987552" y="3310128"/>
            <a:ext cx="5212080" cy="822960"/>
          </a:xfrm>
          <a:prstGeom prst="rect">
            <a:avLst/>
          </a:prstGeom>
          <a:noFill/>
          <a:ln/>
        </p:spPr>
        <p:txBody>
          <a:bodyPr wrap="square" lIns="0" tIns="0" rIns="0" bIns="0" rtlCol="0" anchor="ctr"/>
          <a:lstStyle/>
          <a:p>
            <a:pPr indent="0" marL="0">
              <a:lnSpc>
                <a:spcPct val="115000"/>
              </a:lnSpc>
              <a:buNone/>
            </a:pPr>
            <a:r>
              <a:rPr lang="en-US" sz="2000" dirty="0">
                <a:solidFill>
                  <a:srgbClr val="FFFFFF"/>
                </a:solidFill>
                <a:latin typeface="Noto Sans SemiCondensed" pitchFamily="34" charset="0"/>
                <a:ea typeface="Noto Sans SemiCondensed" pitchFamily="34" charset="-122"/>
                <a:cs typeface="Noto Sans SemiCondensed" pitchFamily="34" charset="-120"/>
              </a:rPr>
              <a:t>Gender equality, occupational safety and health, and psychosocial wellbeing</a:t>
            </a:r>
            <a:endParaRPr lang="en-US" sz="2000" dirty="0"/>
          </a:p>
        </p:txBody>
      </p:sp>
      <p:sp>
        <p:nvSpPr>
          <p:cNvPr id="7" name="Text 4"/>
          <p:cNvSpPr/>
          <p:nvPr/>
        </p:nvSpPr>
        <p:spPr>
          <a:xfrm>
            <a:off x="987552" y="4892040"/>
            <a:ext cx="2834640" cy="256032"/>
          </a:xfrm>
          <a:prstGeom prst="rect">
            <a:avLst/>
          </a:prstGeom>
          <a:noFill/>
          <a:ln/>
        </p:spPr>
        <p:txBody>
          <a:bodyPr wrap="square" lIns="0" tIns="0" rIns="0" bIns="0" rtlCol="0" anchor="ctr"/>
          <a:lstStyle/>
          <a:p>
            <a:pPr indent="0" marL="0">
              <a:buNone/>
            </a:pPr>
            <a:r>
              <a:rPr lang="en-US" sz="1150" b="1" spc="60" kern="0" dirty="0">
                <a:solidFill>
                  <a:srgbClr val="FFFFFF"/>
                </a:solidFill>
                <a:latin typeface="Noto Sans SemiCondensed" pitchFamily="34" charset="0"/>
                <a:ea typeface="Noto Sans SemiCondensed" pitchFamily="34" charset="-122"/>
                <a:cs typeface="Noto Sans SemiCondensed" pitchFamily="34" charset="-120"/>
              </a:rPr>
              <a:t>Ukraine energy sector training</a:t>
            </a:r>
            <a:endParaRPr lang="en-US" sz="1150" dirty="0"/>
          </a:p>
        </p:txBody>
      </p:sp>
      <p:sp>
        <p:nvSpPr>
          <p:cNvPr id="8" name="Text 5"/>
          <p:cNvSpPr/>
          <p:nvPr/>
        </p:nvSpPr>
        <p:spPr>
          <a:xfrm>
            <a:off x="987552" y="5239512"/>
            <a:ext cx="2011680" cy="256032"/>
          </a:xfrm>
          <a:prstGeom prst="rect">
            <a:avLst/>
          </a:prstGeom>
          <a:noFill/>
          <a:ln/>
        </p:spPr>
        <p:txBody>
          <a:bodyPr wrap="square" lIns="0" tIns="0" rIns="0" bIns="0" rtlCol="0" anchor="ctr"/>
          <a:lstStyle/>
          <a:p>
            <a:pPr indent="0" marL="0">
              <a:buNone/>
            </a:pPr>
            <a:r>
              <a:rPr lang="en-US" sz="1150" dirty="0">
                <a:solidFill>
                  <a:srgbClr val="FFFFFF"/>
                </a:solidFill>
                <a:latin typeface="Noto Sans SemiCondensed" pitchFamily="34" charset="0"/>
                <a:ea typeface="Noto Sans SemiCondensed" pitchFamily="34" charset="-122"/>
                <a:cs typeface="Noto Sans SemiCondensed" pitchFamily="34" charset="-120"/>
              </a:rPr>
              <a:t>ITCILO | 2026</a:t>
            </a:r>
            <a:endParaRPr lang="en-US" sz="1150" dirty="0"/>
          </a:p>
        </p:txBody>
      </p:sp>
      <p:sp>
        <p:nvSpPr>
          <p:cNvPr id="9" name="Text 6"/>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ITCILO</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OPENING</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A future-ready energy workforce is...</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02</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5029200" y="2468880"/>
            <a:ext cx="2103120" cy="2103120"/>
          </a:xfrm>
          <a:prstGeom prst="ellipse">
            <a:avLst/>
          </a:prstGeom>
          <a:solidFill>
            <a:srgbClr val="284B96"/>
          </a:solidFill>
          <a:ln w="12700">
            <a:solidFill>
              <a:srgbClr val="284B96"/>
            </a:solidFill>
            <a:prstDash val="solid"/>
          </a:ln>
        </p:spPr>
      </p:sp>
      <p:sp>
        <p:nvSpPr>
          <p:cNvPr id="9" name="Text 7"/>
          <p:cNvSpPr/>
          <p:nvPr/>
        </p:nvSpPr>
        <p:spPr>
          <a:xfrm>
            <a:off x="5367528" y="3017520"/>
            <a:ext cx="1426464" cy="96012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ExtraCondensed" pitchFamily="34" charset="0"/>
                <a:ea typeface="Noto Sans ExtraCondensed" pitchFamily="34" charset="-122"/>
                <a:cs typeface="Noto Sans ExtraCondensed" pitchFamily="34" charset="-120"/>
              </a:rPr>
              <a:t>DECENT</a:t>
            </a:r>
            <a:endParaRPr lang="en-US" sz="2600" dirty="0"/>
          </a:p>
          <a:p>
            <a:pPr algn="ctr" indent="0" marL="0">
              <a:buNone/>
            </a:pPr>
            <a:r>
              <a:rPr lang="en-US" sz="2600" b="1" dirty="0">
                <a:solidFill>
                  <a:srgbClr val="FFFFFF"/>
                </a:solidFill>
                <a:latin typeface="Noto Sans ExtraCondensed" pitchFamily="34" charset="0"/>
                <a:ea typeface="Noto Sans ExtraCondensed" pitchFamily="34" charset="-122"/>
                <a:cs typeface="Noto Sans ExtraCondensed" pitchFamily="34" charset="-120"/>
              </a:rPr>
              <a:t>WORK</a:t>
            </a:r>
            <a:endParaRPr lang="en-US" sz="2600" dirty="0"/>
          </a:p>
        </p:txBody>
      </p:sp>
      <p:sp>
        <p:nvSpPr>
          <p:cNvPr id="10" name="Text 8"/>
          <p:cNvSpPr/>
          <p:nvPr/>
        </p:nvSpPr>
        <p:spPr>
          <a:xfrm>
            <a:off x="914400" y="1417320"/>
            <a:ext cx="3108960" cy="530352"/>
          </a:xfrm>
          <a:prstGeom prst="rect">
            <a:avLst/>
          </a:prstGeom>
          <a:noFill/>
          <a:ln/>
        </p:spPr>
        <p:txBody>
          <a:bodyPr wrap="square" lIns="0" tIns="0" rIns="0" bIns="0" rtlCol="0" anchor="ctr"/>
          <a:lstStyle/>
          <a:p>
            <a:pPr algn="ctr" indent="0" marL="0">
              <a:buNone/>
            </a:pPr>
            <a:r>
              <a:rPr lang="en-US" sz="3100" b="1" dirty="0">
                <a:solidFill>
                  <a:srgbClr val="C95B61"/>
                </a:solidFill>
                <a:latin typeface="Noto Sans ExtraCondensed" pitchFamily="34" charset="0"/>
                <a:ea typeface="Noto Sans ExtraCondensed" pitchFamily="34" charset="-122"/>
                <a:cs typeface="Noto Sans ExtraCondensed" pitchFamily="34" charset="-120"/>
              </a:rPr>
              <a:t>SAFE</a:t>
            </a:r>
            <a:endParaRPr lang="en-US" sz="3100" dirty="0"/>
          </a:p>
        </p:txBody>
      </p:sp>
      <p:sp>
        <p:nvSpPr>
          <p:cNvPr id="11" name="Shape 9"/>
          <p:cNvSpPr/>
          <p:nvPr/>
        </p:nvSpPr>
        <p:spPr>
          <a:xfrm>
            <a:off x="2468880" y="2148840"/>
            <a:ext cx="2514600" cy="777240"/>
          </a:xfrm>
          <a:prstGeom prst="line">
            <a:avLst/>
          </a:prstGeom>
          <a:noFill/>
          <a:ln w="19050">
            <a:solidFill>
              <a:srgbClr val="A4ABD4"/>
            </a:solidFill>
            <a:prstDash val="solid"/>
            <a:tailEnd type="triangle"/>
          </a:ln>
        </p:spPr>
      </p:sp>
      <p:sp>
        <p:nvSpPr>
          <p:cNvPr id="12" name="Text 10"/>
          <p:cNvSpPr/>
          <p:nvPr/>
        </p:nvSpPr>
        <p:spPr>
          <a:xfrm>
            <a:off x="8183880" y="1417320"/>
            <a:ext cx="3108960" cy="530352"/>
          </a:xfrm>
          <a:prstGeom prst="rect">
            <a:avLst/>
          </a:prstGeom>
          <a:noFill/>
          <a:ln/>
        </p:spPr>
        <p:txBody>
          <a:bodyPr wrap="square" lIns="0" tIns="0" rIns="0" bIns="0" rtlCol="0" anchor="ctr"/>
          <a:lstStyle/>
          <a:p>
            <a:pPr algn="ctr" indent="0" marL="0">
              <a:buNone/>
            </a:pPr>
            <a:r>
              <a:rPr lang="en-US" sz="3100" b="1" dirty="0">
                <a:solidFill>
                  <a:srgbClr val="6B5AA6"/>
                </a:solidFill>
                <a:latin typeface="Noto Sans ExtraCondensed" pitchFamily="34" charset="0"/>
                <a:ea typeface="Noto Sans ExtraCondensed" pitchFamily="34" charset="-122"/>
                <a:cs typeface="Noto Sans ExtraCondensed" pitchFamily="34" charset="-120"/>
              </a:rPr>
              <a:t>INCLUSIVE</a:t>
            </a:r>
            <a:endParaRPr lang="en-US" sz="3100" dirty="0"/>
          </a:p>
        </p:txBody>
      </p:sp>
      <p:sp>
        <p:nvSpPr>
          <p:cNvPr id="13" name="Shape 11"/>
          <p:cNvSpPr/>
          <p:nvPr/>
        </p:nvSpPr>
        <p:spPr>
          <a:xfrm>
            <a:off x="9738360" y="2148840"/>
            <a:ext cx="-2560320" cy="777240"/>
          </a:xfrm>
          <a:prstGeom prst="line">
            <a:avLst/>
          </a:prstGeom>
          <a:noFill/>
          <a:ln w="19050">
            <a:solidFill>
              <a:srgbClr val="A4ABD4"/>
            </a:solidFill>
            <a:prstDash val="solid"/>
            <a:tailEnd type="triangle"/>
          </a:ln>
        </p:spPr>
      </p:sp>
      <p:sp>
        <p:nvSpPr>
          <p:cNvPr id="14" name="Text 12"/>
          <p:cNvSpPr/>
          <p:nvPr/>
        </p:nvSpPr>
        <p:spPr>
          <a:xfrm>
            <a:off x="914400" y="4709160"/>
            <a:ext cx="3108960" cy="530352"/>
          </a:xfrm>
          <a:prstGeom prst="rect">
            <a:avLst/>
          </a:prstGeom>
          <a:noFill/>
          <a:ln/>
        </p:spPr>
        <p:txBody>
          <a:bodyPr wrap="square" lIns="0" tIns="0" rIns="0" bIns="0" rtlCol="0" anchor="ctr"/>
          <a:lstStyle/>
          <a:p>
            <a:pPr algn="ctr" indent="0" marL="0">
              <a:buNone/>
            </a:pPr>
            <a:r>
              <a:rPr lang="en-US" sz="3100" b="1" dirty="0">
                <a:solidFill>
                  <a:srgbClr val="2E8B78"/>
                </a:solidFill>
                <a:latin typeface="Noto Sans ExtraCondensed" pitchFamily="34" charset="0"/>
                <a:ea typeface="Noto Sans ExtraCondensed" pitchFamily="34" charset="-122"/>
                <a:cs typeface="Noto Sans ExtraCondensed" pitchFamily="34" charset="-120"/>
              </a:rPr>
              <a:t>SKILLED</a:t>
            </a:r>
            <a:endParaRPr lang="en-US" sz="3100" dirty="0"/>
          </a:p>
        </p:txBody>
      </p:sp>
      <p:sp>
        <p:nvSpPr>
          <p:cNvPr id="15" name="Shape 13"/>
          <p:cNvSpPr/>
          <p:nvPr/>
        </p:nvSpPr>
        <p:spPr>
          <a:xfrm>
            <a:off x="2468880" y="4617720"/>
            <a:ext cx="2514600" cy="-502920"/>
          </a:xfrm>
          <a:prstGeom prst="line">
            <a:avLst/>
          </a:prstGeom>
          <a:noFill/>
          <a:ln w="19050">
            <a:solidFill>
              <a:srgbClr val="A4ABD4"/>
            </a:solidFill>
            <a:prstDash val="solid"/>
            <a:tailEnd type="triangle"/>
          </a:ln>
        </p:spPr>
      </p:sp>
      <p:sp>
        <p:nvSpPr>
          <p:cNvPr id="16" name="Text 14"/>
          <p:cNvSpPr/>
          <p:nvPr/>
        </p:nvSpPr>
        <p:spPr>
          <a:xfrm>
            <a:off x="8183880" y="4709160"/>
            <a:ext cx="3108960" cy="530352"/>
          </a:xfrm>
          <a:prstGeom prst="rect">
            <a:avLst/>
          </a:prstGeom>
          <a:noFill/>
          <a:ln/>
        </p:spPr>
        <p:txBody>
          <a:bodyPr wrap="square" lIns="0" tIns="0" rIns="0" bIns="0" rtlCol="0" anchor="ctr"/>
          <a:lstStyle/>
          <a:p>
            <a:pPr algn="ctr" indent="0" marL="0">
              <a:buNone/>
            </a:pPr>
            <a:r>
              <a:rPr lang="en-US" sz="3100" b="1" dirty="0">
                <a:solidFill>
                  <a:srgbClr val="E7A33E"/>
                </a:solidFill>
                <a:latin typeface="Noto Sans ExtraCondensed" pitchFamily="34" charset="0"/>
                <a:ea typeface="Noto Sans ExtraCondensed" pitchFamily="34" charset="-122"/>
                <a:cs typeface="Noto Sans ExtraCondensed" pitchFamily="34" charset="-120"/>
              </a:rPr>
              <a:t>RESILIENT</a:t>
            </a:r>
            <a:endParaRPr lang="en-US" sz="3100" dirty="0"/>
          </a:p>
        </p:txBody>
      </p:sp>
      <p:sp>
        <p:nvSpPr>
          <p:cNvPr id="17" name="Shape 15"/>
          <p:cNvSpPr/>
          <p:nvPr/>
        </p:nvSpPr>
        <p:spPr>
          <a:xfrm>
            <a:off x="9738360" y="4617720"/>
            <a:ext cx="-2560320" cy="-502920"/>
          </a:xfrm>
          <a:prstGeom prst="line">
            <a:avLst/>
          </a:prstGeom>
          <a:noFill/>
          <a:ln w="19050">
            <a:solidFill>
              <a:srgbClr val="A4ABD4"/>
            </a:solidFill>
            <a:prstDash val="solid"/>
            <a:tailEnd type="triangle"/>
          </a:ln>
        </p:spPr>
      </p:sp>
      <p:sp>
        <p:nvSpPr>
          <p:cNvPr id="18" name="Text 16"/>
          <p:cNvSpPr/>
          <p:nvPr/>
        </p:nvSpPr>
        <p:spPr>
          <a:xfrm>
            <a:off x="1920240" y="5833872"/>
            <a:ext cx="8321040" cy="365760"/>
          </a:xfrm>
          <a:prstGeom prst="rect">
            <a:avLst/>
          </a:prstGeom>
          <a:noFill/>
          <a:ln/>
        </p:spPr>
        <p:txBody>
          <a:bodyPr wrap="square" lIns="0" tIns="0" rIns="0" bIns="0" rtlCol="0" anchor="ctr"/>
          <a:lstStyle/>
          <a:p>
            <a:pPr algn="ctr" indent="0" marL="0">
              <a:buNone/>
            </a:pPr>
            <a:r>
              <a:rPr lang="en-US" sz="1800" i="1" dirty="0">
                <a:solidFill>
                  <a:srgbClr val="5B5B5B"/>
                </a:solidFill>
                <a:latin typeface="Noto Sans SemiCondensed" pitchFamily="34" charset="0"/>
                <a:ea typeface="Noto Sans SemiCondensed" pitchFamily="34" charset="-122"/>
                <a:cs typeface="Noto Sans SemiCondensed" pitchFamily="34" charset="-120"/>
              </a:rPr>
              <a:t>Which of these four dimensions is currently the weakest in your organization?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4B96"/>
        </a:solidFill>
      </p:bgPr>
    </p:bg>
    <p:spTree>
      <p:nvGrpSpPr>
        <p:cNvPr id="1" name=""/>
        <p:cNvGrpSpPr/>
        <p:nvPr/>
      </p:nvGrpSpPr>
      <p:grpSpPr>
        <a:xfrm>
          <a:off x="0" y="0"/>
          <a:ext cx="0" cy="0"/>
          <a:chOff x="0" y="0"/>
          <a:chExt cx="0" cy="0"/>
        </a:xfrm>
      </p:grpSpPr>
      <p:sp>
        <p:nvSpPr>
          <p:cNvPr id="2" name="Text 0"/>
          <p:cNvSpPr/>
          <p:nvPr/>
        </p:nvSpPr>
        <p:spPr>
          <a:xfrm>
            <a:off x="530352" y="256032"/>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CONTEXT</a:t>
            </a:r>
            <a:endParaRPr lang="en-US" sz="1000" dirty="0"/>
          </a:p>
        </p:txBody>
      </p:sp>
      <p:sp>
        <p:nvSpPr>
          <p:cNvPr id="3" name="Text 1"/>
          <p:cNvSpPr/>
          <p:nvPr/>
        </p:nvSpPr>
        <p:spPr>
          <a:xfrm>
            <a:off x="530352" y="457200"/>
            <a:ext cx="1024128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SemiCondensed" pitchFamily="34" charset="0"/>
                <a:ea typeface="Noto Sans SemiCondensed" pitchFamily="34" charset="-122"/>
                <a:cs typeface="Noto Sans SemiCondensed" pitchFamily="34" charset="-120"/>
              </a:rPr>
              <a:t>Three transitions are happening at once</a:t>
            </a:r>
            <a:endParaRPr lang="en-US" sz="3100" dirty="0"/>
          </a:p>
        </p:txBody>
      </p:sp>
      <p:sp>
        <p:nvSpPr>
          <p:cNvPr id="4" name="Shape 2"/>
          <p:cNvSpPr/>
          <p:nvPr/>
        </p:nvSpPr>
        <p:spPr>
          <a:xfrm>
            <a:off x="0" y="6729984"/>
            <a:ext cx="12191695" cy="128016"/>
          </a:xfrm>
          <a:prstGeom prst="rect">
            <a:avLst/>
          </a:prstGeom>
          <a:solidFill>
            <a:srgbClr val="00A3E0"/>
          </a:solidFill>
          <a:ln w="12700">
            <a:solidFill>
              <a:srgbClr val="00A3E0"/>
            </a:solidFill>
            <a:prstDash val="solid"/>
          </a:ln>
        </p:spPr>
      </p:sp>
      <p:sp>
        <p:nvSpPr>
          <p:cNvPr id="5" name="Text 3"/>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FFFFFF"/>
                </a:solidFill>
                <a:latin typeface="Noto Sans SemiCondensed" pitchFamily="34" charset="0"/>
                <a:ea typeface="Noto Sans SemiCondensed" pitchFamily="34" charset="-122"/>
                <a:cs typeface="Noto Sans SemiCondensed" pitchFamily="34" charset="-120"/>
              </a:rPr>
              <a:t>03</a:t>
            </a:r>
            <a:endParaRPr lang="en-US" sz="900" dirty="0"/>
          </a:p>
        </p:txBody>
      </p:sp>
      <p:sp>
        <p:nvSpPr>
          <p:cNvPr id="6" name="Text 4"/>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ITCILO</a:t>
            </a:r>
            <a:endParaRPr lang="en-US" sz="1700" dirty="0"/>
          </a:p>
        </p:txBody>
      </p:sp>
      <p:pic>
        <p:nvPicPr>
          <p:cNvPr id="7" name="Image 0" descr="Renewable energy on the grid">    </p:cNvPr>
          <p:cNvPicPr>
            <a:picLocks noChangeAspect="1"/>
          </p:cNvPicPr>
          <p:nvPr/>
        </p:nvPicPr>
        <p:blipFill>
          <a:blip r:embed="rId1"/>
          <a:srcRect l="0" r="0" t="0" b="0"/>
          <a:stretch/>
        </p:blipFill>
        <p:spPr>
          <a:xfrm>
            <a:off x="8942832" y="1170432"/>
            <a:ext cx="2788920" cy="5047488"/>
          </a:xfrm>
          <a:prstGeom prst="rect">
            <a:avLst/>
          </a:prstGeom>
        </p:spPr>
      </p:pic>
      <p:sp>
        <p:nvSpPr>
          <p:cNvPr id="8" name="Shape 5"/>
          <p:cNvSpPr/>
          <p:nvPr/>
        </p:nvSpPr>
        <p:spPr>
          <a:xfrm>
            <a:off x="8942832" y="1170432"/>
            <a:ext cx="2788920" cy="5047488"/>
          </a:xfrm>
          <a:prstGeom prst="rect">
            <a:avLst/>
          </a:prstGeom>
          <a:solidFill>
            <a:srgbClr val="284B96">
              <a:alpha val="42000"/>
            </a:srgbClr>
          </a:solidFill>
          <a:ln w="12700">
            <a:solidFill>
              <a:srgbClr val="284B96">
                <a:alpha val="0"/>
              </a:srgbClr>
            </a:solidFill>
            <a:prstDash val="solid"/>
          </a:ln>
        </p:spPr>
      </p:sp>
      <p:sp>
        <p:nvSpPr>
          <p:cNvPr id="9" name="Shape 6"/>
          <p:cNvSpPr/>
          <p:nvPr/>
        </p:nvSpPr>
        <p:spPr>
          <a:xfrm>
            <a:off x="621792" y="1417320"/>
            <a:ext cx="7818120" cy="1078992"/>
          </a:xfrm>
          <a:prstGeom prst="chevron">
            <a:avLst/>
          </a:prstGeom>
          <a:solidFill>
            <a:srgbClr val="00A3E0">
              <a:alpha val="97000"/>
            </a:srgbClr>
          </a:solidFill>
          <a:ln w="12700">
            <a:solidFill>
              <a:srgbClr val="00A3E0"/>
            </a:solidFill>
            <a:prstDash val="solid"/>
          </a:ln>
        </p:spPr>
      </p:sp>
      <p:sp>
        <p:nvSpPr>
          <p:cNvPr id="10" name="Text 7"/>
          <p:cNvSpPr/>
          <p:nvPr/>
        </p:nvSpPr>
        <p:spPr>
          <a:xfrm>
            <a:off x="960120" y="1545336"/>
            <a:ext cx="5989320" cy="310896"/>
          </a:xfrm>
          <a:prstGeom prst="rect">
            <a:avLst/>
          </a:prstGeom>
          <a:noFill/>
          <a:ln/>
        </p:spPr>
        <p:txBody>
          <a:bodyPr wrap="square" lIns="0" tIns="0" rIns="0" bIns="0" rtlCol="0" anchor="ctr"/>
          <a:lstStyle/>
          <a:p>
            <a:pPr indent="0" marL="0">
              <a:buNone/>
            </a:pPr>
            <a:r>
              <a:rPr lang="en-US" sz="2000" b="1" dirty="0">
                <a:solidFill>
                  <a:srgbClr val="FFFFFF"/>
                </a:solidFill>
                <a:latin typeface="Noto Sans SemiCondensed" pitchFamily="34" charset="0"/>
                <a:ea typeface="Noto Sans SemiCondensed" pitchFamily="34" charset="-122"/>
                <a:cs typeface="Noto Sans SemiCondensed" pitchFamily="34" charset="-120"/>
              </a:rPr>
              <a:t>1  Resilience and reconstruction</a:t>
            </a:r>
            <a:endParaRPr lang="en-US" sz="2000" dirty="0"/>
          </a:p>
        </p:txBody>
      </p:sp>
      <p:sp>
        <p:nvSpPr>
          <p:cNvPr id="11" name="Text 8"/>
          <p:cNvSpPr/>
          <p:nvPr/>
        </p:nvSpPr>
        <p:spPr>
          <a:xfrm>
            <a:off x="960120" y="1911096"/>
            <a:ext cx="6309360" cy="420624"/>
          </a:xfrm>
          <a:prstGeom prst="rect">
            <a:avLst/>
          </a:prstGeom>
          <a:noFill/>
          <a:ln/>
        </p:spPr>
        <p:txBody>
          <a:bodyPr wrap="square" lIns="0" tIns="0" rIns="0" bIns="0" rtlCol="0" anchor="ctr"/>
          <a:lstStyle/>
          <a:p>
            <a:pPr indent="0" marL="0">
              <a:buNone/>
            </a:pPr>
            <a:r>
              <a:rPr lang="en-US" sz="1550" dirty="0">
                <a:solidFill>
                  <a:srgbClr val="FFFFFF"/>
                </a:solidFill>
                <a:latin typeface="Noto Sans SemiCondensed" pitchFamily="34" charset="0"/>
                <a:ea typeface="Noto Sans SemiCondensed" pitchFamily="34" charset="-122"/>
                <a:cs typeface="Noto Sans SemiCondensed" pitchFamily="34" charset="-120"/>
              </a:rPr>
              <a:t>Repair, continuity of essential services, emergency preparedness, safer recovery.</a:t>
            </a:r>
            <a:endParaRPr lang="en-US" sz="1550" dirty="0"/>
          </a:p>
        </p:txBody>
      </p:sp>
      <p:sp>
        <p:nvSpPr>
          <p:cNvPr id="12" name="Shape 9"/>
          <p:cNvSpPr/>
          <p:nvPr/>
        </p:nvSpPr>
        <p:spPr>
          <a:xfrm>
            <a:off x="621792" y="2926080"/>
            <a:ext cx="7818120" cy="1078992"/>
          </a:xfrm>
          <a:prstGeom prst="chevron">
            <a:avLst/>
          </a:prstGeom>
          <a:solidFill>
            <a:srgbClr val="2E8B78">
              <a:alpha val="97000"/>
            </a:srgbClr>
          </a:solidFill>
          <a:ln w="12700">
            <a:solidFill>
              <a:srgbClr val="2E8B78"/>
            </a:solidFill>
            <a:prstDash val="solid"/>
          </a:ln>
        </p:spPr>
      </p:sp>
      <p:sp>
        <p:nvSpPr>
          <p:cNvPr id="13" name="Text 10"/>
          <p:cNvSpPr/>
          <p:nvPr/>
        </p:nvSpPr>
        <p:spPr>
          <a:xfrm>
            <a:off x="960120" y="3054096"/>
            <a:ext cx="5989320" cy="310896"/>
          </a:xfrm>
          <a:prstGeom prst="rect">
            <a:avLst/>
          </a:prstGeom>
          <a:noFill/>
          <a:ln/>
        </p:spPr>
        <p:txBody>
          <a:bodyPr wrap="square" lIns="0" tIns="0" rIns="0" bIns="0" rtlCol="0" anchor="ctr"/>
          <a:lstStyle/>
          <a:p>
            <a:pPr indent="0" marL="0">
              <a:buNone/>
            </a:pPr>
            <a:r>
              <a:rPr lang="en-US" sz="2000" b="1" dirty="0">
                <a:solidFill>
                  <a:srgbClr val="FFFFFF"/>
                </a:solidFill>
                <a:latin typeface="Noto Sans SemiCondensed" pitchFamily="34" charset="0"/>
                <a:ea typeface="Noto Sans SemiCondensed" pitchFamily="34" charset="-122"/>
                <a:cs typeface="Noto Sans SemiCondensed" pitchFamily="34" charset="-120"/>
              </a:rPr>
              <a:t>2  Decarbonization and decentralization</a:t>
            </a:r>
            <a:endParaRPr lang="en-US" sz="2000" dirty="0"/>
          </a:p>
        </p:txBody>
      </p:sp>
      <p:sp>
        <p:nvSpPr>
          <p:cNvPr id="14" name="Text 11"/>
          <p:cNvSpPr/>
          <p:nvPr/>
        </p:nvSpPr>
        <p:spPr>
          <a:xfrm>
            <a:off x="960120" y="3419856"/>
            <a:ext cx="6309360" cy="420624"/>
          </a:xfrm>
          <a:prstGeom prst="rect">
            <a:avLst/>
          </a:prstGeom>
          <a:noFill/>
          <a:ln/>
        </p:spPr>
        <p:txBody>
          <a:bodyPr wrap="square" lIns="0" tIns="0" rIns="0" bIns="0" rtlCol="0" anchor="ctr"/>
          <a:lstStyle/>
          <a:p>
            <a:pPr indent="0" marL="0">
              <a:buNone/>
            </a:pPr>
            <a:r>
              <a:rPr lang="en-US" sz="1550" dirty="0">
                <a:solidFill>
                  <a:srgbClr val="FFFFFF"/>
                </a:solidFill>
                <a:latin typeface="Noto Sans SemiCondensed" pitchFamily="34" charset="0"/>
                <a:ea typeface="Noto Sans SemiCondensed" pitchFamily="34" charset="-122"/>
                <a:cs typeface="Noto Sans SemiCondensed" pitchFamily="34" charset="-120"/>
              </a:rPr>
              <a:t>Renewables, storage, distributed systems, new value chains and new skills.</a:t>
            </a:r>
            <a:endParaRPr lang="en-US" sz="1550" dirty="0"/>
          </a:p>
        </p:txBody>
      </p:sp>
      <p:sp>
        <p:nvSpPr>
          <p:cNvPr id="15" name="Shape 12"/>
          <p:cNvSpPr/>
          <p:nvPr/>
        </p:nvSpPr>
        <p:spPr>
          <a:xfrm>
            <a:off x="621792" y="4434840"/>
            <a:ext cx="7818120" cy="1078992"/>
          </a:xfrm>
          <a:prstGeom prst="chevron">
            <a:avLst/>
          </a:prstGeom>
          <a:solidFill>
            <a:srgbClr val="E7A33E">
              <a:alpha val="97000"/>
            </a:srgbClr>
          </a:solidFill>
          <a:ln w="12700">
            <a:solidFill>
              <a:srgbClr val="E7A33E"/>
            </a:solidFill>
            <a:prstDash val="solid"/>
          </a:ln>
        </p:spPr>
      </p:sp>
      <p:sp>
        <p:nvSpPr>
          <p:cNvPr id="16" name="Text 13"/>
          <p:cNvSpPr/>
          <p:nvPr/>
        </p:nvSpPr>
        <p:spPr>
          <a:xfrm>
            <a:off x="960120" y="4562856"/>
            <a:ext cx="5989320" cy="310896"/>
          </a:xfrm>
          <a:prstGeom prst="rect">
            <a:avLst/>
          </a:prstGeom>
          <a:noFill/>
          <a:ln/>
        </p:spPr>
        <p:txBody>
          <a:bodyPr wrap="square" lIns="0" tIns="0" rIns="0" bIns="0" rtlCol="0" anchor="ctr"/>
          <a:lstStyle/>
          <a:p>
            <a:pPr indent="0" marL="0">
              <a:buNone/>
            </a:pPr>
            <a:r>
              <a:rPr lang="en-US" sz="2000" b="1" dirty="0">
                <a:solidFill>
                  <a:srgbClr val="FFFFFF"/>
                </a:solidFill>
                <a:latin typeface="Noto Sans SemiCondensed" pitchFamily="34" charset="0"/>
                <a:ea typeface="Noto Sans SemiCondensed" pitchFamily="34" charset="-122"/>
                <a:cs typeface="Noto Sans SemiCondensed" pitchFamily="34" charset="-120"/>
              </a:rPr>
              <a:t>3  Digitalization and automation</a:t>
            </a:r>
            <a:endParaRPr lang="en-US" sz="2000" dirty="0"/>
          </a:p>
        </p:txBody>
      </p:sp>
      <p:sp>
        <p:nvSpPr>
          <p:cNvPr id="17" name="Text 14"/>
          <p:cNvSpPr/>
          <p:nvPr/>
        </p:nvSpPr>
        <p:spPr>
          <a:xfrm>
            <a:off x="960120" y="4928616"/>
            <a:ext cx="6309360" cy="420624"/>
          </a:xfrm>
          <a:prstGeom prst="rect">
            <a:avLst/>
          </a:prstGeom>
          <a:noFill/>
          <a:ln/>
        </p:spPr>
        <p:txBody>
          <a:bodyPr wrap="square" lIns="0" tIns="0" rIns="0" bIns="0" rtlCol="0" anchor="ctr"/>
          <a:lstStyle/>
          <a:p>
            <a:pPr indent="0" marL="0">
              <a:buNone/>
            </a:pPr>
            <a:r>
              <a:rPr lang="en-US" sz="1550" dirty="0">
                <a:solidFill>
                  <a:srgbClr val="FFFFFF"/>
                </a:solidFill>
                <a:latin typeface="Noto Sans SemiCondensed" pitchFamily="34" charset="0"/>
                <a:ea typeface="Noto Sans SemiCondensed" pitchFamily="34" charset="-122"/>
                <a:cs typeface="Noto Sans SemiCondensed" pitchFamily="34" charset="-120"/>
              </a:rPr>
              <a:t>Sensors, drones, predictive maintenance, AI-supported decisions and new forms of control.</a:t>
            </a:r>
            <a:endParaRPr lang="en-US" sz="1550" dirty="0"/>
          </a:p>
        </p:txBody>
      </p:sp>
      <p:sp>
        <p:nvSpPr>
          <p:cNvPr id="18" name="Text 15"/>
          <p:cNvSpPr/>
          <p:nvPr/>
        </p:nvSpPr>
        <p:spPr>
          <a:xfrm>
            <a:off x="777240" y="5879592"/>
            <a:ext cx="7680960" cy="329184"/>
          </a:xfrm>
          <a:prstGeom prst="rect">
            <a:avLst/>
          </a:prstGeom>
          <a:noFill/>
          <a:ln/>
        </p:spPr>
        <p:txBody>
          <a:bodyPr wrap="square" lIns="0" tIns="0" rIns="0" bIns="0" rtlCol="0" anchor="ctr"/>
          <a:lstStyle/>
          <a:p>
            <a:pPr indent="0" marL="0">
              <a:buNone/>
            </a:pPr>
            <a:r>
              <a:rPr lang="en-US" sz="2400" b="1" dirty="0">
                <a:solidFill>
                  <a:srgbClr val="FFFFFF"/>
                </a:solidFill>
                <a:latin typeface="Noto Sans ExtraCondensed" pitchFamily="34" charset="0"/>
                <a:ea typeface="Noto Sans ExtraCondensed" pitchFamily="34" charset="-122"/>
                <a:cs typeface="Noto Sans ExtraCondensed" pitchFamily="34" charset="-120"/>
              </a:rPr>
              <a:t>Workforce systems must change with the energy system.</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JUST TRANSITION</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A just transition is a workforce strategy</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04</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2834640" y="3017520"/>
            <a:ext cx="429768" cy="0"/>
          </a:xfrm>
          <a:prstGeom prst="line">
            <a:avLst/>
          </a:prstGeom>
          <a:noFill/>
          <a:ln w="27940">
            <a:solidFill>
              <a:srgbClr val="A4ABD4"/>
            </a:solidFill>
            <a:prstDash val="solid"/>
            <a:tailEnd type="triangle"/>
          </a:ln>
        </p:spPr>
      </p:sp>
      <p:sp>
        <p:nvSpPr>
          <p:cNvPr id="9" name="Shape 7"/>
          <p:cNvSpPr/>
          <p:nvPr/>
        </p:nvSpPr>
        <p:spPr>
          <a:xfrm>
            <a:off x="685800" y="1874520"/>
            <a:ext cx="1965960" cy="1965960"/>
          </a:xfrm>
          <a:prstGeom prst="ellipse">
            <a:avLst/>
          </a:prstGeom>
          <a:solidFill>
            <a:srgbClr val="00A3E0"/>
          </a:solidFill>
          <a:ln w="12700">
            <a:solidFill>
              <a:srgbClr val="00A3E0"/>
            </a:solidFill>
            <a:prstDash val="solid"/>
          </a:ln>
        </p:spPr>
      </p:sp>
      <p:sp>
        <p:nvSpPr>
          <p:cNvPr id="10" name="Text 8"/>
          <p:cNvSpPr/>
          <p:nvPr/>
        </p:nvSpPr>
        <p:spPr>
          <a:xfrm>
            <a:off x="1344168" y="2057400"/>
            <a:ext cx="658368" cy="475488"/>
          </a:xfrm>
          <a:prstGeom prst="rect">
            <a:avLst/>
          </a:prstGeom>
          <a:noFill/>
          <a:ln/>
        </p:spPr>
        <p:txBody>
          <a:bodyPr wrap="square" lIns="0" tIns="0" rIns="0" bIns="0" rtlCol="0" anchor="ctr"/>
          <a:lstStyle/>
          <a:p>
            <a:pPr algn="ctr" indent="0" marL="0">
              <a:buNone/>
            </a:pPr>
            <a:r>
              <a:rPr lang="en-US" sz="3500" b="1" dirty="0">
                <a:solidFill>
                  <a:srgbClr val="FFFFFF"/>
                </a:solidFill>
                <a:latin typeface="Noto Sans ExtraCondensed" pitchFamily="34" charset="0"/>
                <a:ea typeface="Noto Sans ExtraCondensed" pitchFamily="34" charset="-122"/>
                <a:cs typeface="Noto Sans ExtraCondensed" pitchFamily="34" charset="-120"/>
              </a:rPr>
              <a:t>1</a:t>
            </a:r>
            <a:endParaRPr lang="en-US" sz="3500" dirty="0"/>
          </a:p>
        </p:txBody>
      </p:sp>
      <p:sp>
        <p:nvSpPr>
          <p:cNvPr id="11" name="Text 9"/>
          <p:cNvSpPr/>
          <p:nvPr/>
        </p:nvSpPr>
        <p:spPr>
          <a:xfrm>
            <a:off x="886968" y="2697480"/>
            <a:ext cx="155448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SemiCondensed" pitchFamily="34" charset="0"/>
                <a:ea typeface="Noto Sans SemiCondensed" pitchFamily="34" charset="-122"/>
                <a:cs typeface="Noto Sans SemiCondensed" pitchFamily="34" charset="-120"/>
              </a:rPr>
              <a:t>ANTICIPATE</a:t>
            </a:r>
            <a:endParaRPr lang="en-US" sz="1600" dirty="0"/>
          </a:p>
        </p:txBody>
      </p:sp>
      <p:sp>
        <p:nvSpPr>
          <p:cNvPr id="12" name="Text 10"/>
          <p:cNvSpPr/>
          <p:nvPr/>
        </p:nvSpPr>
        <p:spPr>
          <a:xfrm>
            <a:off x="484632" y="4096512"/>
            <a:ext cx="2377440" cy="960120"/>
          </a:xfrm>
          <a:prstGeom prst="rect">
            <a:avLst/>
          </a:prstGeom>
          <a:noFill/>
          <a:ln/>
        </p:spPr>
        <p:txBody>
          <a:bodyPr wrap="square" lIns="254" tIns="254" rIns="254" bIns="254" rtlCol="0" anchor="t"/>
          <a:lstStyle/>
          <a:p>
            <a:pPr algn="ct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Map jobs, skills, risks and groups likely to be left behind.</a:t>
            </a:r>
            <a:endParaRPr lang="en-US" sz="1550" dirty="0"/>
          </a:p>
        </p:txBody>
      </p:sp>
      <p:sp>
        <p:nvSpPr>
          <p:cNvPr id="13" name="Shape 11"/>
          <p:cNvSpPr/>
          <p:nvPr/>
        </p:nvSpPr>
        <p:spPr>
          <a:xfrm>
            <a:off x="5577840" y="3017520"/>
            <a:ext cx="429768" cy="0"/>
          </a:xfrm>
          <a:prstGeom prst="line">
            <a:avLst/>
          </a:prstGeom>
          <a:noFill/>
          <a:ln w="27940">
            <a:solidFill>
              <a:srgbClr val="A4ABD4"/>
            </a:solidFill>
            <a:prstDash val="solid"/>
            <a:tailEnd type="triangle"/>
          </a:ln>
        </p:spPr>
      </p:sp>
      <p:sp>
        <p:nvSpPr>
          <p:cNvPr id="14" name="Shape 12"/>
          <p:cNvSpPr/>
          <p:nvPr/>
        </p:nvSpPr>
        <p:spPr>
          <a:xfrm>
            <a:off x="3429000" y="1874520"/>
            <a:ext cx="1965960" cy="1965960"/>
          </a:xfrm>
          <a:prstGeom prst="ellipse">
            <a:avLst/>
          </a:prstGeom>
          <a:solidFill>
            <a:srgbClr val="2E8B78"/>
          </a:solidFill>
          <a:ln w="12700">
            <a:solidFill>
              <a:srgbClr val="2E8B78"/>
            </a:solidFill>
            <a:prstDash val="solid"/>
          </a:ln>
        </p:spPr>
      </p:sp>
      <p:sp>
        <p:nvSpPr>
          <p:cNvPr id="15" name="Text 13"/>
          <p:cNvSpPr/>
          <p:nvPr/>
        </p:nvSpPr>
        <p:spPr>
          <a:xfrm>
            <a:off x="4087368" y="2057400"/>
            <a:ext cx="658368" cy="475488"/>
          </a:xfrm>
          <a:prstGeom prst="rect">
            <a:avLst/>
          </a:prstGeom>
          <a:noFill/>
          <a:ln/>
        </p:spPr>
        <p:txBody>
          <a:bodyPr wrap="square" lIns="0" tIns="0" rIns="0" bIns="0" rtlCol="0" anchor="ctr"/>
          <a:lstStyle/>
          <a:p>
            <a:pPr algn="ctr" indent="0" marL="0">
              <a:buNone/>
            </a:pPr>
            <a:r>
              <a:rPr lang="en-US" sz="3500" b="1" dirty="0">
                <a:solidFill>
                  <a:srgbClr val="FFFFFF"/>
                </a:solidFill>
                <a:latin typeface="Noto Sans ExtraCondensed" pitchFamily="34" charset="0"/>
                <a:ea typeface="Noto Sans ExtraCondensed" pitchFamily="34" charset="-122"/>
                <a:cs typeface="Noto Sans ExtraCondensed" pitchFamily="34" charset="-120"/>
              </a:rPr>
              <a:t>2</a:t>
            </a:r>
            <a:endParaRPr lang="en-US" sz="3500" dirty="0"/>
          </a:p>
        </p:txBody>
      </p:sp>
      <p:sp>
        <p:nvSpPr>
          <p:cNvPr id="16" name="Text 14"/>
          <p:cNvSpPr/>
          <p:nvPr/>
        </p:nvSpPr>
        <p:spPr>
          <a:xfrm>
            <a:off x="3630168" y="2697480"/>
            <a:ext cx="155448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SemiCondensed" pitchFamily="34" charset="0"/>
                <a:ea typeface="Noto Sans SemiCondensed" pitchFamily="34" charset="-122"/>
                <a:cs typeface="Noto Sans SemiCondensed" pitchFamily="34" charset="-120"/>
              </a:rPr>
              <a:t>PREPARE</a:t>
            </a:r>
            <a:endParaRPr lang="en-US" sz="1600" dirty="0"/>
          </a:p>
        </p:txBody>
      </p:sp>
      <p:sp>
        <p:nvSpPr>
          <p:cNvPr id="17" name="Text 15"/>
          <p:cNvSpPr/>
          <p:nvPr/>
        </p:nvSpPr>
        <p:spPr>
          <a:xfrm>
            <a:off x="3227832" y="4096512"/>
            <a:ext cx="2377440" cy="960120"/>
          </a:xfrm>
          <a:prstGeom prst="rect">
            <a:avLst/>
          </a:prstGeom>
          <a:noFill/>
          <a:ln/>
        </p:spPr>
        <p:txBody>
          <a:bodyPr wrap="square" lIns="254" tIns="254" rIns="254" bIns="254" rtlCol="0" anchor="t"/>
          <a:lstStyle/>
          <a:p>
            <a:pPr algn="ct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Invest in training, recognition of skills and accessible entry routes.</a:t>
            </a:r>
            <a:endParaRPr lang="en-US" sz="1550" dirty="0"/>
          </a:p>
        </p:txBody>
      </p:sp>
      <p:sp>
        <p:nvSpPr>
          <p:cNvPr id="18" name="Shape 16"/>
          <p:cNvSpPr/>
          <p:nvPr/>
        </p:nvSpPr>
        <p:spPr>
          <a:xfrm>
            <a:off x="8321040" y="3017520"/>
            <a:ext cx="429768" cy="0"/>
          </a:xfrm>
          <a:prstGeom prst="line">
            <a:avLst/>
          </a:prstGeom>
          <a:noFill/>
          <a:ln w="27940">
            <a:solidFill>
              <a:srgbClr val="A4ABD4"/>
            </a:solidFill>
            <a:prstDash val="solid"/>
            <a:tailEnd type="triangle"/>
          </a:ln>
        </p:spPr>
      </p:sp>
      <p:sp>
        <p:nvSpPr>
          <p:cNvPr id="19" name="Shape 17"/>
          <p:cNvSpPr/>
          <p:nvPr/>
        </p:nvSpPr>
        <p:spPr>
          <a:xfrm>
            <a:off x="6172200" y="1874520"/>
            <a:ext cx="1965960" cy="1965960"/>
          </a:xfrm>
          <a:prstGeom prst="ellipse">
            <a:avLst/>
          </a:prstGeom>
          <a:solidFill>
            <a:srgbClr val="C95B61"/>
          </a:solidFill>
          <a:ln w="12700">
            <a:solidFill>
              <a:srgbClr val="C95B61"/>
            </a:solidFill>
            <a:prstDash val="solid"/>
          </a:ln>
        </p:spPr>
      </p:sp>
      <p:sp>
        <p:nvSpPr>
          <p:cNvPr id="20" name="Text 18"/>
          <p:cNvSpPr/>
          <p:nvPr/>
        </p:nvSpPr>
        <p:spPr>
          <a:xfrm>
            <a:off x="6830568" y="2057400"/>
            <a:ext cx="658368" cy="475488"/>
          </a:xfrm>
          <a:prstGeom prst="rect">
            <a:avLst/>
          </a:prstGeom>
          <a:noFill/>
          <a:ln/>
        </p:spPr>
        <p:txBody>
          <a:bodyPr wrap="square" lIns="0" tIns="0" rIns="0" bIns="0" rtlCol="0" anchor="ctr"/>
          <a:lstStyle/>
          <a:p>
            <a:pPr algn="ctr" indent="0" marL="0">
              <a:buNone/>
            </a:pPr>
            <a:r>
              <a:rPr lang="en-US" sz="3500" b="1" dirty="0">
                <a:solidFill>
                  <a:srgbClr val="FFFFFF"/>
                </a:solidFill>
                <a:latin typeface="Noto Sans ExtraCondensed" pitchFamily="34" charset="0"/>
                <a:ea typeface="Noto Sans ExtraCondensed" pitchFamily="34" charset="-122"/>
                <a:cs typeface="Noto Sans ExtraCondensed" pitchFamily="34" charset="-120"/>
              </a:rPr>
              <a:t>3</a:t>
            </a:r>
            <a:endParaRPr lang="en-US" sz="3500" dirty="0"/>
          </a:p>
        </p:txBody>
      </p:sp>
      <p:sp>
        <p:nvSpPr>
          <p:cNvPr id="21" name="Text 19"/>
          <p:cNvSpPr/>
          <p:nvPr/>
        </p:nvSpPr>
        <p:spPr>
          <a:xfrm>
            <a:off x="6373368" y="2697480"/>
            <a:ext cx="155448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SemiCondensed" pitchFamily="34" charset="0"/>
                <a:ea typeface="Noto Sans SemiCondensed" pitchFamily="34" charset="-122"/>
                <a:cs typeface="Noto Sans SemiCondensed" pitchFamily="34" charset="-120"/>
              </a:rPr>
              <a:t>PROTECT</a:t>
            </a:r>
            <a:endParaRPr lang="en-US" sz="1600" dirty="0"/>
          </a:p>
        </p:txBody>
      </p:sp>
      <p:sp>
        <p:nvSpPr>
          <p:cNvPr id="22" name="Text 20"/>
          <p:cNvSpPr/>
          <p:nvPr/>
        </p:nvSpPr>
        <p:spPr>
          <a:xfrm>
            <a:off x="5971032" y="4096512"/>
            <a:ext cx="2377440" cy="960120"/>
          </a:xfrm>
          <a:prstGeom prst="rect">
            <a:avLst/>
          </a:prstGeom>
          <a:noFill/>
          <a:ln/>
        </p:spPr>
        <p:txBody>
          <a:bodyPr wrap="square" lIns="254" tIns="254" rIns="254" bIns="254" rtlCol="0" anchor="t"/>
          <a:lstStyle/>
          <a:p>
            <a:pPr algn="ct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Apply labour rights, social protection and strong OSH systems.</a:t>
            </a:r>
            <a:endParaRPr lang="en-US" sz="1550" dirty="0"/>
          </a:p>
        </p:txBody>
      </p:sp>
      <p:sp>
        <p:nvSpPr>
          <p:cNvPr id="23" name="Shape 21"/>
          <p:cNvSpPr/>
          <p:nvPr/>
        </p:nvSpPr>
        <p:spPr>
          <a:xfrm>
            <a:off x="8915400" y="1874520"/>
            <a:ext cx="1965960" cy="1965960"/>
          </a:xfrm>
          <a:prstGeom prst="ellipse">
            <a:avLst/>
          </a:prstGeom>
          <a:solidFill>
            <a:srgbClr val="E7A33E"/>
          </a:solidFill>
          <a:ln w="12700">
            <a:solidFill>
              <a:srgbClr val="E7A33E"/>
            </a:solidFill>
            <a:prstDash val="solid"/>
          </a:ln>
        </p:spPr>
      </p:sp>
      <p:sp>
        <p:nvSpPr>
          <p:cNvPr id="24" name="Text 22"/>
          <p:cNvSpPr/>
          <p:nvPr/>
        </p:nvSpPr>
        <p:spPr>
          <a:xfrm>
            <a:off x="9573768" y="2057400"/>
            <a:ext cx="658368" cy="475488"/>
          </a:xfrm>
          <a:prstGeom prst="rect">
            <a:avLst/>
          </a:prstGeom>
          <a:noFill/>
          <a:ln/>
        </p:spPr>
        <p:txBody>
          <a:bodyPr wrap="square" lIns="0" tIns="0" rIns="0" bIns="0" rtlCol="0" anchor="ctr"/>
          <a:lstStyle/>
          <a:p>
            <a:pPr algn="ctr" indent="0" marL="0">
              <a:buNone/>
            </a:pPr>
            <a:r>
              <a:rPr lang="en-US" sz="3500" b="1" dirty="0">
                <a:solidFill>
                  <a:srgbClr val="FFFFFF"/>
                </a:solidFill>
                <a:latin typeface="Noto Sans ExtraCondensed" pitchFamily="34" charset="0"/>
                <a:ea typeface="Noto Sans ExtraCondensed" pitchFamily="34" charset="-122"/>
                <a:cs typeface="Noto Sans ExtraCondensed" pitchFamily="34" charset="-120"/>
              </a:rPr>
              <a:t>4</a:t>
            </a:r>
            <a:endParaRPr lang="en-US" sz="3500" dirty="0"/>
          </a:p>
        </p:txBody>
      </p:sp>
      <p:sp>
        <p:nvSpPr>
          <p:cNvPr id="25" name="Text 23"/>
          <p:cNvSpPr/>
          <p:nvPr/>
        </p:nvSpPr>
        <p:spPr>
          <a:xfrm>
            <a:off x="9116568" y="2697480"/>
            <a:ext cx="1554480"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SemiCondensed" pitchFamily="34" charset="0"/>
                <a:ea typeface="Noto Sans SemiCondensed" pitchFamily="34" charset="-122"/>
                <a:cs typeface="Noto Sans SemiCondensed" pitchFamily="34" charset="-120"/>
              </a:rPr>
              <a:t>PARTICIPATE</a:t>
            </a:r>
            <a:endParaRPr lang="en-US" sz="1600" dirty="0"/>
          </a:p>
        </p:txBody>
      </p:sp>
      <p:sp>
        <p:nvSpPr>
          <p:cNvPr id="26" name="Text 24"/>
          <p:cNvSpPr/>
          <p:nvPr/>
        </p:nvSpPr>
        <p:spPr>
          <a:xfrm>
            <a:off x="8714232" y="4096512"/>
            <a:ext cx="2377440" cy="960120"/>
          </a:xfrm>
          <a:prstGeom prst="rect">
            <a:avLst/>
          </a:prstGeom>
          <a:noFill/>
          <a:ln/>
        </p:spPr>
        <p:txBody>
          <a:bodyPr wrap="square" lIns="254" tIns="254" rIns="254" bIns="254" rtlCol="0" anchor="t"/>
          <a:lstStyle/>
          <a:p>
            <a:pPr algn="ct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Use social dialogue and worker voice to shape change.</a:t>
            </a:r>
            <a:endParaRPr lang="en-US" sz="1550" dirty="0"/>
          </a:p>
        </p:txBody>
      </p:sp>
      <p:sp>
        <p:nvSpPr>
          <p:cNvPr id="27" name="Shape 25"/>
          <p:cNvSpPr/>
          <p:nvPr/>
        </p:nvSpPr>
        <p:spPr>
          <a:xfrm>
            <a:off x="1325880" y="5440680"/>
            <a:ext cx="9509760" cy="566928"/>
          </a:xfrm>
          <a:prstGeom prst="roundRect">
            <a:avLst/>
          </a:prstGeom>
          <a:solidFill>
            <a:srgbClr val="D1D5EB"/>
          </a:solidFill>
          <a:ln w="12700">
            <a:solidFill>
              <a:srgbClr val="D1D5EB"/>
            </a:solidFill>
            <a:prstDash val="solid"/>
          </a:ln>
        </p:spPr>
      </p:sp>
      <p:sp>
        <p:nvSpPr>
          <p:cNvPr id="28" name="Text 26"/>
          <p:cNvSpPr/>
          <p:nvPr/>
        </p:nvSpPr>
        <p:spPr>
          <a:xfrm>
            <a:off x="1600200" y="5596128"/>
            <a:ext cx="8961120" cy="256032"/>
          </a:xfrm>
          <a:prstGeom prst="rect">
            <a:avLst/>
          </a:prstGeom>
          <a:noFill/>
          <a:ln/>
        </p:spPr>
        <p:txBody>
          <a:bodyPr wrap="square" lIns="0" tIns="0" rIns="0" bIns="0" rtlCol="0" anchor="ctr"/>
          <a:lstStyle/>
          <a:p>
            <a:pPr algn="ctr" indent="0" marL="0">
              <a:buNone/>
            </a:pPr>
            <a:r>
              <a:rPr lang="en-US" sz="1800" b="1" dirty="0">
                <a:solidFill>
                  <a:srgbClr val="284B96"/>
                </a:solidFill>
                <a:latin typeface="Noto Sans SemiCondensed" pitchFamily="34" charset="0"/>
                <a:ea typeface="Noto Sans SemiCondensed" pitchFamily="34" charset="-122"/>
                <a:cs typeface="Noto Sans SemiCondensed" pitchFamily="34" charset="-120"/>
              </a:rPr>
              <a:t>The quality of the transition is determined by who gets opportunity, who carries risk and who has a voice.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GENDER AND ENERGY</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The workforce challenge in one picture</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05</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Text 6"/>
          <p:cNvSpPr/>
          <p:nvPr/>
        </p:nvSpPr>
        <p:spPr>
          <a:xfrm>
            <a:off x="685800" y="1325880"/>
            <a:ext cx="3840480" cy="320040"/>
          </a:xfrm>
          <a:prstGeom prst="rect">
            <a:avLst/>
          </a:prstGeom>
          <a:noFill/>
          <a:ln/>
        </p:spPr>
        <p:txBody>
          <a:bodyPr wrap="square" lIns="0" tIns="0" rIns="0" bIns="0" rtlCol="0" anchor="ctr"/>
          <a:lstStyle/>
          <a:p>
            <a:pPr indent="0" marL="0">
              <a:buNone/>
            </a:pPr>
            <a:r>
              <a:rPr lang="en-US" sz="1800" b="1" dirty="0">
                <a:solidFill>
                  <a:srgbClr val="2B2A29"/>
                </a:solidFill>
                <a:latin typeface="Noto Sans SemiCondensed" pitchFamily="34" charset="0"/>
                <a:ea typeface="Noto Sans SemiCondensed" pitchFamily="34" charset="-122"/>
                <a:cs typeface="Noto Sans SemiCondensed" pitchFamily="34" charset="-120"/>
              </a:rPr>
              <a:t>Women as a share of employment</a:t>
            </a:r>
            <a:endParaRPr lang="en-US" sz="1800" dirty="0"/>
          </a:p>
        </p:txBody>
      </p:sp>
      <p:sp>
        <p:nvSpPr>
          <p:cNvPr id="9" name="Text 7"/>
          <p:cNvSpPr/>
          <p:nvPr/>
        </p:nvSpPr>
        <p:spPr>
          <a:xfrm>
            <a:off x="731520" y="1874520"/>
            <a:ext cx="2148840" cy="256032"/>
          </a:xfrm>
          <a:prstGeom prst="rect">
            <a:avLst/>
          </a:prstGeom>
          <a:noFill/>
          <a:ln/>
        </p:spPr>
        <p:txBody>
          <a:bodyPr wrap="square" lIns="0" tIns="0" rIns="0" bIns="0" rtlCol="0" anchor="ctr"/>
          <a:lstStyle/>
          <a:p>
            <a:pPr indent="0" marL="0">
              <a:buNone/>
            </a:pPr>
            <a:r>
              <a:rPr lang="en-US" sz="1500" b="1" dirty="0">
                <a:solidFill>
                  <a:srgbClr val="2B2A29"/>
                </a:solidFill>
                <a:latin typeface="Noto Sans SemiCondensed" pitchFamily="34" charset="0"/>
                <a:ea typeface="Noto Sans SemiCondensed" pitchFamily="34" charset="-122"/>
                <a:cs typeface="Noto Sans SemiCondensed" pitchFamily="34" charset="-120"/>
              </a:rPr>
              <a:t>Global employment</a:t>
            </a:r>
            <a:endParaRPr lang="en-US" sz="1500" dirty="0"/>
          </a:p>
        </p:txBody>
      </p:sp>
      <p:sp>
        <p:nvSpPr>
          <p:cNvPr id="10" name="Shape 8"/>
          <p:cNvSpPr/>
          <p:nvPr/>
        </p:nvSpPr>
        <p:spPr>
          <a:xfrm>
            <a:off x="2971800" y="1892808"/>
            <a:ext cx="3566160" cy="256032"/>
          </a:xfrm>
          <a:prstGeom prst="roundRect">
            <a:avLst/>
          </a:prstGeom>
          <a:solidFill>
            <a:srgbClr val="D9DADA"/>
          </a:solidFill>
          <a:ln w="12700">
            <a:solidFill>
              <a:srgbClr val="D9DADA"/>
            </a:solidFill>
            <a:prstDash val="solid"/>
          </a:ln>
        </p:spPr>
      </p:sp>
      <p:sp>
        <p:nvSpPr>
          <p:cNvPr id="11" name="Shape 9"/>
          <p:cNvSpPr/>
          <p:nvPr/>
        </p:nvSpPr>
        <p:spPr>
          <a:xfrm>
            <a:off x="2971800" y="1892808"/>
            <a:ext cx="2852928" cy="256032"/>
          </a:xfrm>
          <a:prstGeom prst="roundRect">
            <a:avLst/>
          </a:prstGeom>
          <a:solidFill>
            <a:srgbClr val="7885BC"/>
          </a:solidFill>
          <a:ln w="12700">
            <a:solidFill>
              <a:srgbClr val="7885BC"/>
            </a:solidFill>
            <a:prstDash val="solid"/>
          </a:ln>
        </p:spPr>
      </p:sp>
      <p:sp>
        <p:nvSpPr>
          <p:cNvPr id="12" name="Text 10"/>
          <p:cNvSpPr/>
          <p:nvPr/>
        </p:nvSpPr>
        <p:spPr>
          <a:xfrm>
            <a:off x="6647688" y="1856232"/>
            <a:ext cx="640080" cy="301752"/>
          </a:xfrm>
          <a:prstGeom prst="rect">
            <a:avLst/>
          </a:prstGeom>
          <a:noFill/>
          <a:ln/>
        </p:spPr>
        <p:txBody>
          <a:bodyPr wrap="square" lIns="0" tIns="0" rIns="0" bIns="0" rtlCol="0" anchor="ctr"/>
          <a:lstStyle/>
          <a:p>
            <a:pPr indent="0" marL="0">
              <a:buNone/>
            </a:pPr>
            <a:r>
              <a:rPr lang="en-US" sz="1900" b="1" dirty="0">
                <a:solidFill>
                  <a:srgbClr val="7885BC"/>
                </a:solidFill>
                <a:latin typeface="Noto Sans ExtraCondensed" pitchFamily="34" charset="0"/>
                <a:ea typeface="Noto Sans ExtraCondensed" pitchFamily="34" charset="-122"/>
                <a:cs typeface="Noto Sans ExtraCondensed" pitchFamily="34" charset="-120"/>
              </a:rPr>
              <a:t>40%</a:t>
            </a:r>
            <a:endParaRPr lang="en-US" sz="1900" dirty="0"/>
          </a:p>
        </p:txBody>
      </p:sp>
      <p:sp>
        <p:nvSpPr>
          <p:cNvPr id="13" name="Text 11"/>
          <p:cNvSpPr/>
          <p:nvPr/>
        </p:nvSpPr>
        <p:spPr>
          <a:xfrm>
            <a:off x="731520" y="2542032"/>
            <a:ext cx="2148840" cy="256032"/>
          </a:xfrm>
          <a:prstGeom prst="rect">
            <a:avLst/>
          </a:prstGeom>
          <a:noFill/>
          <a:ln/>
        </p:spPr>
        <p:txBody>
          <a:bodyPr wrap="square" lIns="0" tIns="0" rIns="0" bIns="0" rtlCol="0" anchor="ctr"/>
          <a:lstStyle/>
          <a:p>
            <a:pPr indent="0" marL="0">
              <a:buNone/>
            </a:pPr>
            <a:r>
              <a:rPr lang="en-US" sz="1500" b="1" dirty="0">
                <a:solidFill>
                  <a:srgbClr val="2B2A29"/>
                </a:solidFill>
                <a:latin typeface="Noto Sans SemiCondensed" pitchFamily="34" charset="0"/>
                <a:ea typeface="Noto Sans SemiCondensed" pitchFamily="34" charset="-122"/>
                <a:cs typeface="Noto Sans SemiCondensed" pitchFamily="34" charset="-120"/>
              </a:rPr>
              <a:t>Energy sector</a:t>
            </a:r>
            <a:endParaRPr lang="en-US" sz="1500" dirty="0"/>
          </a:p>
        </p:txBody>
      </p:sp>
      <p:sp>
        <p:nvSpPr>
          <p:cNvPr id="14" name="Shape 12"/>
          <p:cNvSpPr/>
          <p:nvPr/>
        </p:nvSpPr>
        <p:spPr>
          <a:xfrm>
            <a:off x="2971800" y="2560320"/>
            <a:ext cx="3566160" cy="256032"/>
          </a:xfrm>
          <a:prstGeom prst="roundRect">
            <a:avLst/>
          </a:prstGeom>
          <a:solidFill>
            <a:srgbClr val="D9DADA"/>
          </a:solidFill>
          <a:ln w="12700">
            <a:solidFill>
              <a:srgbClr val="D9DADA"/>
            </a:solidFill>
            <a:prstDash val="solid"/>
          </a:ln>
        </p:spPr>
      </p:sp>
      <p:sp>
        <p:nvSpPr>
          <p:cNvPr id="15" name="Shape 13"/>
          <p:cNvSpPr/>
          <p:nvPr/>
        </p:nvSpPr>
        <p:spPr>
          <a:xfrm>
            <a:off x="2971800" y="2560320"/>
            <a:ext cx="1426464" cy="256032"/>
          </a:xfrm>
          <a:prstGeom prst="roundRect">
            <a:avLst/>
          </a:prstGeom>
          <a:solidFill>
            <a:srgbClr val="C95B61"/>
          </a:solidFill>
          <a:ln w="12700">
            <a:solidFill>
              <a:srgbClr val="C95B61"/>
            </a:solidFill>
            <a:prstDash val="solid"/>
          </a:ln>
        </p:spPr>
      </p:sp>
      <p:sp>
        <p:nvSpPr>
          <p:cNvPr id="16" name="Text 14"/>
          <p:cNvSpPr/>
          <p:nvPr/>
        </p:nvSpPr>
        <p:spPr>
          <a:xfrm>
            <a:off x="6647688" y="2523744"/>
            <a:ext cx="640080" cy="301752"/>
          </a:xfrm>
          <a:prstGeom prst="rect">
            <a:avLst/>
          </a:prstGeom>
          <a:noFill/>
          <a:ln/>
        </p:spPr>
        <p:txBody>
          <a:bodyPr wrap="square" lIns="0" tIns="0" rIns="0" bIns="0" rtlCol="0" anchor="ctr"/>
          <a:lstStyle/>
          <a:p>
            <a:pPr indent="0" marL="0">
              <a:buNone/>
            </a:pPr>
            <a:r>
              <a:rPr lang="en-US" sz="1900" b="1" dirty="0">
                <a:solidFill>
                  <a:srgbClr val="C95B61"/>
                </a:solidFill>
                <a:latin typeface="Noto Sans ExtraCondensed" pitchFamily="34" charset="0"/>
                <a:ea typeface="Noto Sans ExtraCondensed" pitchFamily="34" charset="-122"/>
                <a:cs typeface="Noto Sans ExtraCondensed" pitchFamily="34" charset="-120"/>
              </a:rPr>
              <a:t>20%</a:t>
            </a:r>
            <a:endParaRPr lang="en-US" sz="1900" dirty="0"/>
          </a:p>
        </p:txBody>
      </p:sp>
      <p:sp>
        <p:nvSpPr>
          <p:cNvPr id="17" name="Text 15"/>
          <p:cNvSpPr/>
          <p:nvPr/>
        </p:nvSpPr>
        <p:spPr>
          <a:xfrm>
            <a:off x="731520" y="3209544"/>
            <a:ext cx="2148840" cy="256032"/>
          </a:xfrm>
          <a:prstGeom prst="rect">
            <a:avLst/>
          </a:prstGeom>
          <a:noFill/>
          <a:ln/>
        </p:spPr>
        <p:txBody>
          <a:bodyPr wrap="square" lIns="0" tIns="0" rIns="0" bIns="0" rtlCol="0" anchor="ctr"/>
          <a:lstStyle/>
          <a:p>
            <a:pPr indent="0" marL="0">
              <a:buNone/>
            </a:pPr>
            <a:r>
              <a:rPr lang="en-US" sz="1500" b="1" dirty="0">
                <a:solidFill>
                  <a:srgbClr val="2B2A29"/>
                </a:solidFill>
                <a:latin typeface="Noto Sans SemiCondensed" pitchFamily="34" charset="0"/>
                <a:ea typeface="Noto Sans SemiCondensed" pitchFamily="34" charset="-122"/>
                <a:cs typeface="Noto Sans SemiCondensed" pitchFamily="34" charset="-120"/>
              </a:rPr>
              <a:t>Renewable energy</a:t>
            </a:r>
            <a:endParaRPr lang="en-US" sz="1500" dirty="0"/>
          </a:p>
        </p:txBody>
      </p:sp>
      <p:sp>
        <p:nvSpPr>
          <p:cNvPr id="18" name="Shape 16"/>
          <p:cNvSpPr/>
          <p:nvPr/>
        </p:nvSpPr>
        <p:spPr>
          <a:xfrm>
            <a:off x="2971800" y="3227832"/>
            <a:ext cx="3566160" cy="256032"/>
          </a:xfrm>
          <a:prstGeom prst="roundRect">
            <a:avLst/>
          </a:prstGeom>
          <a:solidFill>
            <a:srgbClr val="D9DADA"/>
          </a:solidFill>
          <a:ln w="12700">
            <a:solidFill>
              <a:srgbClr val="D9DADA"/>
            </a:solidFill>
            <a:prstDash val="solid"/>
          </a:ln>
        </p:spPr>
      </p:sp>
      <p:sp>
        <p:nvSpPr>
          <p:cNvPr id="19" name="Shape 17"/>
          <p:cNvSpPr/>
          <p:nvPr/>
        </p:nvSpPr>
        <p:spPr>
          <a:xfrm>
            <a:off x="2971800" y="3227832"/>
            <a:ext cx="2282342" cy="256032"/>
          </a:xfrm>
          <a:prstGeom prst="roundRect">
            <a:avLst/>
          </a:prstGeom>
          <a:solidFill>
            <a:srgbClr val="2E8B78"/>
          </a:solidFill>
          <a:ln w="12700">
            <a:solidFill>
              <a:srgbClr val="2E8B78"/>
            </a:solidFill>
            <a:prstDash val="solid"/>
          </a:ln>
        </p:spPr>
      </p:sp>
      <p:sp>
        <p:nvSpPr>
          <p:cNvPr id="20" name="Text 18"/>
          <p:cNvSpPr/>
          <p:nvPr/>
        </p:nvSpPr>
        <p:spPr>
          <a:xfrm>
            <a:off x="6647688" y="3191256"/>
            <a:ext cx="640080" cy="301752"/>
          </a:xfrm>
          <a:prstGeom prst="rect">
            <a:avLst/>
          </a:prstGeom>
          <a:noFill/>
          <a:ln/>
        </p:spPr>
        <p:txBody>
          <a:bodyPr wrap="square" lIns="0" tIns="0" rIns="0" bIns="0" rtlCol="0" anchor="ctr"/>
          <a:lstStyle/>
          <a:p>
            <a:pPr indent="0" marL="0">
              <a:buNone/>
            </a:pPr>
            <a:r>
              <a:rPr lang="en-US" sz="1900" b="1" dirty="0">
                <a:solidFill>
                  <a:srgbClr val="2E8B78"/>
                </a:solidFill>
                <a:latin typeface="Noto Sans ExtraCondensed" pitchFamily="34" charset="0"/>
                <a:ea typeface="Noto Sans ExtraCondensed" pitchFamily="34" charset="-122"/>
                <a:cs typeface="Noto Sans ExtraCondensed" pitchFamily="34" charset="-120"/>
              </a:rPr>
              <a:t>32%</a:t>
            </a:r>
            <a:endParaRPr lang="en-US" sz="1900" dirty="0"/>
          </a:p>
        </p:txBody>
      </p:sp>
      <p:sp>
        <p:nvSpPr>
          <p:cNvPr id="21" name="Text 19"/>
          <p:cNvSpPr/>
          <p:nvPr/>
        </p:nvSpPr>
        <p:spPr>
          <a:xfrm>
            <a:off x="6629400" y="1325880"/>
            <a:ext cx="4206240" cy="320040"/>
          </a:xfrm>
          <a:prstGeom prst="rect">
            <a:avLst/>
          </a:prstGeom>
          <a:noFill/>
          <a:ln/>
        </p:spPr>
        <p:txBody>
          <a:bodyPr wrap="square" lIns="0" tIns="0" rIns="0" bIns="0" rtlCol="0" anchor="ctr"/>
          <a:lstStyle/>
          <a:p>
            <a:pPr indent="0" marL="0">
              <a:buNone/>
            </a:pPr>
            <a:r>
              <a:rPr lang="en-US" sz="1800" b="1" dirty="0">
                <a:solidFill>
                  <a:srgbClr val="2B2A29"/>
                </a:solidFill>
                <a:latin typeface="Noto Sans SemiCondensed" pitchFamily="34" charset="0"/>
                <a:ea typeface="Noto Sans SemiCondensed" pitchFamily="34" charset="-122"/>
                <a:cs typeface="Noto Sans SemiCondensed" pitchFamily="34" charset="-120"/>
              </a:rPr>
              <a:t>Within renewable energy</a:t>
            </a:r>
            <a:endParaRPr lang="en-US" sz="1800" dirty="0"/>
          </a:p>
        </p:txBody>
      </p:sp>
      <p:sp>
        <p:nvSpPr>
          <p:cNvPr id="22" name="Shape 20"/>
          <p:cNvSpPr/>
          <p:nvPr/>
        </p:nvSpPr>
        <p:spPr>
          <a:xfrm>
            <a:off x="6720840" y="2624328"/>
            <a:ext cx="969264" cy="2176272"/>
          </a:xfrm>
          <a:prstGeom prst="roundRect">
            <a:avLst/>
          </a:prstGeom>
          <a:solidFill>
            <a:srgbClr val="00A3E0"/>
          </a:solidFill>
          <a:ln w="12700">
            <a:solidFill>
              <a:srgbClr val="00A3E0"/>
            </a:solidFill>
            <a:prstDash val="solid"/>
          </a:ln>
        </p:spPr>
      </p:sp>
      <p:sp>
        <p:nvSpPr>
          <p:cNvPr id="23" name="Text 21"/>
          <p:cNvSpPr/>
          <p:nvPr/>
        </p:nvSpPr>
        <p:spPr>
          <a:xfrm>
            <a:off x="6702552" y="2258568"/>
            <a:ext cx="1005840" cy="320040"/>
          </a:xfrm>
          <a:prstGeom prst="rect">
            <a:avLst/>
          </a:prstGeom>
          <a:noFill/>
          <a:ln/>
        </p:spPr>
        <p:txBody>
          <a:bodyPr wrap="square" lIns="0" tIns="0" rIns="0" bIns="0" rtlCol="0" anchor="ctr"/>
          <a:lstStyle/>
          <a:p>
            <a:pPr algn="ctr" indent="0" marL="0">
              <a:buNone/>
            </a:pPr>
            <a:r>
              <a:rPr lang="en-US" sz="2200" b="1" dirty="0">
                <a:solidFill>
                  <a:srgbClr val="00A3E0"/>
                </a:solidFill>
                <a:latin typeface="Noto Sans ExtraCondensed" pitchFamily="34" charset="0"/>
                <a:ea typeface="Noto Sans ExtraCondensed" pitchFamily="34" charset="-122"/>
                <a:cs typeface="Noto Sans ExtraCondensed" pitchFamily="34" charset="-120"/>
              </a:rPr>
              <a:t>28%</a:t>
            </a:r>
            <a:endParaRPr lang="en-US" sz="2200" dirty="0"/>
          </a:p>
        </p:txBody>
      </p:sp>
      <p:sp>
        <p:nvSpPr>
          <p:cNvPr id="24" name="Text 22"/>
          <p:cNvSpPr/>
          <p:nvPr/>
        </p:nvSpPr>
        <p:spPr>
          <a:xfrm>
            <a:off x="6501384" y="5010912"/>
            <a:ext cx="1417320" cy="603504"/>
          </a:xfrm>
          <a:prstGeom prst="rect">
            <a:avLst/>
          </a:prstGeom>
          <a:noFill/>
          <a:ln/>
        </p:spPr>
        <p:txBody>
          <a:bodyPr wrap="square" lIns="0" tIns="0" rIns="0" bIns="0" rtlCol="0" anchor="ctr"/>
          <a:lstStyle/>
          <a:p>
            <a:pPr algn="ctr" indent="0" marL="0">
              <a:buNone/>
            </a:pPr>
            <a:r>
              <a:rPr lang="en-US" sz="1350" b="1" dirty="0">
                <a:solidFill>
                  <a:srgbClr val="2B2A29"/>
                </a:solidFill>
                <a:latin typeface="Noto Sans SemiCondensed" pitchFamily="34" charset="0"/>
                <a:ea typeface="Noto Sans SemiCondensed" pitchFamily="34" charset="-122"/>
                <a:cs typeface="Noto Sans SemiCondensed" pitchFamily="34" charset="-120"/>
              </a:rPr>
              <a:t>STEM roles</a:t>
            </a:r>
            <a:endParaRPr lang="en-US" sz="1350" dirty="0"/>
          </a:p>
        </p:txBody>
      </p:sp>
      <p:sp>
        <p:nvSpPr>
          <p:cNvPr id="25" name="Shape 23"/>
          <p:cNvSpPr/>
          <p:nvPr/>
        </p:nvSpPr>
        <p:spPr>
          <a:xfrm>
            <a:off x="8293608" y="3090672"/>
            <a:ext cx="969264" cy="1709928"/>
          </a:xfrm>
          <a:prstGeom prst="roundRect">
            <a:avLst/>
          </a:prstGeom>
          <a:solidFill>
            <a:srgbClr val="E7A33E"/>
          </a:solidFill>
          <a:ln w="12700">
            <a:solidFill>
              <a:srgbClr val="E7A33E"/>
            </a:solidFill>
            <a:prstDash val="solid"/>
          </a:ln>
        </p:spPr>
      </p:sp>
      <p:sp>
        <p:nvSpPr>
          <p:cNvPr id="26" name="Text 24"/>
          <p:cNvSpPr/>
          <p:nvPr/>
        </p:nvSpPr>
        <p:spPr>
          <a:xfrm>
            <a:off x="8275320" y="2724912"/>
            <a:ext cx="1005840" cy="320040"/>
          </a:xfrm>
          <a:prstGeom prst="rect">
            <a:avLst/>
          </a:prstGeom>
          <a:noFill/>
          <a:ln/>
        </p:spPr>
        <p:txBody>
          <a:bodyPr wrap="square" lIns="0" tIns="0" rIns="0" bIns="0" rtlCol="0" anchor="ctr"/>
          <a:lstStyle/>
          <a:p>
            <a:pPr algn="ctr" indent="0" marL="0">
              <a:buNone/>
            </a:pPr>
            <a:r>
              <a:rPr lang="en-US" sz="2200" b="1" dirty="0">
                <a:solidFill>
                  <a:srgbClr val="E7A33E"/>
                </a:solidFill>
                <a:latin typeface="Noto Sans ExtraCondensed" pitchFamily="34" charset="0"/>
                <a:ea typeface="Noto Sans ExtraCondensed" pitchFamily="34" charset="-122"/>
                <a:cs typeface="Noto Sans ExtraCondensed" pitchFamily="34" charset="-120"/>
              </a:rPr>
              <a:t>22%</a:t>
            </a:r>
            <a:endParaRPr lang="en-US" sz="2200" dirty="0"/>
          </a:p>
        </p:txBody>
      </p:sp>
      <p:sp>
        <p:nvSpPr>
          <p:cNvPr id="27" name="Text 25"/>
          <p:cNvSpPr/>
          <p:nvPr/>
        </p:nvSpPr>
        <p:spPr>
          <a:xfrm>
            <a:off x="8074152" y="5010912"/>
            <a:ext cx="1417320" cy="603504"/>
          </a:xfrm>
          <a:prstGeom prst="rect">
            <a:avLst/>
          </a:prstGeom>
          <a:noFill/>
          <a:ln/>
        </p:spPr>
        <p:txBody>
          <a:bodyPr wrap="square" lIns="0" tIns="0" rIns="0" bIns="0" rtlCol="0" anchor="ctr"/>
          <a:lstStyle/>
          <a:p>
            <a:pPr algn="ctr" indent="0" marL="0">
              <a:buNone/>
            </a:pPr>
            <a:r>
              <a:rPr lang="en-US" sz="1350" b="1" dirty="0">
                <a:solidFill>
                  <a:srgbClr val="2B2A29"/>
                </a:solidFill>
                <a:latin typeface="Noto Sans SemiCondensed" pitchFamily="34" charset="0"/>
                <a:ea typeface="Noto Sans SemiCondensed" pitchFamily="34" charset="-122"/>
                <a:cs typeface="Noto Sans SemiCondensed" pitchFamily="34" charset="-120"/>
              </a:rPr>
              <a:t>Installation / trades</a:t>
            </a:r>
            <a:endParaRPr lang="en-US" sz="1350" dirty="0"/>
          </a:p>
        </p:txBody>
      </p:sp>
      <p:sp>
        <p:nvSpPr>
          <p:cNvPr id="28" name="Shape 26"/>
          <p:cNvSpPr/>
          <p:nvPr/>
        </p:nvSpPr>
        <p:spPr>
          <a:xfrm>
            <a:off x="9866376" y="3323844"/>
            <a:ext cx="969264" cy="1476756"/>
          </a:xfrm>
          <a:prstGeom prst="roundRect">
            <a:avLst/>
          </a:prstGeom>
          <a:solidFill>
            <a:srgbClr val="6B5AA6"/>
          </a:solidFill>
          <a:ln w="12700">
            <a:solidFill>
              <a:srgbClr val="6B5AA6"/>
            </a:solidFill>
            <a:prstDash val="solid"/>
          </a:ln>
        </p:spPr>
      </p:sp>
      <p:sp>
        <p:nvSpPr>
          <p:cNvPr id="29" name="Text 27"/>
          <p:cNvSpPr/>
          <p:nvPr/>
        </p:nvSpPr>
        <p:spPr>
          <a:xfrm>
            <a:off x="9848088" y="2958084"/>
            <a:ext cx="1005840" cy="320040"/>
          </a:xfrm>
          <a:prstGeom prst="rect">
            <a:avLst/>
          </a:prstGeom>
          <a:noFill/>
          <a:ln/>
        </p:spPr>
        <p:txBody>
          <a:bodyPr wrap="square" lIns="0" tIns="0" rIns="0" bIns="0" rtlCol="0" anchor="ctr"/>
          <a:lstStyle/>
          <a:p>
            <a:pPr algn="ctr" indent="0" marL="0">
              <a:buNone/>
            </a:pPr>
            <a:r>
              <a:rPr lang="en-US" sz="2200" b="1" dirty="0">
                <a:solidFill>
                  <a:srgbClr val="6B5AA6"/>
                </a:solidFill>
                <a:latin typeface="Noto Sans ExtraCondensed" pitchFamily="34" charset="0"/>
                <a:ea typeface="Noto Sans ExtraCondensed" pitchFamily="34" charset="-122"/>
                <a:cs typeface="Noto Sans ExtraCondensed" pitchFamily="34" charset="-120"/>
              </a:rPr>
              <a:t>19%</a:t>
            </a:r>
            <a:endParaRPr lang="en-US" sz="2200" dirty="0"/>
          </a:p>
        </p:txBody>
      </p:sp>
      <p:sp>
        <p:nvSpPr>
          <p:cNvPr id="30" name="Text 28"/>
          <p:cNvSpPr/>
          <p:nvPr/>
        </p:nvSpPr>
        <p:spPr>
          <a:xfrm>
            <a:off x="9646920" y="5010912"/>
            <a:ext cx="1417320" cy="603504"/>
          </a:xfrm>
          <a:prstGeom prst="rect">
            <a:avLst/>
          </a:prstGeom>
          <a:noFill/>
          <a:ln/>
        </p:spPr>
        <p:txBody>
          <a:bodyPr wrap="square" lIns="0" tIns="0" rIns="0" bIns="0" rtlCol="0" anchor="ctr"/>
          <a:lstStyle/>
          <a:p>
            <a:pPr algn="ctr" indent="0" marL="0">
              <a:buNone/>
            </a:pPr>
            <a:r>
              <a:rPr lang="en-US" sz="1350" b="1" dirty="0">
                <a:solidFill>
                  <a:srgbClr val="2B2A29"/>
                </a:solidFill>
                <a:latin typeface="Noto Sans SemiCondensed" pitchFamily="34" charset="0"/>
                <a:ea typeface="Noto Sans SemiCondensed" pitchFamily="34" charset="-122"/>
                <a:cs typeface="Noto Sans SemiCondensed" pitchFamily="34" charset="-120"/>
              </a:rPr>
              <a:t>Senior leadership</a:t>
            </a:r>
            <a:endParaRPr lang="en-US" sz="1350" dirty="0"/>
          </a:p>
        </p:txBody>
      </p:sp>
      <p:sp>
        <p:nvSpPr>
          <p:cNvPr id="31" name="Shape 29"/>
          <p:cNvSpPr/>
          <p:nvPr/>
        </p:nvSpPr>
        <p:spPr>
          <a:xfrm>
            <a:off x="6565392" y="4809744"/>
            <a:ext cx="4572000" cy="0"/>
          </a:xfrm>
          <a:prstGeom prst="line">
            <a:avLst/>
          </a:prstGeom>
          <a:noFill/>
          <a:ln w="15240">
            <a:solidFill>
              <a:srgbClr val="B2B3B3"/>
            </a:solidFill>
            <a:prstDash val="solid"/>
          </a:ln>
        </p:spPr>
      </p:sp>
      <p:sp>
        <p:nvSpPr>
          <p:cNvPr id="32" name="Text 30"/>
          <p:cNvSpPr/>
          <p:nvPr/>
        </p:nvSpPr>
        <p:spPr>
          <a:xfrm>
            <a:off x="868680" y="5742432"/>
            <a:ext cx="10561320" cy="384048"/>
          </a:xfrm>
          <a:prstGeom prst="rect">
            <a:avLst/>
          </a:prstGeom>
          <a:noFill/>
          <a:ln/>
        </p:spPr>
        <p:txBody>
          <a:bodyPr wrap="square" lIns="0" tIns="0" rIns="0" bIns="0" rtlCol="0" anchor="ctr"/>
          <a:lstStyle/>
          <a:p>
            <a:pPr algn="ctr" indent="0" marL="0">
              <a:buNone/>
            </a:pPr>
            <a:r>
              <a:rPr lang="en-US" sz="1800" b="1" dirty="0">
                <a:solidFill>
                  <a:srgbClr val="284B96"/>
                </a:solidFill>
                <a:latin typeface="Noto Sans SemiCondensed" pitchFamily="34" charset="0"/>
                <a:ea typeface="Noto Sans SemiCondensed" pitchFamily="34" charset="-122"/>
                <a:cs typeface="Noto Sans SemiCondensed" pitchFamily="34" charset="-120"/>
              </a:rPr>
              <a:t>The transition is expanding jobs, but representation still drops in technical, trade and leadership pathways.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CORE MESSAGE</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Inclusion is a safety issue</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06</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pic>
        <p:nvPicPr>
          <p:cNvPr id="8" name="Image 0" descr="Maintenance workers on an electricity pylon">    </p:cNvPr>
          <p:cNvPicPr>
            <a:picLocks noChangeAspect="1"/>
          </p:cNvPicPr>
          <p:nvPr/>
        </p:nvPicPr>
        <p:blipFill>
          <a:blip r:embed="rId1"/>
          <a:srcRect l="0" r="0" t="0" b="0"/>
          <a:stretch/>
        </p:blipFill>
        <p:spPr>
          <a:xfrm>
            <a:off x="6812280" y="1188720"/>
            <a:ext cx="4892040" cy="5138928"/>
          </a:xfrm>
          <a:prstGeom prst="rect">
            <a:avLst/>
          </a:prstGeom>
        </p:spPr>
      </p:pic>
      <p:sp>
        <p:nvSpPr>
          <p:cNvPr id="9" name="Shape 6"/>
          <p:cNvSpPr/>
          <p:nvPr/>
        </p:nvSpPr>
        <p:spPr>
          <a:xfrm>
            <a:off x="6812280" y="1188720"/>
            <a:ext cx="4892040" cy="5138928"/>
          </a:xfrm>
          <a:prstGeom prst="rect">
            <a:avLst/>
          </a:prstGeom>
          <a:solidFill>
            <a:srgbClr val="284B96">
              <a:alpha val="27000"/>
            </a:srgbClr>
          </a:solidFill>
          <a:ln w="12700">
            <a:solidFill>
              <a:srgbClr val="284B96">
                <a:alpha val="0"/>
              </a:srgbClr>
            </a:solidFill>
            <a:prstDash val="solid"/>
          </a:ln>
        </p:spPr>
      </p:sp>
      <p:sp>
        <p:nvSpPr>
          <p:cNvPr id="10" name="Text 7"/>
          <p:cNvSpPr/>
          <p:nvPr/>
        </p:nvSpPr>
        <p:spPr>
          <a:xfrm>
            <a:off x="777240" y="1417320"/>
            <a:ext cx="5257800" cy="365760"/>
          </a:xfrm>
          <a:prstGeom prst="rect">
            <a:avLst/>
          </a:prstGeom>
          <a:noFill/>
          <a:ln/>
        </p:spPr>
        <p:txBody>
          <a:bodyPr wrap="square" lIns="0" tIns="0" rIns="0" bIns="0" rtlCol="0" anchor="ctr"/>
          <a:lstStyle/>
          <a:p>
            <a:pPr indent="0" marL="0">
              <a:buNone/>
            </a:pPr>
            <a:r>
              <a:rPr lang="en-US" sz="2500" b="1" dirty="0">
                <a:solidFill>
                  <a:srgbClr val="00A3E0"/>
                </a:solidFill>
                <a:latin typeface="Noto Sans ExtraCondensed" pitchFamily="34" charset="0"/>
                <a:ea typeface="Noto Sans ExtraCondensed" pitchFamily="34" charset="-122"/>
                <a:cs typeface="Noto Sans ExtraCondensed" pitchFamily="34" charset="-120"/>
              </a:rPr>
              <a:t>WHO GETS WHICH TASK?</a:t>
            </a:r>
            <a:endParaRPr lang="en-US" sz="2500" dirty="0"/>
          </a:p>
        </p:txBody>
      </p:sp>
      <p:sp>
        <p:nvSpPr>
          <p:cNvPr id="11" name="Text 8"/>
          <p:cNvSpPr/>
          <p:nvPr/>
        </p:nvSpPr>
        <p:spPr>
          <a:xfrm>
            <a:off x="804672" y="1901952"/>
            <a:ext cx="5166360" cy="411480"/>
          </a:xfrm>
          <a:prstGeom prst="rect">
            <a:avLst/>
          </a:prstGeom>
          <a:noFill/>
          <a:ln/>
        </p:spPr>
        <p:txBody>
          <a:bodyPr wrap="square" lIns="0" tIns="0" rIns="0" bIns="0" rtlCol="0" anchor="ctr"/>
          <a:lstStyle/>
          <a:p>
            <a:pPr indent="0" marL="0">
              <a:buNone/>
            </a:pPr>
            <a:r>
              <a:rPr lang="en-US" sz="1700" dirty="0">
                <a:solidFill>
                  <a:srgbClr val="5B5B5B"/>
                </a:solidFill>
                <a:latin typeface="Noto Sans SemiCondensed" pitchFamily="34" charset="0"/>
                <a:ea typeface="Noto Sans SemiCondensed" pitchFamily="34" charset="-122"/>
                <a:cs typeface="Noto Sans SemiCondensed" pitchFamily="34" charset="-120"/>
              </a:rPr>
              <a:t>Task allocation determines exposure.</a:t>
            </a:r>
            <a:endParaRPr lang="en-US" sz="1700" dirty="0"/>
          </a:p>
        </p:txBody>
      </p:sp>
      <p:sp>
        <p:nvSpPr>
          <p:cNvPr id="12" name="Text 9"/>
          <p:cNvSpPr/>
          <p:nvPr/>
        </p:nvSpPr>
        <p:spPr>
          <a:xfrm>
            <a:off x="777240" y="2834640"/>
            <a:ext cx="5257800" cy="365760"/>
          </a:xfrm>
          <a:prstGeom prst="rect">
            <a:avLst/>
          </a:prstGeom>
          <a:noFill/>
          <a:ln/>
        </p:spPr>
        <p:txBody>
          <a:bodyPr wrap="square" lIns="0" tIns="0" rIns="0" bIns="0" rtlCol="0" anchor="ctr"/>
          <a:lstStyle/>
          <a:p>
            <a:pPr indent="0" marL="0">
              <a:buNone/>
            </a:pPr>
            <a:r>
              <a:rPr lang="en-US" sz="2500" b="1" dirty="0">
                <a:solidFill>
                  <a:srgbClr val="2E8B78"/>
                </a:solidFill>
                <a:latin typeface="Noto Sans ExtraCondensed" pitchFamily="34" charset="0"/>
                <a:ea typeface="Noto Sans ExtraCondensed" pitchFamily="34" charset="-122"/>
                <a:cs typeface="Noto Sans ExtraCondensed" pitchFamily="34" charset="-120"/>
              </a:rPr>
              <a:t>WHO HAS EQUIPMENT THAT FITS?</a:t>
            </a:r>
            <a:endParaRPr lang="en-US" sz="2500" dirty="0"/>
          </a:p>
        </p:txBody>
      </p:sp>
      <p:sp>
        <p:nvSpPr>
          <p:cNvPr id="13" name="Text 10"/>
          <p:cNvSpPr/>
          <p:nvPr/>
        </p:nvSpPr>
        <p:spPr>
          <a:xfrm>
            <a:off x="804672" y="3319272"/>
            <a:ext cx="5166360" cy="411480"/>
          </a:xfrm>
          <a:prstGeom prst="rect">
            <a:avLst/>
          </a:prstGeom>
          <a:noFill/>
          <a:ln/>
        </p:spPr>
        <p:txBody>
          <a:bodyPr wrap="square" lIns="0" tIns="0" rIns="0" bIns="0" rtlCol="0" anchor="ctr"/>
          <a:lstStyle/>
          <a:p>
            <a:pPr indent="0" marL="0">
              <a:buNone/>
            </a:pPr>
            <a:r>
              <a:rPr lang="en-US" sz="1700" dirty="0">
                <a:solidFill>
                  <a:srgbClr val="5B5B5B"/>
                </a:solidFill>
                <a:latin typeface="Noto Sans SemiCondensed" pitchFamily="34" charset="0"/>
                <a:ea typeface="Noto Sans SemiCondensed" pitchFamily="34" charset="-122"/>
                <a:cs typeface="Noto Sans SemiCondensed" pitchFamily="34" charset="-120"/>
              </a:rPr>
              <a:t>Fit affects protection and safe movement.</a:t>
            </a:r>
            <a:endParaRPr lang="en-US" sz="1700" dirty="0"/>
          </a:p>
        </p:txBody>
      </p:sp>
      <p:sp>
        <p:nvSpPr>
          <p:cNvPr id="14" name="Text 11"/>
          <p:cNvSpPr/>
          <p:nvPr/>
        </p:nvSpPr>
        <p:spPr>
          <a:xfrm>
            <a:off x="777240" y="4251960"/>
            <a:ext cx="5257800" cy="365760"/>
          </a:xfrm>
          <a:prstGeom prst="rect">
            <a:avLst/>
          </a:prstGeom>
          <a:noFill/>
          <a:ln/>
        </p:spPr>
        <p:txBody>
          <a:bodyPr wrap="square" lIns="0" tIns="0" rIns="0" bIns="0" rtlCol="0" anchor="ctr"/>
          <a:lstStyle/>
          <a:p>
            <a:pPr indent="0" marL="0">
              <a:buNone/>
            </a:pPr>
            <a:r>
              <a:rPr lang="en-US" sz="2500" b="1" dirty="0">
                <a:solidFill>
                  <a:srgbClr val="E7A33E"/>
                </a:solidFill>
                <a:latin typeface="Noto Sans ExtraCondensed" pitchFamily="34" charset="0"/>
                <a:ea typeface="Noto Sans ExtraCondensed" pitchFamily="34" charset="-122"/>
                <a:cs typeface="Noto Sans ExtraCondensed" pitchFamily="34" charset="-120"/>
              </a:rPr>
              <a:t>WHO CAN SPEAK UP?</a:t>
            </a:r>
            <a:endParaRPr lang="en-US" sz="2500" dirty="0"/>
          </a:p>
        </p:txBody>
      </p:sp>
      <p:sp>
        <p:nvSpPr>
          <p:cNvPr id="15" name="Text 12"/>
          <p:cNvSpPr/>
          <p:nvPr/>
        </p:nvSpPr>
        <p:spPr>
          <a:xfrm>
            <a:off x="804672" y="4736592"/>
            <a:ext cx="5166360" cy="411480"/>
          </a:xfrm>
          <a:prstGeom prst="rect">
            <a:avLst/>
          </a:prstGeom>
          <a:noFill/>
          <a:ln/>
        </p:spPr>
        <p:txBody>
          <a:bodyPr wrap="square" lIns="0" tIns="0" rIns="0" bIns="0" rtlCol="0" anchor="ctr"/>
          <a:lstStyle/>
          <a:p>
            <a:pPr indent="0" marL="0">
              <a:buNone/>
            </a:pPr>
            <a:r>
              <a:rPr lang="en-US" sz="1700" dirty="0">
                <a:solidFill>
                  <a:srgbClr val="5B5B5B"/>
                </a:solidFill>
                <a:latin typeface="Noto Sans SemiCondensed" pitchFamily="34" charset="0"/>
                <a:ea typeface="Noto Sans SemiCondensed" pitchFamily="34" charset="-122"/>
                <a:cs typeface="Noto Sans SemiCondensed" pitchFamily="34" charset="-120"/>
              </a:rPr>
              <a:t>Power and culture affect reporting and stop-work decisions.</a:t>
            </a:r>
            <a:endParaRPr lang="en-US" sz="1700" dirty="0"/>
          </a:p>
        </p:txBody>
      </p:sp>
      <p:sp>
        <p:nvSpPr>
          <p:cNvPr id="16" name="Text 13"/>
          <p:cNvSpPr/>
          <p:nvPr/>
        </p:nvSpPr>
        <p:spPr>
          <a:xfrm>
            <a:off x="777240" y="5779008"/>
            <a:ext cx="5440680" cy="384048"/>
          </a:xfrm>
          <a:prstGeom prst="rect">
            <a:avLst/>
          </a:prstGeom>
          <a:noFill/>
          <a:ln/>
        </p:spPr>
        <p:txBody>
          <a:bodyPr wrap="square" lIns="0" tIns="0" rIns="0" bIns="0" rtlCol="0" anchor="ctr"/>
          <a:lstStyle/>
          <a:p>
            <a:pPr indent="0" marL="0">
              <a:buNone/>
            </a:pPr>
            <a:r>
              <a:rPr lang="en-US" sz="2000" b="1" dirty="0">
                <a:solidFill>
                  <a:srgbClr val="284B96"/>
                </a:solidFill>
                <a:latin typeface="Noto Sans SemiCondensed" pitchFamily="34" charset="0"/>
                <a:ea typeface="Noto Sans SemiCondensed" pitchFamily="34" charset="-122"/>
                <a:cs typeface="Noto Sans SemiCondensed" pitchFamily="34" charset="-120"/>
              </a:rPr>
              <a:t>If these differ, risk is distributed unequally.</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GENDER-SENSITIVE OSH</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A gender lens connects people, roles and work design</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07</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1097280" y="1508760"/>
            <a:ext cx="3794760" cy="3794760"/>
          </a:xfrm>
          <a:prstGeom prst="ellipse">
            <a:avLst/>
          </a:prstGeom>
          <a:solidFill>
            <a:srgbClr val="D1D5EB">
              <a:alpha val="92000"/>
            </a:srgbClr>
          </a:solidFill>
          <a:ln w="25400">
            <a:solidFill>
              <a:srgbClr val="7885BC"/>
            </a:solidFill>
            <a:prstDash val="solid"/>
          </a:ln>
        </p:spPr>
      </p:sp>
      <p:sp>
        <p:nvSpPr>
          <p:cNvPr id="9" name="Shape 7"/>
          <p:cNvSpPr/>
          <p:nvPr/>
        </p:nvSpPr>
        <p:spPr>
          <a:xfrm>
            <a:off x="3977640" y="1508760"/>
            <a:ext cx="3794760" cy="3794760"/>
          </a:xfrm>
          <a:prstGeom prst="ellipse">
            <a:avLst/>
          </a:prstGeom>
          <a:solidFill>
            <a:srgbClr val="DDF4FB">
              <a:alpha val="92000"/>
            </a:srgbClr>
          </a:solidFill>
          <a:ln w="25400">
            <a:solidFill>
              <a:srgbClr val="00A3E0"/>
            </a:solidFill>
            <a:prstDash val="solid"/>
          </a:ln>
        </p:spPr>
      </p:sp>
      <p:sp>
        <p:nvSpPr>
          <p:cNvPr id="10" name="Text 8"/>
          <p:cNvSpPr/>
          <p:nvPr/>
        </p:nvSpPr>
        <p:spPr>
          <a:xfrm>
            <a:off x="1417320" y="1828800"/>
            <a:ext cx="2468880" cy="320040"/>
          </a:xfrm>
          <a:prstGeom prst="rect">
            <a:avLst/>
          </a:prstGeom>
          <a:noFill/>
          <a:ln/>
        </p:spPr>
        <p:txBody>
          <a:bodyPr wrap="square" lIns="0" tIns="0" rIns="0" bIns="0" rtlCol="0" anchor="ctr"/>
          <a:lstStyle/>
          <a:p>
            <a:pPr algn="ctr" indent="0" marL="0">
              <a:buNone/>
            </a:pPr>
            <a:r>
              <a:rPr lang="en-US" sz="2300" b="1" dirty="0">
                <a:solidFill>
                  <a:srgbClr val="284B96"/>
                </a:solidFill>
                <a:latin typeface="Noto Sans ExtraCondensed" pitchFamily="34" charset="0"/>
                <a:ea typeface="Noto Sans ExtraCondensed" pitchFamily="34" charset="-122"/>
                <a:cs typeface="Noto Sans ExtraCondensed" pitchFamily="34" charset="-120"/>
              </a:rPr>
              <a:t>SEX-RELATED FACTORS</a:t>
            </a:r>
            <a:endParaRPr lang="en-US" sz="2300" dirty="0"/>
          </a:p>
        </p:txBody>
      </p:sp>
      <p:sp>
        <p:nvSpPr>
          <p:cNvPr id="11" name="Shape 9"/>
          <p:cNvSpPr/>
          <p:nvPr/>
        </p:nvSpPr>
        <p:spPr>
          <a:xfrm>
            <a:off x="1481328" y="2478024"/>
            <a:ext cx="109728" cy="109728"/>
          </a:xfrm>
          <a:prstGeom prst="ellipse">
            <a:avLst/>
          </a:prstGeom>
          <a:solidFill>
            <a:srgbClr val="7885BC"/>
          </a:solidFill>
          <a:ln w="12700">
            <a:solidFill>
              <a:srgbClr val="7885BC"/>
            </a:solidFill>
            <a:prstDash val="solid"/>
          </a:ln>
        </p:spPr>
      </p:sp>
      <p:sp>
        <p:nvSpPr>
          <p:cNvPr id="12" name="Text 10"/>
          <p:cNvSpPr/>
          <p:nvPr/>
        </p:nvSpPr>
        <p:spPr>
          <a:xfrm>
            <a:off x="1682496" y="2359152"/>
            <a:ext cx="2496312" cy="603504"/>
          </a:xfrm>
          <a:prstGeom prst="rect">
            <a:avLst/>
          </a:prstGeom>
          <a:noFill/>
          <a:ln/>
        </p:spPr>
        <p:txBody>
          <a:bodyPr wrap="square" lIns="127" tIns="127" rIns="127" bIns="127" rtlCol="0" anchor="ctr"/>
          <a:lstStyle/>
          <a:p>
            <a:pP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Body dimensions and equipment fit</a:t>
            </a:r>
            <a:endParaRPr lang="en-US" sz="1550" dirty="0"/>
          </a:p>
        </p:txBody>
      </p:sp>
      <p:sp>
        <p:nvSpPr>
          <p:cNvPr id="13" name="Shape 11"/>
          <p:cNvSpPr/>
          <p:nvPr/>
        </p:nvSpPr>
        <p:spPr>
          <a:xfrm>
            <a:off x="1481328" y="3118104"/>
            <a:ext cx="109728" cy="109728"/>
          </a:xfrm>
          <a:prstGeom prst="ellipse">
            <a:avLst/>
          </a:prstGeom>
          <a:solidFill>
            <a:srgbClr val="7885BC"/>
          </a:solidFill>
          <a:ln w="12700">
            <a:solidFill>
              <a:srgbClr val="7885BC"/>
            </a:solidFill>
            <a:prstDash val="solid"/>
          </a:ln>
        </p:spPr>
      </p:sp>
      <p:sp>
        <p:nvSpPr>
          <p:cNvPr id="14" name="Text 12"/>
          <p:cNvSpPr/>
          <p:nvPr/>
        </p:nvSpPr>
        <p:spPr>
          <a:xfrm>
            <a:off x="1682496" y="2999232"/>
            <a:ext cx="2496312" cy="603504"/>
          </a:xfrm>
          <a:prstGeom prst="rect">
            <a:avLst/>
          </a:prstGeom>
          <a:noFill/>
          <a:ln/>
        </p:spPr>
        <p:txBody>
          <a:bodyPr wrap="square" lIns="127" tIns="127" rIns="127" bIns="127" rtlCol="0" anchor="ctr"/>
          <a:lstStyle/>
          <a:p>
            <a:pP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Reproductive and hormonal factors</a:t>
            </a:r>
            <a:endParaRPr lang="en-US" sz="1550" dirty="0"/>
          </a:p>
        </p:txBody>
      </p:sp>
      <p:sp>
        <p:nvSpPr>
          <p:cNvPr id="15" name="Shape 13"/>
          <p:cNvSpPr/>
          <p:nvPr/>
        </p:nvSpPr>
        <p:spPr>
          <a:xfrm>
            <a:off x="1481328" y="3758184"/>
            <a:ext cx="109728" cy="109728"/>
          </a:xfrm>
          <a:prstGeom prst="ellipse">
            <a:avLst/>
          </a:prstGeom>
          <a:solidFill>
            <a:srgbClr val="7885BC"/>
          </a:solidFill>
          <a:ln w="12700">
            <a:solidFill>
              <a:srgbClr val="7885BC"/>
            </a:solidFill>
            <a:prstDash val="solid"/>
          </a:ln>
        </p:spPr>
      </p:sp>
      <p:sp>
        <p:nvSpPr>
          <p:cNvPr id="16" name="Text 14"/>
          <p:cNvSpPr/>
          <p:nvPr/>
        </p:nvSpPr>
        <p:spPr>
          <a:xfrm>
            <a:off x="1682496" y="3639312"/>
            <a:ext cx="2496312" cy="603504"/>
          </a:xfrm>
          <a:prstGeom prst="rect">
            <a:avLst/>
          </a:prstGeom>
          <a:noFill/>
          <a:ln/>
        </p:spPr>
        <p:txBody>
          <a:bodyPr wrap="square" lIns="127" tIns="127" rIns="127" bIns="127" rtlCol="0" anchor="ctr"/>
          <a:lstStyle/>
          <a:p>
            <a:pP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Different responses to some exposures</a:t>
            </a:r>
            <a:endParaRPr lang="en-US" sz="1550" dirty="0"/>
          </a:p>
        </p:txBody>
      </p:sp>
      <p:sp>
        <p:nvSpPr>
          <p:cNvPr id="17" name="Text 15"/>
          <p:cNvSpPr/>
          <p:nvPr/>
        </p:nvSpPr>
        <p:spPr>
          <a:xfrm>
            <a:off x="4617720" y="1828800"/>
            <a:ext cx="2560320" cy="502920"/>
          </a:xfrm>
          <a:prstGeom prst="rect">
            <a:avLst/>
          </a:prstGeom>
          <a:noFill/>
          <a:ln/>
        </p:spPr>
        <p:txBody>
          <a:bodyPr wrap="square" lIns="0" tIns="0" rIns="0" bIns="0" rtlCol="0" anchor="ctr"/>
          <a:lstStyle/>
          <a:p>
            <a:pPr algn="ctr" indent="0" marL="0">
              <a:buNone/>
            </a:pPr>
            <a:r>
              <a:rPr lang="en-US" sz="2300" b="1" dirty="0">
                <a:solidFill>
                  <a:srgbClr val="00A3E0"/>
                </a:solidFill>
                <a:latin typeface="Noto Sans ExtraCondensed" pitchFamily="34" charset="0"/>
                <a:ea typeface="Noto Sans ExtraCondensed" pitchFamily="34" charset="-122"/>
                <a:cs typeface="Noto Sans ExtraCondensed" pitchFamily="34" charset="-120"/>
              </a:rPr>
              <a:t>GENDER AND SOCIAL FACTORS</a:t>
            </a:r>
            <a:endParaRPr lang="en-US" sz="2300" dirty="0"/>
          </a:p>
        </p:txBody>
      </p:sp>
      <p:sp>
        <p:nvSpPr>
          <p:cNvPr id="18" name="Shape 16"/>
          <p:cNvSpPr/>
          <p:nvPr/>
        </p:nvSpPr>
        <p:spPr>
          <a:xfrm>
            <a:off x="4645152" y="2478024"/>
            <a:ext cx="109728" cy="109728"/>
          </a:xfrm>
          <a:prstGeom prst="ellipse">
            <a:avLst/>
          </a:prstGeom>
          <a:solidFill>
            <a:srgbClr val="00A3E0"/>
          </a:solidFill>
          <a:ln w="12700">
            <a:solidFill>
              <a:srgbClr val="00A3E0"/>
            </a:solidFill>
            <a:prstDash val="solid"/>
          </a:ln>
        </p:spPr>
      </p:sp>
      <p:sp>
        <p:nvSpPr>
          <p:cNvPr id="19" name="Text 17"/>
          <p:cNvSpPr/>
          <p:nvPr/>
        </p:nvSpPr>
        <p:spPr>
          <a:xfrm>
            <a:off x="4846320" y="2359152"/>
            <a:ext cx="2587752" cy="603504"/>
          </a:xfrm>
          <a:prstGeom prst="rect">
            <a:avLst/>
          </a:prstGeom>
          <a:noFill/>
          <a:ln/>
        </p:spPr>
        <p:txBody>
          <a:bodyPr wrap="square" lIns="127" tIns="127" rIns="127" bIns="127" rtlCol="0" anchor="ctr"/>
          <a:lstStyle/>
          <a:p>
            <a:pP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Occupational segregation and task allocation</a:t>
            </a:r>
            <a:endParaRPr lang="en-US" sz="1550" dirty="0"/>
          </a:p>
        </p:txBody>
      </p:sp>
      <p:sp>
        <p:nvSpPr>
          <p:cNvPr id="20" name="Shape 18"/>
          <p:cNvSpPr/>
          <p:nvPr/>
        </p:nvSpPr>
        <p:spPr>
          <a:xfrm>
            <a:off x="4645152" y="3118104"/>
            <a:ext cx="109728" cy="109728"/>
          </a:xfrm>
          <a:prstGeom prst="ellipse">
            <a:avLst/>
          </a:prstGeom>
          <a:solidFill>
            <a:srgbClr val="00A3E0"/>
          </a:solidFill>
          <a:ln w="12700">
            <a:solidFill>
              <a:srgbClr val="00A3E0"/>
            </a:solidFill>
            <a:prstDash val="solid"/>
          </a:ln>
        </p:spPr>
      </p:sp>
      <p:sp>
        <p:nvSpPr>
          <p:cNvPr id="21" name="Text 19"/>
          <p:cNvSpPr/>
          <p:nvPr/>
        </p:nvSpPr>
        <p:spPr>
          <a:xfrm>
            <a:off x="4846320" y="2999232"/>
            <a:ext cx="2587752" cy="603504"/>
          </a:xfrm>
          <a:prstGeom prst="rect">
            <a:avLst/>
          </a:prstGeom>
          <a:noFill/>
          <a:ln/>
        </p:spPr>
        <p:txBody>
          <a:bodyPr wrap="square" lIns="127" tIns="127" rIns="127" bIns="127" rtlCol="0" anchor="ctr"/>
          <a:lstStyle/>
          <a:p>
            <a:pP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Care responsibilities and working time</a:t>
            </a:r>
            <a:endParaRPr lang="en-US" sz="1550" dirty="0"/>
          </a:p>
        </p:txBody>
      </p:sp>
      <p:sp>
        <p:nvSpPr>
          <p:cNvPr id="22" name="Shape 20"/>
          <p:cNvSpPr/>
          <p:nvPr/>
        </p:nvSpPr>
        <p:spPr>
          <a:xfrm>
            <a:off x="4645152" y="3758184"/>
            <a:ext cx="109728" cy="109728"/>
          </a:xfrm>
          <a:prstGeom prst="ellipse">
            <a:avLst/>
          </a:prstGeom>
          <a:solidFill>
            <a:srgbClr val="00A3E0"/>
          </a:solidFill>
          <a:ln w="12700">
            <a:solidFill>
              <a:srgbClr val="00A3E0"/>
            </a:solidFill>
            <a:prstDash val="solid"/>
          </a:ln>
        </p:spPr>
      </p:sp>
      <p:sp>
        <p:nvSpPr>
          <p:cNvPr id="23" name="Text 21"/>
          <p:cNvSpPr/>
          <p:nvPr/>
        </p:nvSpPr>
        <p:spPr>
          <a:xfrm>
            <a:off x="4846320" y="3639312"/>
            <a:ext cx="2587752" cy="603504"/>
          </a:xfrm>
          <a:prstGeom prst="rect">
            <a:avLst/>
          </a:prstGeom>
          <a:noFill/>
          <a:ln/>
        </p:spPr>
        <p:txBody>
          <a:bodyPr wrap="square" lIns="127" tIns="127" rIns="127" bIns="127" rtlCol="0" anchor="ctr"/>
          <a:lstStyle/>
          <a:p>
            <a:pPr indent="0" marL="0">
              <a:buNone/>
            </a:pPr>
            <a:r>
              <a:rPr lang="en-US" sz="1550" dirty="0">
                <a:solidFill>
                  <a:srgbClr val="2B2A29"/>
                </a:solidFill>
                <a:latin typeface="Noto Sans SemiCondensed" pitchFamily="34" charset="0"/>
                <a:ea typeface="Noto Sans SemiCondensed" pitchFamily="34" charset="-122"/>
                <a:cs typeface="Noto Sans SemiCondensed" pitchFamily="34" charset="-120"/>
              </a:rPr>
              <a:t>Power, harassment and access to voice</a:t>
            </a:r>
            <a:endParaRPr lang="en-US" sz="1550" dirty="0"/>
          </a:p>
        </p:txBody>
      </p:sp>
      <p:sp>
        <p:nvSpPr>
          <p:cNvPr id="24" name="Shape 22"/>
          <p:cNvSpPr/>
          <p:nvPr/>
        </p:nvSpPr>
        <p:spPr>
          <a:xfrm>
            <a:off x="3429000" y="2834640"/>
            <a:ext cx="1920240" cy="1463040"/>
          </a:xfrm>
          <a:prstGeom prst="ellipse">
            <a:avLst/>
          </a:prstGeom>
          <a:solidFill>
            <a:srgbClr val="FFFFFF"/>
          </a:solidFill>
          <a:ln w="30480">
            <a:solidFill>
              <a:srgbClr val="2E8B78"/>
            </a:solidFill>
            <a:prstDash val="solid"/>
          </a:ln>
        </p:spPr>
      </p:sp>
      <p:sp>
        <p:nvSpPr>
          <p:cNvPr id="25" name="Text 23"/>
          <p:cNvSpPr/>
          <p:nvPr/>
        </p:nvSpPr>
        <p:spPr>
          <a:xfrm>
            <a:off x="3840480" y="3182112"/>
            <a:ext cx="1097280" cy="640080"/>
          </a:xfrm>
          <a:prstGeom prst="rect">
            <a:avLst/>
          </a:prstGeom>
          <a:noFill/>
          <a:ln/>
        </p:spPr>
        <p:txBody>
          <a:bodyPr wrap="square" lIns="0" tIns="0" rIns="0" bIns="0" rtlCol="0" anchor="ctr"/>
          <a:lstStyle/>
          <a:p>
            <a:pPr algn="ctr" indent="0" marL="0">
              <a:buNone/>
            </a:pPr>
            <a:r>
              <a:rPr lang="en-US" sz="2400" b="1" dirty="0">
                <a:solidFill>
                  <a:srgbClr val="2E8B78"/>
                </a:solidFill>
                <a:latin typeface="Noto Sans ExtraCondensed" pitchFamily="34" charset="0"/>
                <a:ea typeface="Noto Sans ExtraCondensed" pitchFamily="34" charset="-122"/>
                <a:cs typeface="Noto Sans ExtraCondensed" pitchFamily="34" charset="-120"/>
              </a:rPr>
              <a:t>WORK</a:t>
            </a:r>
            <a:endParaRPr lang="en-US" sz="2400" dirty="0"/>
          </a:p>
          <a:p>
            <a:pPr algn="ctr" indent="0" marL="0">
              <a:buNone/>
            </a:pPr>
            <a:r>
              <a:rPr lang="en-US" sz="2400" b="1" dirty="0">
                <a:solidFill>
                  <a:srgbClr val="2E8B78"/>
                </a:solidFill>
                <a:latin typeface="Noto Sans ExtraCondensed" pitchFamily="34" charset="0"/>
                <a:ea typeface="Noto Sans ExtraCondensed" pitchFamily="34" charset="-122"/>
                <a:cs typeface="Noto Sans ExtraCondensed" pitchFamily="34" charset="-120"/>
              </a:rPr>
              <a:t>DESIGN</a:t>
            </a:r>
            <a:endParaRPr lang="en-US" sz="2400" dirty="0"/>
          </a:p>
        </p:txBody>
      </p:sp>
      <p:sp>
        <p:nvSpPr>
          <p:cNvPr id="26" name="Text 24"/>
          <p:cNvSpPr/>
          <p:nvPr/>
        </p:nvSpPr>
        <p:spPr>
          <a:xfrm>
            <a:off x="8275320" y="1901952"/>
            <a:ext cx="2880360" cy="1463040"/>
          </a:xfrm>
          <a:prstGeom prst="rect">
            <a:avLst/>
          </a:prstGeom>
          <a:noFill/>
          <a:ln/>
        </p:spPr>
        <p:txBody>
          <a:bodyPr wrap="square" lIns="254" tIns="254" rIns="254" bIns="254" rtlCol="0" anchor="ctr"/>
          <a:lstStyle/>
          <a:p>
            <a:pPr indent="0" marL="0">
              <a:buNone/>
            </a:pPr>
            <a:r>
              <a:rPr lang="en-US" sz="1900" b="1" dirty="0">
                <a:solidFill>
                  <a:srgbClr val="284B96"/>
                </a:solidFill>
                <a:latin typeface="Noto Sans SemiCondensed" pitchFamily="34" charset="0"/>
                <a:ea typeface="Noto Sans SemiCondensed" pitchFamily="34" charset="-122"/>
                <a:cs typeface="Noto Sans SemiCondensed" pitchFamily="34" charset="-120"/>
              </a:rPr>
              <a:t>Use evidence - not assumptions. Differences within groups can be larger than average differences between groups.</a:t>
            </a:r>
            <a:endParaRPr lang="en-US" sz="1900" dirty="0"/>
          </a:p>
        </p:txBody>
      </p:sp>
      <p:sp>
        <p:nvSpPr>
          <p:cNvPr id="27" name="Shape 25"/>
          <p:cNvSpPr/>
          <p:nvPr/>
        </p:nvSpPr>
        <p:spPr>
          <a:xfrm>
            <a:off x="8275320" y="3593592"/>
            <a:ext cx="2331720" cy="0"/>
          </a:xfrm>
          <a:prstGeom prst="line">
            <a:avLst/>
          </a:prstGeom>
          <a:noFill/>
          <a:ln w="38100">
            <a:solidFill>
              <a:srgbClr val="00A3E0"/>
            </a:solidFill>
            <a:prstDash val="solid"/>
          </a:ln>
        </p:spPr>
      </p:sp>
      <p:sp>
        <p:nvSpPr>
          <p:cNvPr id="28" name="Text 26"/>
          <p:cNvSpPr/>
          <p:nvPr/>
        </p:nvSpPr>
        <p:spPr>
          <a:xfrm>
            <a:off x="8275320" y="3858768"/>
            <a:ext cx="2971800" cy="1325880"/>
          </a:xfrm>
          <a:prstGeom prst="rect">
            <a:avLst/>
          </a:prstGeom>
          <a:noFill/>
          <a:ln/>
        </p:spPr>
        <p:txBody>
          <a:bodyPr wrap="square" lIns="254" tIns="254" rIns="254" bIns="254"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The purpose of a gender lens is to make hidden exposure visible - not to assign fixed characteristics to women or men.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GENDER-SENSITIVE OSH</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Occupational segregation shapes exposure</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08</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2011680" y="2606040"/>
            <a:ext cx="338328" cy="0"/>
          </a:xfrm>
          <a:prstGeom prst="line">
            <a:avLst/>
          </a:prstGeom>
          <a:noFill/>
          <a:ln w="22860">
            <a:solidFill>
              <a:srgbClr val="A4ABD4"/>
            </a:solidFill>
            <a:prstDash val="solid"/>
            <a:tailEnd type="triangle"/>
          </a:ln>
        </p:spPr>
      </p:sp>
      <p:sp>
        <p:nvSpPr>
          <p:cNvPr id="9" name="Shape 7"/>
          <p:cNvSpPr/>
          <p:nvPr/>
        </p:nvSpPr>
        <p:spPr>
          <a:xfrm>
            <a:off x="502920" y="2148840"/>
            <a:ext cx="1508760" cy="960120"/>
          </a:xfrm>
          <a:prstGeom prst="ellipse">
            <a:avLst/>
          </a:prstGeom>
          <a:solidFill>
            <a:srgbClr val="898989"/>
          </a:solidFill>
          <a:ln w="12700">
            <a:solidFill>
              <a:srgbClr val="898989"/>
            </a:solidFill>
            <a:prstDash val="solid"/>
          </a:ln>
        </p:spPr>
      </p:sp>
      <p:sp>
        <p:nvSpPr>
          <p:cNvPr id="10" name="Text 8"/>
          <p:cNvSpPr/>
          <p:nvPr/>
        </p:nvSpPr>
        <p:spPr>
          <a:xfrm>
            <a:off x="612648" y="2432304"/>
            <a:ext cx="128930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Noto Sans SemiCondensed" pitchFamily="34" charset="0"/>
                <a:ea typeface="Noto Sans SemiCondensed" pitchFamily="34" charset="-122"/>
                <a:cs typeface="Noto Sans SemiCondensed" pitchFamily="34" charset="-120"/>
              </a:rPr>
              <a:t>INPUTS / MINING</a:t>
            </a:r>
            <a:endParaRPr lang="en-US" sz="1250" dirty="0"/>
          </a:p>
        </p:txBody>
      </p:sp>
      <p:sp>
        <p:nvSpPr>
          <p:cNvPr id="11" name="Shape 9"/>
          <p:cNvSpPr/>
          <p:nvPr/>
        </p:nvSpPr>
        <p:spPr>
          <a:xfrm>
            <a:off x="3913632" y="2606040"/>
            <a:ext cx="338328" cy="0"/>
          </a:xfrm>
          <a:prstGeom prst="line">
            <a:avLst/>
          </a:prstGeom>
          <a:noFill/>
          <a:ln w="22860">
            <a:solidFill>
              <a:srgbClr val="A4ABD4"/>
            </a:solidFill>
            <a:prstDash val="solid"/>
            <a:tailEnd type="triangle"/>
          </a:ln>
        </p:spPr>
      </p:sp>
      <p:sp>
        <p:nvSpPr>
          <p:cNvPr id="12" name="Shape 10"/>
          <p:cNvSpPr/>
          <p:nvPr/>
        </p:nvSpPr>
        <p:spPr>
          <a:xfrm>
            <a:off x="2404872" y="2148840"/>
            <a:ext cx="1508760" cy="960120"/>
          </a:xfrm>
          <a:prstGeom prst="ellipse">
            <a:avLst/>
          </a:prstGeom>
          <a:solidFill>
            <a:srgbClr val="E7A33E"/>
          </a:solidFill>
          <a:ln w="12700">
            <a:solidFill>
              <a:srgbClr val="E7A33E"/>
            </a:solidFill>
            <a:prstDash val="solid"/>
          </a:ln>
        </p:spPr>
      </p:sp>
      <p:sp>
        <p:nvSpPr>
          <p:cNvPr id="13" name="Text 11"/>
          <p:cNvSpPr/>
          <p:nvPr/>
        </p:nvSpPr>
        <p:spPr>
          <a:xfrm>
            <a:off x="2514600" y="2432304"/>
            <a:ext cx="128930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Noto Sans SemiCondensed" pitchFamily="34" charset="0"/>
                <a:ea typeface="Noto Sans SemiCondensed" pitchFamily="34" charset="-122"/>
                <a:cs typeface="Noto Sans SemiCondensed" pitchFamily="34" charset="-120"/>
              </a:rPr>
              <a:t>GENERATION</a:t>
            </a:r>
            <a:endParaRPr lang="en-US" sz="1250" dirty="0"/>
          </a:p>
        </p:txBody>
      </p:sp>
      <p:sp>
        <p:nvSpPr>
          <p:cNvPr id="14" name="Shape 12"/>
          <p:cNvSpPr/>
          <p:nvPr/>
        </p:nvSpPr>
        <p:spPr>
          <a:xfrm>
            <a:off x="5815584" y="2606040"/>
            <a:ext cx="338328" cy="0"/>
          </a:xfrm>
          <a:prstGeom prst="line">
            <a:avLst/>
          </a:prstGeom>
          <a:noFill/>
          <a:ln w="22860">
            <a:solidFill>
              <a:srgbClr val="A4ABD4"/>
            </a:solidFill>
            <a:prstDash val="solid"/>
            <a:tailEnd type="triangle"/>
          </a:ln>
        </p:spPr>
      </p:sp>
      <p:sp>
        <p:nvSpPr>
          <p:cNvPr id="15" name="Shape 13"/>
          <p:cNvSpPr/>
          <p:nvPr/>
        </p:nvSpPr>
        <p:spPr>
          <a:xfrm>
            <a:off x="4306824" y="2148840"/>
            <a:ext cx="1508760" cy="960120"/>
          </a:xfrm>
          <a:prstGeom prst="ellipse">
            <a:avLst/>
          </a:prstGeom>
          <a:solidFill>
            <a:srgbClr val="00A3E0"/>
          </a:solidFill>
          <a:ln w="12700">
            <a:solidFill>
              <a:srgbClr val="00A3E0"/>
            </a:solidFill>
            <a:prstDash val="solid"/>
          </a:ln>
        </p:spPr>
      </p:sp>
      <p:sp>
        <p:nvSpPr>
          <p:cNvPr id="16" name="Text 14"/>
          <p:cNvSpPr/>
          <p:nvPr/>
        </p:nvSpPr>
        <p:spPr>
          <a:xfrm>
            <a:off x="4416552" y="2432304"/>
            <a:ext cx="128930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Noto Sans SemiCondensed" pitchFamily="34" charset="0"/>
                <a:ea typeface="Noto Sans SemiCondensed" pitchFamily="34" charset="-122"/>
                <a:cs typeface="Noto Sans SemiCondensed" pitchFamily="34" charset="-120"/>
              </a:rPr>
              <a:t>GRIDS</a:t>
            </a:r>
            <a:endParaRPr lang="en-US" sz="1250" dirty="0"/>
          </a:p>
        </p:txBody>
      </p:sp>
      <p:sp>
        <p:nvSpPr>
          <p:cNvPr id="17" name="Shape 15"/>
          <p:cNvSpPr/>
          <p:nvPr/>
        </p:nvSpPr>
        <p:spPr>
          <a:xfrm>
            <a:off x="7717536" y="2606040"/>
            <a:ext cx="338328" cy="0"/>
          </a:xfrm>
          <a:prstGeom prst="line">
            <a:avLst/>
          </a:prstGeom>
          <a:noFill/>
          <a:ln w="22860">
            <a:solidFill>
              <a:srgbClr val="A4ABD4"/>
            </a:solidFill>
            <a:prstDash val="solid"/>
            <a:tailEnd type="triangle"/>
          </a:ln>
        </p:spPr>
      </p:sp>
      <p:sp>
        <p:nvSpPr>
          <p:cNvPr id="18" name="Shape 16"/>
          <p:cNvSpPr/>
          <p:nvPr/>
        </p:nvSpPr>
        <p:spPr>
          <a:xfrm>
            <a:off x="6208776" y="2148840"/>
            <a:ext cx="1508760" cy="960120"/>
          </a:xfrm>
          <a:prstGeom prst="ellipse">
            <a:avLst/>
          </a:prstGeom>
          <a:solidFill>
            <a:srgbClr val="C95B61"/>
          </a:solidFill>
          <a:ln w="12700">
            <a:solidFill>
              <a:srgbClr val="C95B61"/>
            </a:solidFill>
            <a:prstDash val="solid"/>
          </a:ln>
        </p:spPr>
      </p:sp>
      <p:sp>
        <p:nvSpPr>
          <p:cNvPr id="19" name="Text 17"/>
          <p:cNvSpPr/>
          <p:nvPr/>
        </p:nvSpPr>
        <p:spPr>
          <a:xfrm>
            <a:off x="6318504" y="2432304"/>
            <a:ext cx="128930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Noto Sans SemiCondensed" pitchFamily="34" charset="0"/>
                <a:ea typeface="Noto Sans SemiCondensed" pitchFamily="34" charset="-122"/>
                <a:cs typeface="Noto Sans SemiCondensed" pitchFamily="34" charset="-120"/>
              </a:rPr>
              <a:t>MAINTENANCE</a:t>
            </a:r>
            <a:endParaRPr lang="en-US" sz="1250" dirty="0"/>
          </a:p>
        </p:txBody>
      </p:sp>
      <p:sp>
        <p:nvSpPr>
          <p:cNvPr id="20" name="Shape 18"/>
          <p:cNvSpPr/>
          <p:nvPr/>
        </p:nvSpPr>
        <p:spPr>
          <a:xfrm>
            <a:off x="9619488" y="2606040"/>
            <a:ext cx="338328" cy="0"/>
          </a:xfrm>
          <a:prstGeom prst="line">
            <a:avLst/>
          </a:prstGeom>
          <a:noFill/>
          <a:ln w="22860">
            <a:solidFill>
              <a:srgbClr val="A4ABD4"/>
            </a:solidFill>
            <a:prstDash val="solid"/>
            <a:tailEnd type="triangle"/>
          </a:ln>
        </p:spPr>
      </p:sp>
      <p:sp>
        <p:nvSpPr>
          <p:cNvPr id="21" name="Shape 19"/>
          <p:cNvSpPr/>
          <p:nvPr/>
        </p:nvSpPr>
        <p:spPr>
          <a:xfrm>
            <a:off x="8110728" y="2148840"/>
            <a:ext cx="1508760" cy="960120"/>
          </a:xfrm>
          <a:prstGeom prst="ellipse">
            <a:avLst/>
          </a:prstGeom>
          <a:solidFill>
            <a:srgbClr val="2E8B78"/>
          </a:solidFill>
          <a:ln w="12700">
            <a:solidFill>
              <a:srgbClr val="2E8B78"/>
            </a:solidFill>
            <a:prstDash val="solid"/>
          </a:ln>
        </p:spPr>
      </p:sp>
      <p:sp>
        <p:nvSpPr>
          <p:cNvPr id="22" name="Text 20"/>
          <p:cNvSpPr/>
          <p:nvPr/>
        </p:nvSpPr>
        <p:spPr>
          <a:xfrm>
            <a:off x="8220456" y="2432304"/>
            <a:ext cx="128930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Noto Sans SemiCondensed" pitchFamily="34" charset="0"/>
                <a:ea typeface="Noto Sans SemiCondensed" pitchFamily="34" charset="-122"/>
                <a:cs typeface="Noto Sans SemiCondensed" pitchFamily="34" charset="-120"/>
              </a:rPr>
              <a:t>CONTROL ROOMS</a:t>
            </a:r>
            <a:endParaRPr lang="en-US" sz="1250" dirty="0"/>
          </a:p>
        </p:txBody>
      </p:sp>
      <p:sp>
        <p:nvSpPr>
          <p:cNvPr id="23" name="Shape 21"/>
          <p:cNvSpPr/>
          <p:nvPr/>
        </p:nvSpPr>
        <p:spPr>
          <a:xfrm>
            <a:off x="10012680" y="2148840"/>
            <a:ext cx="1508760" cy="960120"/>
          </a:xfrm>
          <a:prstGeom prst="ellipse">
            <a:avLst/>
          </a:prstGeom>
          <a:solidFill>
            <a:srgbClr val="6B5AA6"/>
          </a:solidFill>
          <a:ln w="12700">
            <a:solidFill>
              <a:srgbClr val="6B5AA6"/>
            </a:solidFill>
            <a:prstDash val="solid"/>
          </a:ln>
        </p:spPr>
      </p:sp>
      <p:sp>
        <p:nvSpPr>
          <p:cNvPr id="24" name="Text 22"/>
          <p:cNvSpPr/>
          <p:nvPr/>
        </p:nvSpPr>
        <p:spPr>
          <a:xfrm>
            <a:off x="10122408" y="2432304"/>
            <a:ext cx="128930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Noto Sans SemiCondensed" pitchFamily="34" charset="0"/>
                <a:ea typeface="Noto Sans SemiCondensed" pitchFamily="34" charset="-122"/>
                <a:cs typeface="Noto Sans SemiCondensed" pitchFamily="34" charset="-120"/>
              </a:rPr>
              <a:t>LEADERSHIP</a:t>
            </a:r>
            <a:endParaRPr lang="en-US" sz="1250" dirty="0"/>
          </a:p>
        </p:txBody>
      </p:sp>
      <p:sp>
        <p:nvSpPr>
          <p:cNvPr id="25" name="Text 23"/>
          <p:cNvSpPr/>
          <p:nvPr/>
        </p:nvSpPr>
        <p:spPr>
          <a:xfrm>
            <a:off x="658368" y="3977640"/>
            <a:ext cx="1874520" cy="274320"/>
          </a:xfrm>
          <a:prstGeom prst="rect">
            <a:avLst/>
          </a:prstGeom>
          <a:noFill/>
          <a:ln/>
        </p:spPr>
        <p:txBody>
          <a:bodyPr wrap="square" lIns="0" tIns="0" rIns="0" bIns="0" rtlCol="0" anchor="ctr"/>
          <a:lstStyle/>
          <a:p>
            <a:pPr indent="0" marL="0">
              <a:buNone/>
            </a:pPr>
            <a:r>
              <a:rPr lang="en-US" sz="1800" b="1" dirty="0">
                <a:solidFill>
                  <a:srgbClr val="284B96"/>
                </a:solidFill>
                <a:latin typeface="Noto Sans ExtraCondensed" pitchFamily="34" charset="0"/>
                <a:ea typeface="Noto Sans ExtraCondensed" pitchFamily="34" charset="-122"/>
                <a:cs typeface="Noto Sans ExtraCondensed" pitchFamily="34" charset="-120"/>
              </a:rPr>
              <a:t>PHYSICAL</a:t>
            </a:r>
            <a:endParaRPr lang="en-US" sz="1800" dirty="0"/>
          </a:p>
        </p:txBody>
      </p:sp>
      <p:sp>
        <p:nvSpPr>
          <p:cNvPr id="26" name="Text 24"/>
          <p:cNvSpPr/>
          <p:nvPr/>
        </p:nvSpPr>
        <p:spPr>
          <a:xfrm>
            <a:off x="2514600" y="3977640"/>
            <a:ext cx="8778240" cy="320040"/>
          </a:xfrm>
          <a:prstGeom prst="rect">
            <a:avLst/>
          </a:prstGeom>
          <a:noFill/>
          <a:ln/>
        </p:spPr>
        <p:txBody>
          <a:bodyPr wrap="square" lIns="0" tIns="0" rIns="0" bIns="0"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Electricity, machinery, work at height, confined spaces, driving</a:t>
            </a:r>
            <a:endParaRPr lang="en-US" sz="1620" dirty="0"/>
          </a:p>
        </p:txBody>
      </p:sp>
      <p:sp>
        <p:nvSpPr>
          <p:cNvPr id="27" name="Text 25"/>
          <p:cNvSpPr/>
          <p:nvPr/>
        </p:nvSpPr>
        <p:spPr>
          <a:xfrm>
            <a:off x="658368" y="4636008"/>
            <a:ext cx="1874520" cy="274320"/>
          </a:xfrm>
          <a:prstGeom prst="rect">
            <a:avLst/>
          </a:prstGeom>
          <a:noFill/>
          <a:ln/>
        </p:spPr>
        <p:txBody>
          <a:bodyPr wrap="square" lIns="0" tIns="0" rIns="0" bIns="0" rtlCol="0" anchor="ctr"/>
          <a:lstStyle/>
          <a:p>
            <a:pPr indent="0" marL="0">
              <a:buNone/>
            </a:pPr>
            <a:r>
              <a:rPr lang="en-US" sz="1800" b="1" dirty="0">
                <a:solidFill>
                  <a:srgbClr val="00A3E0"/>
                </a:solidFill>
                <a:latin typeface="Noto Sans ExtraCondensed" pitchFamily="34" charset="0"/>
                <a:ea typeface="Noto Sans ExtraCondensed" pitchFamily="34" charset="-122"/>
                <a:cs typeface="Noto Sans ExtraCondensed" pitchFamily="34" charset="-120"/>
              </a:rPr>
              <a:t>CHEMICAL / BIOLOGICAL</a:t>
            </a:r>
            <a:endParaRPr lang="en-US" sz="1800" dirty="0"/>
          </a:p>
        </p:txBody>
      </p:sp>
      <p:sp>
        <p:nvSpPr>
          <p:cNvPr id="28" name="Text 26"/>
          <p:cNvSpPr/>
          <p:nvPr/>
        </p:nvSpPr>
        <p:spPr>
          <a:xfrm>
            <a:off x="2514600" y="4636008"/>
            <a:ext cx="8778240" cy="320040"/>
          </a:xfrm>
          <a:prstGeom prst="rect">
            <a:avLst/>
          </a:prstGeom>
          <a:noFill/>
          <a:ln/>
        </p:spPr>
        <p:txBody>
          <a:bodyPr wrap="square" lIns="0" tIns="0" rIns="0" bIns="0"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Dusts, oils, solvents, battery materials, gases and biological agents</a:t>
            </a:r>
            <a:endParaRPr lang="en-US" sz="1620" dirty="0"/>
          </a:p>
        </p:txBody>
      </p:sp>
      <p:sp>
        <p:nvSpPr>
          <p:cNvPr id="29" name="Text 27"/>
          <p:cNvSpPr/>
          <p:nvPr/>
        </p:nvSpPr>
        <p:spPr>
          <a:xfrm>
            <a:off x="658368" y="5294376"/>
            <a:ext cx="1874520" cy="274320"/>
          </a:xfrm>
          <a:prstGeom prst="rect">
            <a:avLst/>
          </a:prstGeom>
          <a:noFill/>
          <a:ln/>
        </p:spPr>
        <p:txBody>
          <a:bodyPr wrap="square" lIns="0" tIns="0" rIns="0" bIns="0" rtlCol="0" anchor="ctr"/>
          <a:lstStyle/>
          <a:p>
            <a:pPr indent="0" marL="0">
              <a:buNone/>
            </a:pPr>
            <a:r>
              <a:rPr lang="en-US" sz="1800" b="1" dirty="0">
                <a:solidFill>
                  <a:srgbClr val="6B5AA6"/>
                </a:solidFill>
                <a:latin typeface="Noto Sans ExtraCondensed" pitchFamily="34" charset="0"/>
                <a:ea typeface="Noto Sans ExtraCondensed" pitchFamily="34" charset="-122"/>
                <a:cs typeface="Noto Sans ExtraCondensed" pitchFamily="34" charset="-120"/>
              </a:rPr>
              <a:t>PSYCHOSOCIAL</a:t>
            </a:r>
            <a:endParaRPr lang="en-US" sz="1800" dirty="0"/>
          </a:p>
        </p:txBody>
      </p:sp>
      <p:sp>
        <p:nvSpPr>
          <p:cNvPr id="30" name="Text 28"/>
          <p:cNvSpPr/>
          <p:nvPr/>
        </p:nvSpPr>
        <p:spPr>
          <a:xfrm>
            <a:off x="2514600" y="5294376"/>
            <a:ext cx="8778240" cy="320040"/>
          </a:xfrm>
          <a:prstGeom prst="rect">
            <a:avLst/>
          </a:prstGeom>
          <a:noFill/>
          <a:ln/>
        </p:spPr>
        <p:txBody>
          <a:bodyPr wrap="square" lIns="0" tIns="0" rIns="0" bIns="0"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Time pressure, isolation, harassment, fatigue, job insecurity and low control</a:t>
            </a:r>
            <a:endParaRPr lang="en-US" sz="1620" dirty="0"/>
          </a:p>
        </p:txBody>
      </p:sp>
      <p:sp>
        <p:nvSpPr>
          <p:cNvPr id="31" name="Text 29"/>
          <p:cNvSpPr/>
          <p:nvPr/>
        </p:nvSpPr>
        <p:spPr>
          <a:xfrm>
            <a:off x="1097280" y="6016752"/>
            <a:ext cx="9966960" cy="310896"/>
          </a:xfrm>
          <a:prstGeom prst="rect">
            <a:avLst/>
          </a:prstGeom>
          <a:noFill/>
          <a:ln/>
        </p:spPr>
        <p:txBody>
          <a:bodyPr wrap="square" lIns="0" tIns="0" rIns="0" bIns="0" rtlCol="0" anchor="ctr"/>
          <a:lstStyle/>
          <a:p>
            <a:pPr algn="ctr" indent="0" marL="0">
              <a:buNone/>
            </a:pPr>
            <a:r>
              <a:rPr lang="en-US" sz="1800" b="1" dirty="0">
                <a:solidFill>
                  <a:srgbClr val="284B96"/>
                </a:solidFill>
                <a:latin typeface="Noto Sans SemiCondensed" pitchFamily="34" charset="0"/>
                <a:ea typeface="Noto Sans SemiCondensed" pitchFamily="34" charset="-122"/>
                <a:cs typeface="Noto Sans SemiCondensed" pitchFamily="34" charset="-120"/>
              </a:rPr>
              <a:t>Who is concentrated at each point in the value chain - and who is missing from the data?</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GENDER-SENSITIVE OSH</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The same hazard can produce different exposure and outcomes</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09</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1920240" y="2834640"/>
            <a:ext cx="310896" cy="0"/>
          </a:xfrm>
          <a:prstGeom prst="line">
            <a:avLst/>
          </a:prstGeom>
          <a:noFill/>
          <a:ln w="19050">
            <a:solidFill>
              <a:srgbClr val="A4ABD4"/>
            </a:solidFill>
            <a:prstDash val="solid"/>
            <a:tailEnd type="triangle"/>
          </a:ln>
        </p:spPr>
      </p:sp>
      <p:sp>
        <p:nvSpPr>
          <p:cNvPr id="9" name="Shape 7"/>
          <p:cNvSpPr/>
          <p:nvPr/>
        </p:nvSpPr>
        <p:spPr>
          <a:xfrm>
            <a:off x="384048" y="1828800"/>
            <a:ext cx="1572768" cy="2057400"/>
          </a:xfrm>
          <a:prstGeom prst="roundRect">
            <a:avLst/>
          </a:prstGeom>
          <a:solidFill>
            <a:srgbClr val="C95B61">
              <a:alpha val="96000"/>
            </a:srgbClr>
          </a:solidFill>
          <a:ln w="12700">
            <a:solidFill>
              <a:srgbClr val="C95B61"/>
            </a:solidFill>
            <a:prstDash val="solid"/>
          </a:ln>
        </p:spPr>
      </p:sp>
      <p:sp>
        <p:nvSpPr>
          <p:cNvPr id="10" name="Text 8"/>
          <p:cNvSpPr/>
          <p:nvPr/>
        </p:nvSpPr>
        <p:spPr>
          <a:xfrm>
            <a:off x="896112" y="1993392"/>
            <a:ext cx="548640" cy="41148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ExtraCondensed" pitchFamily="34" charset="0"/>
                <a:ea typeface="Noto Sans ExtraCondensed" pitchFamily="34" charset="-122"/>
                <a:cs typeface="Noto Sans ExtraCondensed" pitchFamily="34" charset="-120"/>
              </a:rPr>
              <a:t>1</a:t>
            </a:r>
            <a:endParaRPr lang="en-US" sz="3100" dirty="0"/>
          </a:p>
        </p:txBody>
      </p:sp>
      <p:sp>
        <p:nvSpPr>
          <p:cNvPr id="11" name="Text 9"/>
          <p:cNvSpPr/>
          <p:nvPr/>
        </p:nvSpPr>
        <p:spPr>
          <a:xfrm>
            <a:off x="493776" y="2560320"/>
            <a:ext cx="1353312"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HAZARD</a:t>
            </a:r>
            <a:endParaRPr lang="en-US" sz="1700" dirty="0"/>
          </a:p>
        </p:txBody>
      </p:sp>
      <p:sp>
        <p:nvSpPr>
          <p:cNvPr id="12" name="Text 10"/>
          <p:cNvSpPr/>
          <p:nvPr/>
        </p:nvSpPr>
        <p:spPr>
          <a:xfrm>
            <a:off x="502920" y="3017520"/>
            <a:ext cx="1335024" cy="658368"/>
          </a:xfrm>
          <a:prstGeom prst="rect">
            <a:avLst/>
          </a:prstGeom>
          <a:noFill/>
          <a:ln/>
        </p:spPr>
        <p:txBody>
          <a:bodyPr wrap="square" lIns="127" tIns="127" rIns="127" bIns="127" rtlCol="0" anchor="ctr"/>
          <a:lstStyle/>
          <a:p>
            <a:pPr algn="ctr" indent="0" marL="0">
              <a:buNone/>
            </a:pPr>
            <a:r>
              <a:rPr lang="en-US" sz="1280" dirty="0">
                <a:solidFill>
                  <a:srgbClr val="FFFFFF"/>
                </a:solidFill>
                <a:latin typeface="Noto Sans SemiCondensed" pitchFamily="34" charset="0"/>
                <a:ea typeface="Noto Sans SemiCondensed" pitchFamily="34" charset="-122"/>
                <a:cs typeface="Noto Sans SemiCondensed" pitchFamily="34" charset="-120"/>
              </a:rPr>
              <a:t>Electricity, heat, chemicals, violence, workload</a:t>
            </a:r>
            <a:endParaRPr lang="en-US" sz="1280" dirty="0"/>
          </a:p>
        </p:txBody>
      </p:sp>
      <p:sp>
        <p:nvSpPr>
          <p:cNvPr id="13" name="Shape 11"/>
          <p:cNvSpPr/>
          <p:nvPr/>
        </p:nvSpPr>
        <p:spPr>
          <a:xfrm>
            <a:off x="3858768" y="2834640"/>
            <a:ext cx="310896" cy="0"/>
          </a:xfrm>
          <a:prstGeom prst="line">
            <a:avLst/>
          </a:prstGeom>
          <a:noFill/>
          <a:ln w="19050">
            <a:solidFill>
              <a:srgbClr val="A4ABD4"/>
            </a:solidFill>
            <a:prstDash val="solid"/>
            <a:tailEnd type="triangle"/>
          </a:ln>
        </p:spPr>
      </p:sp>
      <p:sp>
        <p:nvSpPr>
          <p:cNvPr id="14" name="Shape 12"/>
          <p:cNvSpPr/>
          <p:nvPr/>
        </p:nvSpPr>
        <p:spPr>
          <a:xfrm>
            <a:off x="2322576" y="1828800"/>
            <a:ext cx="1572768" cy="2057400"/>
          </a:xfrm>
          <a:prstGeom prst="roundRect">
            <a:avLst/>
          </a:prstGeom>
          <a:solidFill>
            <a:srgbClr val="E7A33E">
              <a:alpha val="96000"/>
            </a:srgbClr>
          </a:solidFill>
          <a:ln w="12700">
            <a:solidFill>
              <a:srgbClr val="E7A33E"/>
            </a:solidFill>
            <a:prstDash val="solid"/>
          </a:ln>
        </p:spPr>
      </p:sp>
      <p:sp>
        <p:nvSpPr>
          <p:cNvPr id="15" name="Text 13"/>
          <p:cNvSpPr/>
          <p:nvPr/>
        </p:nvSpPr>
        <p:spPr>
          <a:xfrm>
            <a:off x="2834640" y="1993392"/>
            <a:ext cx="548640" cy="41148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ExtraCondensed" pitchFamily="34" charset="0"/>
                <a:ea typeface="Noto Sans ExtraCondensed" pitchFamily="34" charset="-122"/>
                <a:cs typeface="Noto Sans ExtraCondensed" pitchFamily="34" charset="-120"/>
              </a:rPr>
              <a:t>2</a:t>
            </a:r>
            <a:endParaRPr lang="en-US" sz="3100" dirty="0"/>
          </a:p>
        </p:txBody>
      </p:sp>
      <p:sp>
        <p:nvSpPr>
          <p:cNvPr id="16" name="Text 14"/>
          <p:cNvSpPr/>
          <p:nvPr/>
        </p:nvSpPr>
        <p:spPr>
          <a:xfrm>
            <a:off x="2432304" y="2560320"/>
            <a:ext cx="1353312"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TASK</a:t>
            </a:r>
            <a:endParaRPr lang="en-US" sz="1700" dirty="0"/>
          </a:p>
        </p:txBody>
      </p:sp>
      <p:sp>
        <p:nvSpPr>
          <p:cNvPr id="17" name="Text 15"/>
          <p:cNvSpPr/>
          <p:nvPr/>
        </p:nvSpPr>
        <p:spPr>
          <a:xfrm>
            <a:off x="2441448" y="3017520"/>
            <a:ext cx="1335024" cy="658368"/>
          </a:xfrm>
          <a:prstGeom prst="rect">
            <a:avLst/>
          </a:prstGeom>
          <a:noFill/>
          <a:ln/>
        </p:spPr>
        <p:txBody>
          <a:bodyPr wrap="square" lIns="127" tIns="127" rIns="127" bIns="127" rtlCol="0" anchor="ctr"/>
          <a:lstStyle/>
          <a:p>
            <a:pPr algn="ctr" indent="0" marL="0">
              <a:buNone/>
            </a:pPr>
            <a:r>
              <a:rPr lang="en-US" sz="1280" dirty="0">
                <a:solidFill>
                  <a:srgbClr val="FFFFFF"/>
                </a:solidFill>
                <a:latin typeface="Noto Sans SemiCondensed" pitchFamily="34" charset="0"/>
                <a:ea typeface="Noto Sans SemiCondensed" pitchFamily="34" charset="-122"/>
                <a:cs typeface="Noto Sans SemiCondensed" pitchFamily="34" charset="-120"/>
              </a:rPr>
              <a:t>Who performs the task and for how long?</a:t>
            </a:r>
            <a:endParaRPr lang="en-US" sz="1280" dirty="0"/>
          </a:p>
        </p:txBody>
      </p:sp>
      <p:sp>
        <p:nvSpPr>
          <p:cNvPr id="18" name="Shape 16"/>
          <p:cNvSpPr/>
          <p:nvPr/>
        </p:nvSpPr>
        <p:spPr>
          <a:xfrm>
            <a:off x="5797296" y="2834640"/>
            <a:ext cx="310896" cy="0"/>
          </a:xfrm>
          <a:prstGeom prst="line">
            <a:avLst/>
          </a:prstGeom>
          <a:noFill/>
          <a:ln w="19050">
            <a:solidFill>
              <a:srgbClr val="A4ABD4"/>
            </a:solidFill>
            <a:prstDash val="solid"/>
            <a:tailEnd type="triangle"/>
          </a:ln>
        </p:spPr>
      </p:sp>
      <p:sp>
        <p:nvSpPr>
          <p:cNvPr id="19" name="Shape 17"/>
          <p:cNvSpPr/>
          <p:nvPr/>
        </p:nvSpPr>
        <p:spPr>
          <a:xfrm>
            <a:off x="4261104" y="1828800"/>
            <a:ext cx="1572768" cy="2057400"/>
          </a:xfrm>
          <a:prstGeom prst="roundRect">
            <a:avLst/>
          </a:prstGeom>
          <a:solidFill>
            <a:srgbClr val="00A3E0">
              <a:alpha val="96000"/>
            </a:srgbClr>
          </a:solidFill>
          <a:ln w="12700">
            <a:solidFill>
              <a:srgbClr val="00A3E0"/>
            </a:solidFill>
            <a:prstDash val="solid"/>
          </a:ln>
        </p:spPr>
      </p:sp>
      <p:sp>
        <p:nvSpPr>
          <p:cNvPr id="20" name="Text 18"/>
          <p:cNvSpPr/>
          <p:nvPr/>
        </p:nvSpPr>
        <p:spPr>
          <a:xfrm>
            <a:off x="4773168" y="1993392"/>
            <a:ext cx="548640" cy="41148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ExtraCondensed" pitchFamily="34" charset="0"/>
                <a:ea typeface="Noto Sans ExtraCondensed" pitchFamily="34" charset="-122"/>
                <a:cs typeface="Noto Sans ExtraCondensed" pitchFamily="34" charset="-120"/>
              </a:rPr>
              <a:t>3</a:t>
            </a:r>
            <a:endParaRPr lang="en-US" sz="3100" dirty="0"/>
          </a:p>
        </p:txBody>
      </p:sp>
      <p:sp>
        <p:nvSpPr>
          <p:cNvPr id="21" name="Text 19"/>
          <p:cNvSpPr/>
          <p:nvPr/>
        </p:nvSpPr>
        <p:spPr>
          <a:xfrm>
            <a:off x="4370832" y="2560320"/>
            <a:ext cx="1353312"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FIT</a:t>
            </a:r>
            <a:endParaRPr lang="en-US" sz="1700" dirty="0"/>
          </a:p>
        </p:txBody>
      </p:sp>
      <p:sp>
        <p:nvSpPr>
          <p:cNvPr id="22" name="Text 20"/>
          <p:cNvSpPr/>
          <p:nvPr/>
        </p:nvSpPr>
        <p:spPr>
          <a:xfrm>
            <a:off x="4379976" y="3017520"/>
            <a:ext cx="1335024" cy="658368"/>
          </a:xfrm>
          <a:prstGeom prst="rect">
            <a:avLst/>
          </a:prstGeom>
          <a:noFill/>
          <a:ln/>
        </p:spPr>
        <p:txBody>
          <a:bodyPr wrap="square" lIns="127" tIns="127" rIns="127" bIns="127" rtlCol="0" anchor="ctr"/>
          <a:lstStyle/>
          <a:p>
            <a:pPr algn="ctr" indent="0" marL="0">
              <a:buNone/>
            </a:pPr>
            <a:r>
              <a:rPr lang="en-US" sz="1280" dirty="0">
                <a:solidFill>
                  <a:srgbClr val="FFFFFF"/>
                </a:solidFill>
                <a:latin typeface="Noto Sans SemiCondensed" pitchFamily="34" charset="0"/>
                <a:ea typeface="Noto Sans SemiCondensed" pitchFamily="34" charset="-122"/>
                <a:cs typeface="Noto Sans SemiCondensed" pitchFamily="34" charset="-120"/>
              </a:rPr>
              <a:t>Does equipment, PPE and the workstation fit?</a:t>
            </a:r>
            <a:endParaRPr lang="en-US" sz="1280" dirty="0"/>
          </a:p>
        </p:txBody>
      </p:sp>
      <p:sp>
        <p:nvSpPr>
          <p:cNvPr id="23" name="Shape 21"/>
          <p:cNvSpPr/>
          <p:nvPr/>
        </p:nvSpPr>
        <p:spPr>
          <a:xfrm>
            <a:off x="7735824" y="2834640"/>
            <a:ext cx="310896" cy="0"/>
          </a:xfrm>
          <a:prstGeom prst="line">
            <a:avLst/>
          </a:prstGeom>
          <a:noFill/>
          <a:ln w="19050">
            <a:solidFill>
              <a:srgbClr val="A4ABD4"/>
            </a:solidFill>
            <a:prstDash val="solid"/>
            <a:tailEnd type="triangle"/>
          </a:ln>
        </p:spPr>
      </p:sp>
      <p:sp>
        <p:nvSpPr>
          <p:cNvPr id="24" name="Shape 22"/>
          <p:cNvSpPr/>
          <p:nvPr/>
        </p:nvSpPr>
        <p:spPr>
          <a:xfrm>
            <a:off x="6199632" y="1828800"/>
            <a:ext cx="1572768" cy="2057400"/>
          </a:xfrm>
          <a:prstGeom prst="roundRect">
            <a:avLst/>
          </a:prstGeom>
          <a:solidFill>
            <a:srgbClr val="2E8B78">
              <a:alpha val="96000"/>
            </a:srgbClr>
          </a:solidFill>
          <a:ln w="12700">
            <a:solidFill>
              <a:srgbClr val="2E8B78"/>
            </a:solidFill>
            <a:prstDash val="solid"/>
          </a:ln>
        </p:spPr>
      </p:sp>
      <p:sp>
        <p:nvSpPr>
          <p:cNvPr id="25" name="Text 23"/>
          <p:cNvSpPr/>
          <p:nvPr/>
        </p:nvSpPr>
        <p:spPr>
          <a:xfrm>
            <a:off x="6711696" y="1993392"/>
            <a:ext cx="548640" cy="41148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ExtraCondensed" pitchFamily="34" charset="0"/>
                <a:ea typeface="Noto Sans ExtraCondensed" pitchFamily="34" charset="-122"/>
                <a:cs typeface="Noto Sans ExtraCondensed" pitchFamily="34" charset="-120"/>
              </a:rPr>
              <a:t>4</a:t>
            </a:r>
            <a:endParaRPr lang="en-US" sz="3100" dirty="0"/>
          </a:p>
        </p:txBody>
      </p:sp>
      <p:sp>
        <p:nvSpPr>
          <p:cNvPr id="26" name="Text 24"/>
          <p:cNvSpPr/>
          <p:nvPr/>
        </p:nvSpPr>
        <p:spPr>
          <a:xfrm>
            <a:off x="6309360" y="2560320"/>
            <a:ext cx="1353312"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WORK ORGANIZATION</a:t>
            </a:r>
            <a:endParaRPr lang="en-US" sz="1700" dirty="0"/>
          </a:p>
        </p:txBody>
      </p:sp>
      <p:sp>
        <p:nvSpPr>
          <p:cNvPr id="27" name="Text 25"/>
          <p:cNvSpPr/>
          <p:nvPr/>
        </p:nvSpPr>
        <p:spPr>
          <a:xfrm>
            <a:off x="6318504" y="3017520"/>
            <a:ext cx="1335024" cy="658368"/>
          </a:xfrm>
          <a:prstGeom prst="rect">
            <a:avLst/>
          </a:prstGeom>
          <a:noFill/>
          <a:ln/>
        </p:spPr>
        <p:txBody>
          <a:bodyPr wrap="square" lIns="127" tIns="127" rIns="127" bIns="127" rtlCol="0" anchor="ctr"/>
          <a:lstStyle/>
          <a:p>
            <a:pPr algn="ctr" indent="0" marL="0">
              <a:buNone/>
            </a:pPr>
            <a:r>
              <a:rPr lang="en-US" sz="1280" dirty="0">
                <a:solidFill>
                  <a:srgbClr val="FFFFFF"/>
                </a:solidFill>
                <a:latin typeface="Noto Sans SemiCondensed" pitchFamily="34" charset="0"/>
                <a:ea typeface="Noto Sans SemiCondensed" pitchFamily="34" charset="-122"/>
                <a:cs typeface="Noto Sans SemiCondensed" pitchFamily="34" charset="-120"/>
              </a:rPr>
              <a:t>Shift length, autonomy, staffing, breaks and care responsibilities</a:t>
            </a:r>
            <a:endParaRPr lang="en-US" sz="1280" dirty="0"/>
          </a:p>
        </p:txBody>
      </p:sp>
      <p:sp>
        <p:nvSpPr>
          <p:cNvPr id="28" name="Shape 26"/>
          <p:cNvSpPr/>
          <p:nvPr/>
        </p:nvSpPr>
        <p:spPr>
          <a:xfrm>
            <a:off x="9674352" y="2834640"/>
            <a:ext cx="310896" cy="0"/>
          </a:xfrm>
          <a:prstGeom prst="line">
            <a:avLst/>
          </a:prstGeom>
          <a:noFill/>
          <a:ln w="19050">
            <a:solidFill>
              <a:srgbClr val="A4ABD4"/>
            </a:solidFill>
            <a:prstDash val="solid"/>
            <a:tailEnd type="triangle"/>
          </a:ln>
        </p:spPr>
      </p:sp>
      <p:sp>
        <p:nvSpPr>
          <p:cNvPr id="29" name="Shape 27"/>
          <p:cNvSpPr/>
          <p:nvPr/>
        </p:nvSpPr>
        <p:spPr>
          <a:xfrm>
            <a:off x="8138160" y="1828800"/>
            <a:ext cx="1572768" cy="2057400"/>
          </a:xfrm>
          <a:prstGeom prst="roundRect">
            <a:avLst/>
          </a:prstGeom>
          <a:solidFill>
            <a:srgbClr val="6B5AA6">
              <a:alpha val="96000"/>
            </a:srgbClr>
          </a:solidFill>
          <a:ln w="12700">
            <a:solidFill>
              <a:srgbClr val="6B5AA6"/>
            </a:solidFill>
            <a:prstDash val="solid"/>
          </a:ln>
        </p:spPr>
      </p:sp>
      <p:sp>
        <p:nvSpPr>
          <p:cNvPr id="30" name="Text 28"/>
          <p:cNvSpPr/>
          <p:nvPr/>
        </p:nvSpPr>
        <p:spPr>
          <a:xfrm>
            <a:off x="8650224" y="1993392"/>
            <a:ext cx="548640" cy="41148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ExtraCondensed" pitchFamily="34" charset="0"/>
                <a:ea typeface="Noto Sans ExtraCondensed" pitchFamily="34" charset="-122"/>
                <a:cs typeface="Noto Sans ExtraCondensed" pitchFamily="34" charset="-120"/>
              </a:rPr>
              <a:t>5</a:t>
            </a:r>
            <a:endParaRPr lang="en-US" sz="3100" dirty="0"/>
          </a:p>
        </p:txBody>
      </p:sp>
      <p:sp>
        <p:nvSpPr>
          <p:cNvPr id="31" name="Text 29"/>
          <p:cNvSpPr/>
          <p:nvPr/>
        </p:nvSpPr>
        <p:spPr>
          <a:xfrm>
            <a:off x="8247888" y="2560320"/>
            <a:ext cx="1353312"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POWER AND VOICE</a:t>
            </a:r>
            <a:endParaRPr lang="en-US" sz="1700" dirty="0"/>
          </a:p>
        </p:txBody>
      </p:sp>
      <p:sp>
        <p:nvSpPr>
          <p:cNvPr id="32" name="Text 30"/>
          <p:cNvSpPr/>
          <p:nvPr/>
        </p:nvSpPr>
        <p:spPr>
          <a:xfrm>
            <a:off x="8257032" y="3017520"/>
            <a:ext cx="1335024" cy="658368"/>
          </a:xfrm>
          <a:prstGeom prst="rect">
            <a:avLst/>
          </a:prstGeom>
          <a:noFill/>
          <a:ln/>
        </p:spPr>
        <p:txBody>
          <a:bodyPr wrap="square" lIns="127" tIns="127" rIns="127" bIns="127" rtlCol="0" anchor="ctr"/>
          <a:lstStyle/>
          <a:p>
            <a:pPr algn="ctr" indent="0" marL="0">
              <a:buNone/>
            </a:pPr>
            <a:r>
              <a:rPr lang="en-US" sz="1280" dirty="0">
                <a:solidFill>
                  <a:srgbClr val="FFFFFF"/>
                </a:solidFill>
                <a:latin typeface="Noto Sans SemiCondensed" pitchFamily="34" charset="0"/>
                <a:ea typeface="Noto Sans SemiCondensed" pitchFamily="34" charset="-122"/>
                <a:cs typeface="Noto Sans SemiCondensed" pitchFamily="34" charset="-120"/>
              </a:rPr>
              <a:t>Can the worker refuse, report and influence controls?</a:t>
            </a:r>
            <a:endParaRPr lang="en-US" sz="1280" dirty="0"/>
          </a:p>
        </p:txBody>
      </p:sp>
      <p:sp>
        <p:nvSpPr>
          <p:cNvPr id="33" name="Shape 31"/>
          <p:cNvSpPr/>
          <p:nvPr/>
        </p:nvSpPr>
        <p:spPr>
          <a:xfrm>
            <a:off x="10076688" y="1828800"/>
            <a:ext cx="1572768" cy="2057400"/>
          </a:xfrm>
          <a:prstGeom prst="roundRect">
            <a:avLst/>
          </a:prstGeom>
          <a:solidFill>
            <a:srgbClr val="284B96">
              <a:alpha val="96000"/>
            </a:srgbClr>
          </a:solidFill>
          <a:ln w="12700">
            <a:solidFill>
              <a:srgbClr val="284B96"/>
            </a:solidFill>
            <a:prstDash val="solid"/>
          </a:ln>
        </p:spPr>
      </p:sp>
      <p:sp>
        <p:nvSpPr>
          <p:cNvPr id="34" name="Text 32"/>
          <p:cNvSpPr/>
          <p:nvPr/>
        </p:nvSpPr>
        <p:spPr>
          <a:xfrm>
            <a:off x="10588752" y="1993392"/>
            <a:ext cx="548640" cy="411480"/>
          </a:xfrm>
          <a:prstGeom prst="rect">
            <a:avLst/>
          </a:prstGeom>
          <a:noFill/>
          <a:ln/>
        </p:spPr>
        <p:txBody>
          <a:bodyPr wrap="square" lIns="0" tIns="0" rIns="0" bIns="0" rtlCol="0" anchor="ctr"/>
          <a:lstStyle/>
          <a:p>
            <a:pPr algn="ctr" indent="0" marL="0">
              <a:buNone/>
            </a:pPr>
            <a:r>
              <a:rPr lang="en-US" sz="3100" b="1" dirty="0">
                <a:solidFill>
                  <a:srgbClr val="FFFFFF"/>
                </a:solidFill>
                <a:latin typeface="Noto Sans ExtraCondensed" pitchFamily="34" charset="0"/>
                <a:ea typeface="Noto Sans ExtraCondensed" pitchFamily="34" charset="-122"/>
                <a:cs typeface="Noto Sans ExtraCondensed" pitchFamily="34" charset="-120"/>
              </a:rPr>
              <a:t>6</a:t>
            </a:r>
            <a:endParaRPr lang="en-US" sz="3100" dirty="0"/>
          </a:p>
        </p:txBody>
      </p:sp>
      <p:sp>
        <p:nvSpPr>
          <p:cNvPr id="35" name="Text 33"/>
          <p:cNvSpPr/>
          <p:nvPr/>
        </p:nvSpPr>
        <p:spPr>
          <a:xfrm>
            <a:off x="10186416" y="2560320"/>
            <a:ext cx="1353312"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OUTCOME</a:t>
            </a:r>
            <a:endParaRPr lang="en-US" sz="1700" dirty="0"/>
          </a:p>
        </p:txBody>
      </p:sp>
      <p:sp>
        <p:nvSpPr>
          <p:cNvPr id="36" name="Text 34"/>
          <p:cNvSpPr/>
          <p:nvPr/>
        </p:nvSpPr>
        <p:spPr>
          <a:xfrm>
            <a:off x="10195560" y="3017520"/>
            <a:ext cx="1335024" cy="658368"/>
          </a:xfrm>
          <a:prstGeom prst="rect">
            <a:avLst/>
          </a:prstGeom>
          <a:noFill/>
          <a:ln/>
        </p:spPr>
        <p:txBody>
          <a:bodyPr wrap="square" lIns="127" tIns="127" rIns="127" bIns="127" rtlCol="0" anchor="ctr"/>
          <a:lstStyle/>
          <a:p>
            <a:pPr algn="ctr" indent="0" marL="0">
              <a:buNone/>
            </a:pPr>
            <a:r>
              <a:rPr lang="en-US" sz="1280" dirty="0">
                <a:solidFill>
                  <a:srgbClr val="FFFFFF"/>
                </a:solidFill>
                <a:latin typeface="Noto Sans SemiCondensed" pitchFamily="34" charset="0"/>
                <a:ea typeface="Noto Sans SemiCondensed" pitchFamily="34" charset="-122"/>
                <a:cs typeface="Noto Sans SemiCondensed" pitchFamily="34" charset="-120"/>
              </a:rPr>
              <a:t>Injury, illness, stress, exclusion or safe performance</a:t>
            </a:r>
            <a:endParaRPr lang="en-US" sz="1280" dirty="0"/>
          </a:p>
        </p:txBody>
      </p:sp>
      <p:sp>
        <p:nvSpPr>
          <p:cNvPr id="37" name="Shape 35"/>
          <p:cNvSpPr/>
          <p:nvPr/>
        </p:nvSpPr>
        <p:spPr>
          <a:xfrm>
            <a:off x="960120" y="4800600"/>
            <a:ext cx="10241280" cy="960120"/>
          </a:xfrm>
          <a:prstGeom prst="roundRect">
            <a:avLst/>
          </a:prstGeom>
          <a:solidFill>
            <a:srgbClr val="D1D5EB"/>
          </a:solidFill>
          <a:ln w="12700">
            <a:solidFill>
              <a:srgbClr val="D1D5EB"/>
            </a:solidFill>
            <a:prstDash val="solid"/>
          </a:ln>
        </p:spPr>
      </p:sp>
      <p:sp>
        <p:nvSpPr>
          <p:cNvPr id="38" name="Text 36"/>
          <p:cNvSpPr/>
          <p:nvPr/>
        </p:nvSpPr>
        <p:spPr>
          <a:xfrm>
            <a:off x="1280160" y="5102352"/>
            <a:ext cx="9601200" cy="365760"/>
          </a:xfrm>
          <a:prstGeom prst="rect">
            <a:avLst/>
          </a:prstGeom>
          <a:noFill/>
          <a:ln/>
        </p:spPr>
        <p:txBody>
          <a:bodyPr wrap="square" lIns="0" tIns="0" rIns="0" bIns="0" rtlCol="0" anchor="ctr"/>
          <a:lstStyle/>
          <a:p>
            <a:pPr algn="ctr" indent="0" marL="0">
              <a:buNone/>
            </a:pPr>
            <a:r>
              <a:rPr lang="en-US" sz="2000" b="1" dirty="0">
                <a:solidFill>
                  <a:srgbClr val="284B96"/>
                </a:solidFill>
                <a:latin typeface="Noto Sans SemiCondensed" pitchFamily="34" charset="0"/>
                <a:ea typeface="Noto Sans SemiCondensed" pitchFamily="34" charset="-122"/>
                <a:cs typeface="Noto Sans SemiCondensed" pitchFamily="34" charset="-120"/>
              </a:rPr>
              <a:t>A gender-sensitive assessment follows the whole pathway. It does not stop at identifying the hazard.</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RISK ASSESSMENT</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When a gender-neutral risk assessment is not neutral</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10</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713232" y="1417320"/>
            <a:ext cx="4663440" cy="4526280"/>
          </a:xfrm>
          <a:prstGeom prst="roundRect">
            <a:avLst/>
          </a:prstGeom>
          <a:solidFill>
            <a:srgbClr val="F5F7FB"/>
          </a:solidFill>
          <a:ln w="19050">
            <a:solidFill>
              <a:srgbClr val="D1D5EB"/>
            </a:solidFill>
            <a:prstDash val="solid"/>
          </a:ln>
        </p:spPr>
      </p:sp>
      <p:sp>
        <p:nvSpPr>
          <p:cNvPr id="9" name="Text 7"/>
          <p:cNvSpPr/>
          <p:nvPr/>
        </p:nvSpPr>
        <p:spPr>
          <a:xfrm>
            <a:off x="1051560" y="1737360"/>
            <a:ext cx="2194560" cy="292608"/>
          </a:xfrm>
          <a:prstGeom prst="rect">
            <a:avLst/>
          </a:prstGeom>
          <a:noFill/>
          <a:ln/>
        </p:spPr>
        <p:txBody>
          <a:bodyPr wrap="square" lIns="0" tIns="0" rIns="0" bIns="0" rtlCol="0" anchor="ctr"/>
          <a:lstStyle/>
          <a:p>
            <a:pPr indent="0" marL="0">
              <a:buNone/>
            </a:pPr>
            <a:r>
              <a:rPr lang="en-US" sz="2200" b="1" dirty="0">
                <a:solidFill>
                  <a:srgbClr val="284B96"/>
                </a:solidFill>
                <a:latin typeface="Noto Sans ExtraCondensed" pitchFamily="34" charset="0"/>
                <a:ea typeface="Noto Sans ExtraCondensed" pitchFamily="34" charset="-122"/>
                <a:cs typeface="Noto Sans ExtraCondensed" pitchFamily="34" charset="-120"/>
              </a:rPr>
              <a:t>THREE QUESTIONS</a:t>
            </a:r>
            <a:endParaRPr lang="en-US" sz="2200" dirty="0"/>
          </a:p>
        </p:txBody>
      </p:sp>
      <p:sp>
        <p:nvSpPr>
          <p:cNvPr id="10" name="Shape 8"/>
          <p:cNvSpPr/>
          <p:nvPr/>
        </p:nvSpPr>
        <p:spPr>
          <a:xfrm>
            <a:off x="1051560" y="2240280"/>
            <a:ext cx="502920" cy="502920"/>
          </a:xfrm>
          <a:prstGeom prst="ellipse">
            <a:avLst/>
          </a:prstGeom>
          <a:solidFill>
            <a:srgbClr val="00A3E0"/>
          </a:solidFill>
          <a:ln w="12700">
            <a:solidFill>
              <a:srgbClr val="00A3E0"/>
            </a:solidFill>
            <a:prstDash val="solid"/>
          </a:ln>
        </p:spPr>
      </p:sp>
      <p:sp>
        <p:nvSpPr>
          <p:cNvPr id="11" name="Text 9"/>
          <p:cNvSpPr/>
          <p:nvPr/>
        </p:nvSpPr>
        <p:spPr>
          <a:xfrm>
            <a:off x="1207008" y="2331720"/>
            <a:ext cx="201168" cy="2286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ExtraCondensed" pitchFamily="34" charset="0"/>
                <a:ea typeface="Noto Sans ExtraCondensed" pitchFamily="34" charset="-122"/>
                <a:cs typeface="Noto Sans ExtraCondensed" pitchFamily="34" charset="-120"/>
              </a:rPr>
              <a:t>1</a:t>
            </a:r>
            <a:endParaRPr lang="en-US" sz="1800" dirty="0"/>
          </a:p>
        </p:txBody>
      </p:sp>
      <p:sp>
        <p:nvSpPr>
          <p:cNvPr id="12" name="Text 10"/>
          <p:cNvSpPr/>
          <p:nvPr/>
        </p:nvSpPr>
        <p:spPr>
          <a:xfrm>
            <a:off x="1755648" y="2221992"/>
            <a:ext cx="3108960" cy="274320"/>
          </a:xfrm>
          <a:prstGeom prst="rect">
            <a:avLst/>
          </a:prstGeom>
          <a:noFill/>
          <a:ln/>
        </p:spPr>
        <p:txBody>
          <a:bodyPr wrap="square" lIns="0" tIns="0" rIns="0" bIns="0" rtlCol="0" anchor="ctr"/>
          <a:lstStyle/>
          <a:p>
            <a:pPr indent="0" marL="0">
              <a:buNone/>
            </a:pPr>
            <a:r>
              <a:rPr lang="en-US" sz="1800" b="1" dirty="0">
                <a:solidFill>
                  <a:srgbClr val="2B2A29"/>
                </a:solidFill>
                <a:latin typeface="Noto Sans SemiCondensed" pitchFamily="34" charset="0"/>
                <a:ea typeface="Noto Sans SemiCondensed" pitchFamily="34" charset="-122"/>
                <a:cs typeface="Noto Sans SemiCondensed" pitchFamily="34" charset="-120"/>
              </a:rPr>
              <a:t>Who is exposed?</a:t>
            </a:r>
            <a:endParaRPr lang="en-US" sz="1800" dirty="0"/>
          </a:p>
        </p:txBody>
      </p:sp>
      <p:sp>
        <p:nvSpPr>
          <p:cNvPr id="13" name="Text 11"/>
          <p:cNvSpPr/>
          <p:nvPr/>
        </p:nvSpPr>
        <p:spPr>
          <a:xfrm>
            <a:off x="1755648" y="2569464"/>
            <a:ext cx="3154680" cy="566928"/>
          </a:xfrm>
          <a:prstGeom prst="rect">
            <a:avLst/>
          </a:prstGeom>
          <a:noFill/>
          <a:ln/>
        </p:spPr>
        <p:txBody>
          <a:bodyPr wrap="square" lIns="0" tIns="0" rIns="0" bIns="0" rtlCol="0" anchor="ctr"/>
          <a:lstStyle/>
          <a:p>
            <a:pPr indent="0" marL="0">
              <a:buNone/>
            </a:pPr>
            <a:r>
              <a:rPr lang="en-US" sz="1420" dirty="0">
                <a:solidFill>
                  <a:srgbClr val="5B5B5B"/>
                </a:solidFill>
                <a:latin typeface="Noto Sans SemiCondensed" pitchFamily="34" charset="0"/>
                <a:ea typeface="Noto Sans SemiCondensed" pitchFamily="34" charset="-122"/>
                <a:cs typeface="Noto Sans SemiCondensed" pitchFamily="34" charset="-120"/>
              </a:rPr>
              <a:t>Include contractors, night workers, new recruits, pregnant workers, workers with disabilities and those in isolated locations.</a:t>
            </a:r>
            <a:endParaRPr lang="en-US" sz="1420" dirty="0"/>
          </a:p>
        </p:txBody>
      </p:sp>
      <p:sp>
        <p:nvSpPr>
          <p:cNvPr id="14" name="Shape 12"/>
          <p:cNvSpPr/>
          <p:nvPr/>
        </p:nvSpPr>
        <p:spPr>
          <a:xfrm>
            <a:off x="1051560" y="3383280"/>
            <a:ext cx="502920" cy="502920"/>
          </a:xfrm>
          <a:prstGeom prst="ellipse">
            <a:avLst/>
          </a:prstGeom>
          <a:solidFill>
            <a:srgbClr val="2E8B78"/>
          </a:solidFill>
          <a:ln w="12700">
            <a:solidFill>
              <a:srgbClr val="2E8B78"/>
            </a:solidFill>
            <a:prstDash val="solid"/>
          </a:ln>
        </p:spPr>
      </p:sp>
      <p:sp>
        <p:nvSpPr>
          <p:cNvPr id="15" name="Text 13"/>
          <p:cNvSpPr/>
          <p:nvPr/>
        </p:nvSpPr>
        <p:spPr>
          <a:xfrm>
            <a:off x="1207008" y="3474720"/>
            <a:ext cx="201168" cy="2286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ExtraCondensed" pitchFamily="34" charset="0"/>
                <a:ea typeface="Noto Sans ExtraCondensed" pitchFamily="34" charset="-122"/>
                <a:cs typeface="Noto Sans ExtraCondensed" pitchFamily="34" charset="-120"/>
              </a:rPr>
              <a:t>2</a:t>
            </a:r>
            <a:endParaRPr lang="en-US" sz="1800" dirty="0"/>
          </a:p>
        </p:txBody>
      </p:sp>
      <p:sp>
        <p:nvSpPr>
          <p:cNvPr id="16" name="Text 14"/>
          <p:cNvSpPr/>
          <p:nvPr/>
        </p:nvSpPr>
        <p:spPr>
          <a:xfrm>
            <a:off x="1755648" y="3364992"/>
            <a:ext cx="3108960" cy="274320"/>
          </a:xfrm>
          <a:prstGeom prst="rect">
            <a:avLst/>
          </a:prstGeom>
          <a:noFill/>
          <a:ln/>
        </p:spPr>
        <p:txBody>
          <a:bodyPr wrap="square" lIns="0" tIns="0" rIns="0" bIns="0" rtlCol="0" anchor="ctr"/>
          <a:lstStyle/>
          <a:p>
            <a:pPr indent="0" marL="0">
              <a:buNone/>
            </a:pPr>
            <a:r>
              <a:rPr lang="en-US" sz="1800" b="1" dirty="0">
                <a:solidFill>
                  <a:srgbClr val="2B2A29"/>
                </a:solidFill>
                <a:latin typeface="Noto Sans SemiCondensed" pitchFamily="34" charset="0"/>
                <a:ea typeface="Noto Sans SemiCondensed" pitchFamily="34" charset="-122"/>
                <a:cs typeface="Noto Sans SemiCondensed" pitchFamily="34" charset="-120"/>
              </a:rPr>
              <a:t>How is the task really done?</a:t>
            </a:r>
            <a:endParaRPr lang="en-US" sz="1800" dirty="0"/>
          </a:p>
        </p:txBody>
      </p:sp>
      <p:sp>
        <p:nvSpPr>
          <p:cNvPr id="17" name="Text 15"/>
          <p:cNvSpPr/>
          <p:nvPr/>
        </p:nvSpPr>
        <p:spPr>
          <a:xfrm>
            <a:off x="1755648" y="3712464"/>
            <a:ext cx="3154680" cy="566928"/>
          </a:xfrm>
          <a:prstGeom prst="rect">
            <a:avLst/>
          </a:prstGeom>
          <a:noFill/>
          <a:ln/>
        </p:spPr>
        <p:txBody>
          <a:bodyPr wrap="square" lIns="0" tIns="0" rIns="0" bIns="0" rtlCol="0" anchor="ctr"/>
          <a:lstStyle/>
          <a:p>
            <a:pPr indent="0" marL="0">
              <a:buNone/>
            </a:pPr>
            <a:r>
              <a:rPr lang="en-US" sz="1420" dirty="0">
                <a:solidFill>
                  <a:srgbClr val="5B5B5B"/>
                </a:solidFill>
                <a:latin typeface="Noto Sans SemiCondensed" pitchFamily="34" charset="0"/>
                <a:ea typeface="Noto Sans SemiCondensed" pitchFamily="34" charset="-122"/>
                <a:cs typeface="Noto Sans SemiCondensed" pitchFamily="34" charset="-120"/>
              </a:rPr>
              <a:t>Observe task allocation, duration, posture, pace, informal workarounds and access to breaks.</a:t>
            </a:r>
            <a:endParaRPr lang="en-US" sz="1420" dirty="0"/>
          </a:p>
        </p:txBody>
      </p:sp>
      <p:sp>
        <p:nvSpPr>
          <p:cNvPr id="18" name="Shape 16"/>
          <p:cNvSpPr/>
          <p:nvPr/>
        </p:nvSpPr>
        <p:spPr>
          <a:xfrm>
            <a:off x="1051560" y="4526280"/>
            <a:ext cx="502920" cy="502920"/>
          </a:xfrm>
          <a:prstGeom prst="ellipse">
            <a:avLst/>
          </a:prstGeom>
          <a:solidFill>
            <a:srgbClr val="E7A33E"/>
          </a:solidFill>
          <a:ln w="12700">
            <a:solidFill>
              <a:srgbClr val="E7A33E"/>
            </a:solidFill>
            <a:prstDash val="solid"/>
          </a:ln>
        </p:spPr>
      </p:sp>
      <p:sp>
        <p:nvSpPr>
          <p:cNvPr id="19" name="Text 17"/>
          <p:cNvSpPr/>
          <p:nvPr/>
        </p:nvSpPr>
        <p:spPr>
          <a:xfrm>
            <a:off x="1207008" y="4617720"/>
            <a:ext cx="201168" cy="2286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ExtraCondensed" pitchFamily="34" charset="0"/>
                <a:ea typeface="Noto Sans ExtraCondensed" pitchFamily="34" charset="-122"/>
                <a:cs typeface="Noto Sans ExtraCondensed" pitchFamily="34" charset="-120"/>
              </a:rPr>
              <a:t>3</a:t>
            </a:r>
            <a:endParaRPr lang="en-US" sz="1800" dirty="0"/>
          </a:p>
        </p:txBody>
      </p:sp>
      <p:sp>
        <p:nvSpPr>
          <p:cNvPr id="20" name="Text 18"/>
          <p:cNvSpPr/>
          <p:nvPr/>
        </p:nvSpPr>
        <p:spPr>
          <a:xfrm>
            <a:off x="1755648" y="4507992"/>
            <a:ext cx="3108960" cy="274320"/>
          </a:xfrm>
          <a:prstGeom prst="rect">
            <a:avLst/>
          </a:prstGeom>
          <a:noFill/>
          <a:ln/>
        </p:spPr>
        <p:txBody>
          <a:bodyPr wrap="square" lIns="0" tIns="0" rIns="0" bIns="0" rtlCol="0" anchor="ctr"/>
          <a:lstStyle/>
          <a:p>
            <a:pPr indent="0" marL="0">
              <a:buNone/>
            </a:pPr>
            <a:r>
              <a:rPr lang="en-US" sz="1800" b="1" dirty="0">
                <a:solidFill>
                  <a:srgbClr val="2B2A29"/>
                </a:solidFill>
                <a:latin typeface="Noto Sans SemiCondensed" pitchFamily="34" charset="0"/>
                <a:ea typeface="Noto Sans SemiCondensed" pitchFamily="34" charset="-122"/>
                <a:cs typeface="Noto Sans SemiCondensed" pitchFamily="34" charset="-120"/>
              </a:rPr>
              <a:t>Who is absent from the data?</a:t>
            </a:r>
            <a:endParaRPr lang="en-US" sz="1800" dirty="0"/>
          </a:p>
        </p:txBody>
      </p:sp>
      <p:sp>
        <p:nvSpPr>
          <p:cNvPr id="21" name="Text 19"/>
          <p:cNvSpPr/>
          <p:nvPr/>
        </p:nvSpPr>
        <p:spPr>
          <a:xfrm>
            <a:off x="1755648" y="4855464"/>
            <a:ext cx="3154680" cy="566928"/>
          </a:xfrm>
          <a:prstGeom prst="rect">
            <a:avLst/>
          </a:prstGeom>
          <a:noFill/>
          <a:ln/>
        </p:spPr>
        <p:txBody>
          <a:bodyPr wrap="square" lIns="0" tIns="0" rIns="0" bIns="0" rtlCol="0" anchor="ctr"/>
          <a:lstStyle/>
          <a:p>
            <a:pPr indent="0" marL="0">
              <a:buNone/>
            </a:pPr>
            <a:r>
              <a:rPr lang="en-US" sz="1420" dirty="0">
                <a:solidFill>
                  <a:srgbClr val="5B5B5B"/>
                </a:solidFill>
                <a:latin typeface="Noto Sans SemiCondensed" pitchFamily="34" charset="0"/>
                <a:ea typeface="Noto Sans SemiCondensed" pitchFamily="34" charset="-122"/>
                <a:cs typeface="Noto Sans SemiCondensed" pitchFamily="34" charset="-120"/>
              </a:rPr>
              <a:t>Look for under-reporting, small groups, turnover, near misses and workers who do not feel safe to speak.</a:t>
            </a:r>
            <a:endParaRPr lang="en-US" sz="1420" dirty="0"/>
          </a:p>
        </p:txBody>
      </p:sp>
      <p:sp>
        <p:nvSpPr>
          <p:cNvPr id="22" name="Text 20"/>
          <p:cNvSpPr/>
          <p:nvPr/>
        </p:nvSpPr>
        <p:spPr>
          <a:xfrm>
            <a:off x="5989320" y="1737360"/>
            <a:ext cx="2743200" cy="292608"/>
          </a:xfrm>
          <a:prstGeom prst="rect">
            <a:avLst/>
          </a:prstGeom>
          <a:noFill/>
          <a:ln/>
        </p:spPr>
        <p:txBody>
          <a:bodyPr wrap="square" lIns="0" tIns="0" rIns="0" bIns="0" rtlCol="0" anchor="ctr"/>
          <a:lstStyle/>
          <a:p>
            <a:pPr indent="0" marL="0">
              <a:buNone/>
            </a:pPr>
            <a:r>
              <a:rPr lang="en-US" sz="2200" b="1" dirty="0">
                <a:solidFill>
                  <a:srgbClr val="C95B61"/>
                </a:solidFill>
                <a:latin typeface="Noto Sans ExtraCondensed" pitchFamily="34" charset="0"/>
                <a:ea typeface="Noto Sans ExtraCondensed" pitchFamily="34" charset="-122"/>
                <a:cs typeface="Noto Sans ExtraCondensed" pitchFamily="34" charset="-120"/>
              </a:rPr>
              <a:t>COMMON BLIND SPOTS</a:t>
            </a:r>
            <a:endParaRPr lang="en-US" sz="2200" dirty="0"/>
          </a:p>
        </p:txBody>
      </p:sp>
      <p:sp>
        <p:nvSpPr>
          <p:cNvPr id="23" name="Shape 21"/>
          <p:cNvSpPr/>
          <p:nvPr/>
        </p:nvSpPr>
        <p:spPr>
          <a:xfrm>
            <a:off x="6053328" y="2386584"/>
            <a:ext cx="109728" cy="109728"/>
          </a:xfrm>
          <a:prstGeom prst="ellipse">
            <a:avLst/>
          </a:prstGeom>
          <a:solidFill>
            <a:srgbClr val="C95B61"/>
          </a:solidFill>
          <a:ln w="12700">
            <a:solidFill>
              <a:srgbClr val="C95B61"/>
            </a:solidFill>
            <a:prstDash val="solid"/>
          </a:ln>
        </p:spPr>
      </p:sp>
      <p:sp>
        <p:nvSpPr>
          <p:cNvPr id="24" name="Text 22"/>
          <p:cNvSpPr/>
          <p:nvPr/>
        </p:nvSpPr>
        <p:spPr>
          <a:xfrm>
            <a:off x="6254496" y="2267712"/>
            <a:ext cx="4736592" cy="466344"/>
          </a:xfrm>
          <a:prstGeom prst="rect">
            <a:avLst/>
          </a:prstGeom>
          <a:noFill/>
          <a:ln/>
        </p:spPr>
        <p:txBody>
          <a:bodyPr wrap="square" lIns="127" tIns="127" rIns="127" bIns="127"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PPE and tool fit</a:t>
            </a:r>
            <a:endParaRPr lang="en-US" sz="1700" dirty="0"/>
          </a:p>
        </p:txBody>
      </p:sp>
      <p:sp>
        <p:nvSpPr>
          <p:cNvPr id="25" name="Shape 23"/>
          <p:cNvSpPr/>
          <p:nvPr/>
        </p:nvSpPr>
        <p:spPr>
          <a:xfrm>
            <a:off x="6053328" y="2889504"/>
            <a:ext cx="109728" cy="109728"/>
          </a:xfrm>
          <a:prstGeom prst="ellipse">
            <a:avLst/>
          </a:prstGeom>
          <a:solidFill>
            <a:srgbClr val="C95B61"/>
          </a:solidFill>
          <a:ln w="12700">
            <a:solidFill>
              <a:srgbClr val="C95B61"/>
            </a:solidFill>
            <a:prstDash val="solid"/>
          </a:ln>
        </p:spPr>
      </p:sp>
      <p:sp>
        <p:nvSpPr>
          <p:cNvPr id="26" name="Text 24"/>
          <p:cNvSpPr/>
          <p:nvPr/>
        </p:nvSpPr>
        <p:spPr>
          <a:xfrm>
            <a:off x="6254496" y="2770632"/>
            <a:ext cx="4736592" cy="466344"/>
          </a:xfrm>
          <a:prstGeom prst="rect">
            <a:avLst/>
          </a:prstGeom>
          <a:noFill/>
          <a:ln/>
        </p:spPr>
        <p:txBody>
          <a:bodyPr wrap="square" lIns="127" tIns="127" rIns="127" bIns="127"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Sanitation and changing facilities</a:t>
            </a:r>
            <a:endParaRPr lang="en-US" sz="1700" dirty="0"/>
          </a:p>
        </p:txBody>
      </p:sp>
      <p:sp>
        <p:nvSpPr>
          <p:cNvPr id="27" name="Shape 25"/>
          <p:cNvSpPr/>
          <p:nvPr/>
        </p:nvSpPr>
        <p:spPr>
          <a:xfrm>
            <a:off x="6053328" y="3392424"/>
            <a:ext cx="109728" cy="109728"/>
          </a:xfrm>
          <a:prstGeom prst="ellipse">
            <a:avLst/>
          </a:prstGeom>
          <a:solidFill>
            <a:srgbClr val="C95B61"/>
          </a:solidFill>
          <a:ln w="12700">
            <a:solidFill>
              <a:srgbClr val="C95B61"/>
            </a:solidFill>
            <a:prstDash val="solid"/>
          </a:ln>
        </p:spPr>
      </p:sp>
      <p:sp>
        <p:nvSpPr>
          <p:cNvPr id="28" name="Text 26"/>
          <p:cNvSpPr/>
          <p:nvPr/>
        </p:nvSpPr>
        <p:spPr>
          <a:xfrm>
            <a:off x="6254496" y="3273552"/>
            <a:ext cx="4736592" cy="466344"/>
          </a:xfrm>
          <a:prstGeom prst="rect">
            <a:avLst/>
          </a:prstGeom>
          <a:noFill/>
          <a:ln/>
        </p:spPr>
        <p:txBody>
          <a:bodyPr wrap="square" lIns="127" tIns="127" rIns="127" bIns="127"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Pregnancy, fertility and lactation</a:t>
            </a:r>
            <a:endParaRPr lang="en-US" sz="1700" dirty="0"/>
          </a:p>
        </p:txBody>
      </p:sp>
      <p:sp>
        <p:nvSpPr>
          <p:cNvPr id="29" name="Shape 27"/>
          <p:cNvSpPr/>
          <p:nvPr/>
        </p:nvSpPr>
        <p:spPr>
          <a:xfrm>
            <a:off x="6053328" y="3895344"/>
            <a:ext cx="109728" cy="109728"/>
          </a:xfrm>
          <a:prstGeom prst="ellipse">
            <a:avLst/>
          </a:prstGeom>
          <a:solidFill>
            <a:srgbClr val="C95B61"/>
          </a:solidFill>
          <a:ln w="12700">
            <a:solidFill>
              <a:srgbClr val="C95B61"/>
            </a:solidFill>
            <a:prstDash val="solid"/>
          </a:ln>
        </p:spPr>
      </p:sp>
      <p:sp>
        <p:nvSpPr>
          <p:cNvPr id="30" name="Text 28"/>
          <p:cNvSpPr/>
          <p:nvPr/>
        </p:nvSpPr>
        <p:spPr>
          <a:xfrm>
            <a:off x="6254496" y="3776472"/>
            <a:ext cx="4736592" cy="466344"/>
          </a:xfrm>
          <a:prstGeom prst="rect">
            <a:avLst/>
          </a:prstGeom>
          <a:noFill/>
          <a:ln/>
        </p:spPr>
        <p:txBody>
          <a:bodyPr wrap="square" lIns="127" tIns="127" rIns="127" bIns="127"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Violence, harassment and third-party aggression</a:t>
            </a:r>
            <a:endParaRPr lang="en-US" sz="1700" dirty="0"/>
          </a:p>
        </p:txBody>
      </p:sp>
      <p:sp>
        <p:nvSpPr>
          <p:cNvPr id="31" name="Shape 29"/>
          <p:cNvSpPr/>
          <p:nvPr/>
        </p:nvSpPr>
        <p:spPr>
          <a:xfrm>
            <a:off x="6053328" y="4398264"/>
            <a:ext cx="109728" cy="109728"/>
          </a:xfrm>
          <a:prstGeom prst="ellipse">
            <a:avLst/>
          </a:prstGeom>
          <a:solidFill>
            <a:srgbClr val="C95B61"/>
          </a:solidFill>
          <a:ln w="12700">
            <a:solidFill>
              <a:srgbClr val="C95B61"/>
            </a:solidFill>
            <a:prstDash val="solid"/>
          </a:ln>
        </p:spPr>
      </p:sp>
      <p:sp>
        <p:nvSpPr>
          <p:cNvPr id="32" name="Text 30"/>
          <p:cNvSpPr/>
          <p:nvPr/>
        </p:nvSpPr>
        <p:spPr>
          <a:xfrm>
            <a:off x="6254496" y="4279392"/>
            <a:ext cx="4736592" cy="466344"/>
          </a:xfrm>
          <a:prstGeom prst="rect">
            <a:avLst/>
          </a:prstGeom>
          <a:noFill/>
          <a:ln/>
        </p:spPr>
        <p:txBody>
          <a:bodyPr wrap="square" lIns="127" tIns="127" rIns="127" bIns="127"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Fatigue, commuting and care responsibilities</a:t>
            </a:r>
            <a:endParaRPr lang="en-US" sz="1700" dirty="0"/>
          </a:p>
        </p:txBody>
      </p:sp>
      <p:sp>
        <p:nvSpPr>
          <p:cNvPr id="33" name="Shape 31"/>
          <p:cNvSpPr/>
          <p:nvPr/>
        </p:nvSpPr>
        <p:spPr>
          <a:xfrm>
            <a:off x="6053328" y="4901184"/>
            <a:ext cx="109728" cy="109728"/>
          </a:xfrm>
          <a:prstGeom prst="ellipse">
            <a:avLst/>
          </a:prstGeom>
          <a:solidFill>
            <a:srgbClr val="C95B61"/>
          </a:solidFill>
          <a:ln w="12700">
            <a:solidFill>
              <a:srgbClr val="C95B61"/>
            </a:solidFill>
            <a:prstDash val="solid"/>
          </a:ln>
        </p:spPr>
      </p:sp>
      <p:sp>
        <p:nvSpPr>
          <p:cNvPr id="34" name="Text 32"/>
          <p:cNvSpPr/>
          <p:nvPr/>
        </p:nvSpPr>
        <p:spPr>
          <a:xfrm>
            <a:off x="6254496" y="4782312"/>
            <a:ext cx="4736592" cy="466344"/>
          </a:xfrm>
          <a:prstGeom prst="rect">
            <a:avLst/>
          </a:prstGeom>
          <a:noFill/>
          <a:ln/>
        </p:spPr>
        <p:txBody>
          <a:bodyPr wrap="square" lIns="127" tIns="127" rIns="127" bIns="127"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Contractor and informal worker exposure</a:t>
            </a:r>
            <a:endParaRPr lang="en-US" sz="1700" dirty="0"/>
          </a:p>
        </p:txBody>
      </p:sp>
      <p:sp>
        <p:nvSpPr>
          <p:cNvPr id="35" name="Shape 33"/>
          <p:cNvSpPr/>
          <p:nvPr/>
        </p:nvSpPr>
        <p:spPr>
          <a:xfrm>
            <a:off x="6053328" y="5404104"/>
            <a:ext cx="109728" cy="109728"/>
          </a:xfrm>
          <a:prstGeom prst="ellipse">
            <a:avLst/>
          </a:prstGeom>
          <a:solidFill>
            <a:srgbClr val="C95B61"/>
          </a:solidFill>
          <a:ln w="12700">
            <a:solidFill>
              <a:srgbClr val="C95B61"/>
            </a:solidFill>
            <a:prstDash val="solid"/>
          </a:ln>
        </p:spPr>
      </p:sp>
      <p:sp>
        <p:nvSpPr>
          <p:cNvPr id="36" name="Text 34"/>
          <p:cNvSpPr/>
          <p:nvPr/>
        </p:nvSpPr>
        <p:spPr>
          <a:xfrm>
            <a:off x="6254496" y="5285232"/>
            <a:ext cx="4736592" cy="466344"/>
          </a:xfrm>
          <a:prstGeom prst="rect">
            <a:avLst/>
          </a:prstGeom>
          <a:noFill/>
          <a:ln/>
        </p:spPr>
        <p:txBody>
          <a:bodyPr wrap="square" lIns="127" tIns="127" rIns="127" bIns="127"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Psychosocial risks and work intensity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PPE, TOOLS AND FACILITIES</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Fit is a control measure</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11</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pic>
        <p:nvPicPr>
          <p:cNvPr id="8" name="Image 0" descr="Technicians working on a solar installation">    </p:cNvPr>
          <p:cNvPicPr>
            <a:picLocks noChangeAspect="1"/>
          </p:cNvPicPr>
          <p:nvPr/>
        </p:nvPicPr>
        <p:blipFill>
          <a:blip r:embed="rId1"/>
          <a:srcRect l="0" r="0" t="0" b="0"/>
          <a:stretch/>
        </p:blipFill>
        <p:spPr>
          <a:xfrm>
            <a:off x="594360" y="1243584"/>
            <a:ext cx="4892040" cy="5074920"/>
          </a:xfrm>
          <a:prstGeom prst="rect">
            <a:avLst/>
          </a:prstGeom>
        </p:spPr>
      </p:pic>
      <p:sp>
        <p:nvSpPr>
          <p:cNvPr id="9" name="Shape 6"/>
          <p:cNvSpPr/>
          <p:nvPr/>
        </p:nvSpPr>
        <p:spPr>
          <a:xfrm>
            <a:off x="594360" y="5230368"/>
            <a:ext cx="4892040" cy="1088136"/>
          </a:xfrm>
          <a:prstGeom prst="rect">
            <a:avLst/>
          </a:prstGeom>
          <a:solidFill>
            <a:srgbClr val="284B96">
              <a:alpha val="90000"/>
            </a:srgbClr>
          </a:solidFill>
          <a:ln w="12700">
            <a:solidFill>
              <a:srgbClr val="284B96">
                <a:alpha val="0"/>
              </a:srgbClr>
            </a:solidFill>
            <a:prstDash val="solid"/>
          </a:ln>
        </p:spPr>
      </p:sp>
      <p:sp>
        <p:nvSpPr>
          <p:cNvPr id="10" name="Text 7"/>
          <p:cNvSpPr/>
          <p:nvPr/>
        </p:nvSpPr>
        <p:spPr>
          <a:xfrm>
            <a:off x="896112" y="5504688"/>
            <a:ext cx="4297680" cy="384048"/>
          </a:xfrm>
          <a:prstGeom prst="rect">
            <a:avLst/>
          </a:prstGeom>
          <a:noFill/>
          <a:ln/>
        </p:spPr>
        <p:txBody>
          <a:bodyPr wrap="square" lIns="0" tIns="0" rIns="0" bIns="0" rtlCol="0" anchor="ctr"/>
          <a:lstStyle/>
          <a:p>
            <a:pPr algn="ctr" indent="0" marL="0">
              <a:buNone/>
            </a:pPr>
            <a:r>
              <a:rPr lang="en-US" sz="1900" b="1" dirty="0">
                <a:solidFill>
                  <a:srgbClr val="FFFFFF"/>
                </a:solidFill>
                <a:latin typeface="Noto Sans SemiCondensed" pitchFamily="34" charset="0"/>
                <a:ea typeface="Noto Sans SemiCondensed" pitchFamily="34" charset="-122"/>
                <a:cs typeface="Noto Sans SemiCondensed" pitchFamily="34" charset="-120"/>
              </a:rPr>
              <a:t>Protection that does not fit may not protect.</a:t>
            </a:r>
            <a:endParaRPr lang="en-US" sz="1900" dirty="0"/>
          </a:p>
        </p:txBody>
      </p:sp>
      <p:sp>
        <p:nvSpPr>
          <p:cNvPr id="11" name="Shape 8"/>
          <p:cNvSpPr/>
          <p:nvPr/>
        </p:nvSpPr>
        <p:spPr>
          <a:xfrm>
            <a:off x="5989320" y="1737360"/>
            <a:ext cx="822960" cy="0"/>
          </a:xfrm>
          <a:prstGeom prst="line">
            <a:avLst/>
          </a:prstGeom>
          <a:noFill/>
          <a:ln w="76200">
            <a:solidFill>
              <a:srgbClr val="C95B61"/>
            </a:solidFill>
            <a:prstDash val="solid"/>
          </a:ln>
        </p:spPr>
      </p:sp>
      <p:sp>
        <p:nvSpPr>
          <p:cNvPr id="12" name="Text 9"/>
          <p:cNvSpPr/>
          <p:nvPr/>
        </p:nvSpPr>
        <p:spPr>
          <a:xfrm>
            <a:off x="6931152" y="1453896"/>
            <a:ext cx="3886200" cy="329184"/>
          </a:xfrm>
          <a:prstGeom prst="rect">
            <a:avLst/>
          </a:prstGeom>
          <a:noFill/>
          <a:ln/>
        </p:spPr>
        <p:txBody>
          <a:bodyPr wrap="square" lIns="0" tIns="0" rIns="0" bIns="0" rtlCol="0" anchor="ctr"/>
          <a:lstStyle/>
          <a:p>
            <a:pPr indent="0" marL="0">
              <a:buNone/>
            </a:pPr>
            <a:r>
              <a:rPr lang="en-US" sz="2300" b="1" dirty="0">
                <a:solidFill>
                  <a:srgbClr val="C95B61"/>
                </a:solidFill>
                <a:latin typeface="Noto Sans ExtraCondensed" pitchFamily="34" charset="0"/>
                <a:ea typeface="Noto Sans ExtraCondensed" pitchFamily="34" charset="-122"/>
                <a:cs typeface="Noto Sans ExtraCondensed" pitchFamily="34" charset="-120"/>
              </a:rPr>
              <a:t>PPE</a:t>
            </a:r>
            <a:endParaRPr lang="en-US" sz="2300" dirty="0"/>
          </a:p>
        </p:txBody>
      </p:sp>
      <p:sp>
        <p:nvSpPr>
          <p:cNvPr id="13" name="Text 10"/>
          <p:cNvSpPr/>
          <p:nvPr/>
        </p:nvSpPr>
        <p:spPr>
          <a:xfrm>
            <a:off x="6931152" y="1883664"/>
            <a:ext cx="4160520" cy="658368"/>
          </a:xfrm>
          <a:prstGeom prst="rect">
            <a:avLst/>
          </a:prstGeom>
          <a:noFill/>
          <a:ln/>
        </p:spPr>
        <p:txBody>
          <a:bodyPr wrap="square" lIns="0" tIns="0" rIns="0" bIns="0" rtlCol="0" anchor="ctr"/>
          <a:lstStyle/>
          <a:p>
            <a:pPr indent="0" marL="0">
              <a:buNone/>
            </a:pPr>
            <a:r>
              <a:rPr lang="en-US" sz="1600" dirty="0">
                <a:solidFill>
                  <a:srgbClr val="2B2A29"/>
                </a:solidFill>
                <a:latin typeface="Noto Sans SemiCondensed" pitchFamily="34" charset="0"/>
                <a:ea typeface="Noto Sans SemiCondensed" pitchFamily="34" charset="-122"/>
                <a:cs typeface="Noto Sans SemiCondensed" pitchFamily="34" charset="-120"/>
              </a:rPr>
              <a:t>Size ranges, fall-arrest harnesses, gloves, respirators, hearing protection, body armour and maternity needs.</a:t>
            </a:r>
            <a:endParaRPr lang="en-US" sz="1600" dirty="0"/>
          </a:p>
        </p:txBody>
      </p:sp>
      <p:sp>
        <p:nvSpPr>
          <p:cNvPr id="14" name="Shape 11"/>
          <p:cNvSpPr/>
          <p:nvPr/>
        </p:nvSpPr>
        <p:spPr>
          <a:xfrm>
            <a:off x="5989320" y="3182112"/>
            <a:ext cx="822960" cy="0"/>
          </a:xfrm>
          <a:prstGeom prst="line">
            <a:avLst/>
          </a:prstGeom>
          <a:noFill/>
          <a:ln w="76200">
            <a:solidFill>
              <a:srgbClr val="00A3E0"/>
            </a:solidFill>
            <a:prstDash val="solid"/>
          </a:ln>
        </p:spPr>
      </p:sp>
      <p:sp>
        <p:nvSpPr>
          <p:cNvPr id="15" name="Text 12"/>
          <p:cNvSpPr/>
          <p:nvPr/>
        </p:nvSpPr>
        <p:spPr>
          <a:xfrm>
            <a:off x="6931152" y="2898648"/>
            <a:ext cx="3886200" cy="329184"/>
          </a:xfrm>
          <a:prstGeom prst="rect">
            <a:avLst/>
          </a:prstGeom>
          <a:noFill/>
          <a:ln/>
        </p:spPr>
        <p:txBody>
          <a:bodyPr wrap="square" lIns="0" tIns="0" rIns="0" bIns="0" rtlCol="0" anchor="ctr"/>
          <a:lstStyle/>
          <a:p>
            <a:pPr indent="0" marL="0">
              <a:buNone/>
            </a:pPr>
            <a:r>
              <a:rPr lang="en-US" sz="2300" b="1" dirty="0">
                <a:solidFill>
                  <a:srgbClr val="00A3E0"/>
                </a:solidFill>
                <a:latin typeface="Noto Sans ExtraCondensed" pitchFamily="34" charset="0"/>
                <a:ea typeface="Noto Sans ExtraCondensed" pitchFamily="34" charset="-122"/>
                <a:cs typeface="Noto Sans ExtraCondensed" pitchFamily="34" charset="-120"/>
              </a:rPr>
              <a:t>TOOLS AND WORKSTATIONS</a:t>
            </a:r>
            <a:endParaRPr lang="en-US" sz="2300" dirty="0"/>
          </a:p>
        </p:txBody>
      </p:sp>
      <p:sp>
        <p:nvSpPr>
          <p:cNvPr id="16" name="Text 13"/>
          <p:cNvSpPr/>
          <p:nvPr/>
        </p:nvSpPr>
        <p:spPr>
          <a:xfrm>
            <a:off x="6931152" y="3328416"/>
            <a:ext cx="4160520" cy="658368"/>
          </a:xfrm>
          <a:prstGeom prst="rect">
            <a:avLst/>
          </a:prstGeom>
          <a:noFill/>
          <a:ln/>
        </p:spPr>
        <p:txBody>
          <a:bodyPr wrap="square" lIns="0" tIns="0" rIns="0" bIns="0" rtlCol="0" anchor="ctr"/>
          <a:lstStyle/>
          <a:p>
            <a:pPr indent="0" marL="0">
              <a:buNone/>
            </a:pPr>
            <a:r>
              <a:rPr lang="en-US" sz="1600" dirty="0">
                <a:solidFill>
                  <a:srgbClr val="2B2A29"/>
                </a:solidFill>
                <a:latin typeface="Noto Sans SemiCondensed" pitchFamily="34" charset="0"/>
                <a:ea typeface="Noto Sans SemiCondensed" pitchFamily="34" charset="-122"/>
                <a:cs typeface="Noto Sans SemiCondensed" pitchFamily="34" charset="-120"/>
              </a:rPr>
              <a:t>Grip size, reach, force, posture, controls, vehicle cabins and emergency access.</a:t>
            </a:r>
            <a:endParaRPr lang="en-US" sz="1600" dirty="0"/>
          </a:p>
        </p:txBody>
      </p:sp>
      <p:sp>
        <p:nvSpPr>
          <p:cNvPr id="17" name="Shape 14"/>
          <p:cNvSpPr/>
          <p:nvPr/>
        </p:nvSpPr>
        <p:spPr>
          <a:xfrm>
            <a:off x="5989320" y="4626864"/>
            <a:ext cx="822960" cy="0"/>
          </a:xfrm>
          <a:prstGeom prst="line">
            <a:avLst/>
          </a:prstGeom>
          <a:noFill/>
          <a:ln w="76200">
            <a:solidFill>
              <a:srgbClr val="2E8B78"/>
            </a:solidFill>
            <a:prstDash val="solid"/>
          </a:ln>
        </p:spPr>
      </p:sp>
      <p:sp>
        <p:nvSpPr>
          <p:cNvPr id="18" name="Text 15"/>
          <p:cNvSpPr/>
          <p:nvPr/>
        </p:nvSpPr>
        <p:spPr>
          <a:xfrm>
            <a:off x="6931152" y="4343400"/>
            <a:ext cx="3886200" cy="329184"/>
          </a:xfrm>
          <a:prstGeom prst="rect">
            <a:avLst/>
          </a:prstGeom>
          <a:noFill/>
          <a:ln/>
        </p:spPr>
        <p:txBody>
          <a:bodyPr wrap="square" lIns="0" tIns="0" rIns="0" bIns="0" rtlCol="0" anchor="ctr"/>
          <a:lstStyle/>
          <a:p>
            <a:pPr indent="0" marL="0">
              <a:buNone/>
            </a:pPr>
            <a:r>
              <a:rPr lang="en-US" sz="2300" b="1" dirty="0">
                <a:solidFill>
                  <a:srgbClr val="2E8B78"/>
                </a:solidFill>
                <a:latin typeface="Noto Sans ExtraCondensed" pitchFamily="34" charset="0"/>
                <a:ea typeface="Noto Sans ExtraCondensed" pitchFamily="34" charset="-122"/>
                <a:cs typeface="Noto Sans ExtraCondensed" pitchFamily="34" charset="-120"/>
              </a:rPr>
              <a:t>FACILITIES AND PROCEDURES</a:t>
            </a:r>
            <a:endParaRPr lang="en-US" sz="2300" dirty="0"/>
          </a:p>
        </p:txBody>
      </p:sp>
      <p:sp>
        <p:nvSpPr>
          <p:cNvPr id="19" name="Text 16"/>
          <p:cNvSpPr/>
          <p:nvPr/>
        </p:nvSpPr>
        <p:spPr>
          <a:xfrm>
            <a:off x="6931152" y="4773168"/>
            <a:ext cx="4160520" cy="658368"/>
          </a:xfrm>
          <a:prstGeom prst="rect">
            <a:avLst/>
          </a:prstGeom>
          <a:noFill/>
          <a:ln/>
        </p:spPr>
        <p:txBody>
          <a:bodyPr wrap="square" lIns="0" tIns="0" rIns="0" bIns="0" rtlCol="0" anchor="ctr"/>
          <a:lstStyle/>
          <a:p>
            <a:pPr indent="0" marL="0">
              <a:buNone/>
            </a:pPr>
            <a:r>
              <a:rPr lang="en-US" sz="1600" dirty="0">
                <a:solidFill>
                  <a:srgbClr val="2B2A29"/>
                </a:solidFill>
                <a:latin typeface="Noto Sans SemiCondensed" pitchFamily="34" charset="0"/>
                <a:ea typeface="Noto Sans SemiCondensed" pitchFamily="34" charset="-122"/>
                <a:cs typeface="Noto Sans SemiCondensed" pitchFamily="34" charset="-120"/>
              </a:rPr>
              <a:t>Changing rooms, sanitation, lighting, safe transport, rescue plans and medical response.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REPRODUCTIVE HEALTH</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Protect exposure - do not exclude people</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12</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Text 6"/>
          <p:cNvSpPr/>
          <p:nvPr/>
        </p:nvSpPr>
        <p:spPr>
          <a:xfrm>
            <a:off x="868680" y="1417320"/>
            <a:ext cx="4251960" cy="329184"/>
          </a:xfrm>
          <a:prstGeom prst="rect">
            <a:avLst/>
          </a:prstGeom>
          <a:noFill/>
          <a:ln/>
        </p:spPr>
        <p:txBody>
          <a:bodyPr wrap="square" lIns="0" tIns="0" rIns="0" bIns="0" rtlCol="0" anchor="ctr"/>
          <a:lstStyle/>
          <a:p>
            <a:pPr algn="ctr" indent="0" marL="0">
              <a:buNone/>
            </a:pPr>
            <a:r>
              <a:rPr lang="en-US" sz="2300" b="1" dirty="0">
                <a:solidFill>
                  <a:srgbClr val="C95B61"/>
                </a:solidFill>
                <a:latin typeface="Noto Sans ExtraCondensed" pitchFamily="34" charset="0"/>
                <a:ea typeface="Noto Sans ExtraCondensed" pitchFamily="34" charset="-122"/>
                <a:cs typeface="Noto Sans ExtraCondensed" pitchFamily="34" charset="-120"/>
              </a:rPr>
              <a:t>EXCLUSIONARY APPROACH</a:t>
            </a:r>
            <a:endParaRPr lang="en-US" sz="2300" dirty="0"/>
          </a:p>
        </p:txBody>
      </p:sp>
      <p:sp>
        <p:nvSpPr>
          <p:cNvPr id="9" name="Shape 7"/>
          <p:cNvSpPr/>
          <p:nvPr/>
        </p:nvSpPr>
        <p:spPr>
          <a:xfrm>
            <a:off x="868680" y="1874520"/>
            <a:ext cx="4251960" cy="3337560"/>
          </a:xfrm>
          <a:prstGeom prst="roundRect">
            <a:avLst/>
          </a:prstGeom>
          <a:solidFill>
            <a:srgbClr val="FBEDEE"/>
          </a:solidFill>
          <a:ln w="20320">
            <a:solidFill>
              <a:srgbClr val="C95B61"/>
            </a:solidFill>
            <a:prstDash val="solid"/>
          </a:ln>
        </p:spPr>
      </p:sp>
      <p:sp>
        <p:nvSpPr>
          <p:cNvPr id="10" name="Shape 8"/>
          <p:cNvSpPr/>
          <p:nvPr/>
        </p:nvSpPr>
        <p:spPr>
          <a:xfrm>
            <a:off x="1234440" y="2423160"/>
            <a:ext cx="109728" cy="109728"/>
          </a:xfrm>
          <a:prstGeom prst="ellipse">
            <a:avLst/>
          </a:prstGeom>
          <a:solidFill>
            <a:srgbClr val="C95B61"/>
          </a:solidFill>
          <a:ln w="12700">
            <a:solidFill>
              <a:srgbClr val="C95B61"/>
            </a:solidFill>
            <a:prstDash val="solid"/>
          </a:ln>
        </p:spPr>
      </p:sp>
      <p:sp>
        <p:nvSpPr>
          <p:cNvPr id="11" name="Text 9"/>
          <p:cNvSpPr/>
          <p:nvPr/>
        </p:nvSpPr>
        <p:spPr>
          <a:xfrm>
            <a:off x="1435608" y="2304288"/>
            <a:ext cx="3364992" cy="603504"/>
          </a:xfrm>
          <a:prstGeom prst="rect">
            <a:avLst/>
          </a:prstGeom>
          <a:noFill/>
          <a:ln/>
        </p:spPr>
        <p:txBody>
          <a:bodyPr wrap="square" lIns="127" tIns="127" rIns="127" bIns="127"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Assume certain jobs are unsuitable for women</a:t>
            </a:r>
            <a:endParaRPr lang="en-US" sz="1620" dirty="0"/>
          </a:p>
        </p:txBody>
      </p:sp>
      <p:sp>
        <p:nvSpPr>
          <p:cNvPr id="12" name="Shape 10"/>
          <p:cNvSpPr/>
          <p:nvPr/>
        </p:nvSpPr>
        <p:spPr>
          <a:xfrm>
            <a:off x="1234440" y="3063240"/>
            <a:ext cx="109728" cy="109728"/>
          </a:xfrm>
          <a:prstGeom prst="ellipse">
            <a:avLst/>
          </a:prstGeom>
          <a:solidFill>
            <a:srgbClr val="C95B61"/>
          </a:solidFill>
          <a:ln w="12700">
            <a:solidFill>
              <a:srgbClr val="C95B61"/>
            </a:solidFill>
            <a:prstDash val="solid"/>
          </a:ln>
        </p:spPr>
      </p:sp>
      <p:sp>
        <p:nvSpPr>
          <p:cNvPr id="13" name="Text 11"/>
          <p:cNvSpPr/>
          <p:nvPr/>
        </p:nvSpPr>
        <p:spPr>
          <a:xfrm>
            <a:off x="1435608" y="2944368"/>
            <a:ext cx="3364992" cy="603504"/>
          </a:xfrm>
          <a:prstGeom prst="rect">
            <a:avLst/>
          </a:prstGeom>
          <a:noFill/>
          <a:ln/>
        </p:spPr>
        <p:txBody>
          <a:bodyPr wrap="square" lIns="127" tIns="127" rIns="127" bIns="127"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Use blanket restrictions instead of controlling hazards</a:t>
            </a:r>
            <a:endParaRPr lang="en-US" sz="1620" dirty="0"/>
          </a:p>
        </p:txBody>
      </p:sp>
      <p:sp>
        <p:nvSpPr>
          <p:cNvPr id="14" name="Shape 12"/>
          <p:cNvSpPr/>
          <p:nvPr/>
        </p:nvSpPr>
        <p:spPr>
          <a:xfrm>
            <a:off x="1234440" y="3703320"/>
            <a:ext cx="109728" cy="109728"/>
          </a:xfrm>
          <a:prstGeom prst="ellipse">
            <a:avLst/>
          </a:prstGeom>
          <a:solidFill>
            <a:srgbClr val="C95B61"/>
          </a:solidFill>
          <a:ln w="12700">
            <a:solidFill>
              <a:srgbClr val="C95B61"/>
            </a:solidFill>
            <a:prstDash val="solid"/>
          </a:ln>
        </p:spPr>
      </p:sp>
      <p:sp>
        <p:nvSpPr>
          <p:cNvPr id="15" name="Text 13"/>
          <p:cNvSpPr/>
          <p:nvPr/>
        </p:nvSpPr>
        <p:spPr>
          <a:xfrm>
            <a:off x="1435608" y="3584448"/>
            <a:ext cx="3364992" cy="603504"/>
          </a:xfrm>
          <a:prstGeom prst="rect">
            <a:avLst/>
          </a:prstGeom>
          <a:noFill/>
          <a:ln/>
        </p:spPr>
        <p:txBody>
          <a:bodyPr wrap="square" lIns="127" tIns="127" rIns="127" bIns="127"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Focus only on pregnancy and ignore fertility risks for all workers</a:t>
            </a:r>
            <a:endParaRPr lang="en-US" sz="1620" dirty="0"/>
          </a:p>
        </p:txBody>
      </p:sp>
      <p:sp>
        <p:nvSpPr>
          <p:cNvPr id="16" name="Shape 14"/>
          <p:cNvSpPr/>
          <p:nvPr/>
        </p:nvSpPr>
        <p:spPr>
          <a:xfrm>
            <a:off x="1234440" y="4343400"/>
            <a:ext cx="109728" cy="109728"/>
          </a:xfrm>
          <a:prstGeom prst="ellipse">
            <a:avLst/>
          </a:prstGeom>
          <a:solidFill>
            <a:srgbClr val="C95B61"/>
          </a:solidFill>
          <a:ln w="12700">
            <a:solidFill>
              <a:srgbClr val="C95B61"/>
            </a:solidFill>
            <a:prstDash val="solid"/>
          </a:ln>
        </p:spPr>
      </p:sp>
      <p:sp>
        <p:nvSpPr>
          <p:cNvPr id="17" name="Text 15"/>
          <p:cNvSpPr/>
          <p:nvPr/>
        </p:nvSpPr>
        <p:spPr>
          <a:xfrm>
            <a:off x="1435608" y="4224528"/>
            <a:ext cx="3364992" cy="603504"/>
          </a:xfrm>
          <a:prstGeom prst="rect">
            <a:avLst/>
          </a:prstGeom>
          <a:noFill/>
          <a:ln/>
        </p:spPr>
        <p:txBody>
          <a:bodyPr wrap="square" lIns="127" tIns="127" rIns="127" bIns="127"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Shift the burden of prevention to the individual</a:t>
            </a:r>
            <a:endParaRPr lang="en-US" sz="1620" dirty="0"/>
          </a:p>
        </p:txBody>
      </p:sp>
      <p:sp>
        <p:nvSpPr>
          <p:cNvPr id="18" name="Text 16"/>
          <p:cNvSpPr/>
          <p:nvPr/>
        </p:nvSpPr>
        <p:spPr>
          <a:xfrm>
            <a:off x="6446520" y="1417320"/>
            <a:ext cx="4663440" cy="329184"/>
          </a:xfrm>
          <a:prstGeom prst="rect">
            <a:avLst/>
          </a:prstGeom>
          <a:noFill/>
          <a:ln/>
        </p:spPr>
        <p:txBody>
          <a:bodyPr wrap="square" lIns="0" tIns="0" rIns="0" bIns="0" rtlCol="0" anchor="ctr"/>
          <a:lstStyle/>
          <a:p>
            <a:pPr algn="ctr" indent="0" marL="0">
              <a:buNone/>
            </a:pPr>
            <a:r>
              <a:rPr lang="en-US" sz="2300" b="1" dirty="0">
                <a:solidFill>
                  <a:srgbClr val="2E8B78"/>
                </a:solidFill>
                <a:latin typeface="Noto Sans ExtraCondensed" pitchFamily="34" charset="0"/>
                <a:ea typeface="Noto Sans ExtraCondensed" pitchFamily="34" charset="-122"/>
                <a:cs typeface="Noto Sans ExtraCondensed" pitchFamily="34" charset="-120"/>
              </a:rPr>
              <a:t>PREVENTIVE APPROACH</a:t>
            </a:r>
            <a:endParaRPr lang="en-US" sz="2300" dirty="0"/>
          </a:p>
        </p:txBody>
      </p:sp>
      <p:sp>
        <p:nvSpPr>
          <p:cNvPr id="19" name="Shape 17"/>
          <p:cNvSpPr/>
          <p:nvPr/>
        </p:nvSpPr>
        <p:spPr>
          <a:xfrm>
            <a:off x="6446520" y="1874520"/>
            <a:ext cx="4663440" cy="3337560"/>
          </a:xfrm>
          <a:prstGeom prst="roundRect">
            <a:avLst/>
          </a:prstGeom>
          <a:solidFill>
            <a:srgbClr val="EAF6F2"/>
          </a:solidFill>
          <a:ln w="20320">
            <a:solidFill>
              <a:srgbClr val="2E8B78"/>
            </a:solidFill>
            <a:prstDash val="solid"/>
          </a:ln>
        </p:spPr>
      </p:sp>
      <p:sp>
        <p:nvSpPr>
          <p:cNvPr id="20" name="Shape 18"/>
          <p:cNvSpPr/>
          <p:nvPr/>
        </p:nvSpPr>
        <p:spPr>
          <a:xfrm>
            <a:off x="6812280" y="2423160"/>
            <a:ext cx="109728" cy="109728"/>
          </a:xfrm>
          <a:prstGeom prst="ellipse">
            <a:avLst/>
          </a:prstGeom>
          <a:solidFill>
            <a:srgbClr val="2E8B78"/>
          </a:solidFill>
          <a:ln w="12700">
            <a:solidFill>
              <a:srgbClr val="2E8B78"/>
            </a:solidFill>
            <a:prstDash val="solid"/>
          </a:ln>
        </p:spPr>
      </p:sp>
      <p:sp>
        <p:nvSpPr>
          <p:cNvPr id="21" name="Text 19"/>
          <p:cNvSpPr/>
          <p:nvPr/>
        </p:nvSpPr>
        <p:spPr>
          <a:xfrm>
            <a:off x="7013448" y="2304288"/>
            <a:ext cx="3749040" cy="603504"/>
          </a:xfrm>
          <a:prstGeom prst="rect">
            <a:avLst/>
          </a:prstGeom>
          <a:noFill/>
          <a:ln/>
        </p:spPr>
        <p:txBody>
          <a:bodyPr wrap="square" lIns="127" tIns="127" rIns="127" bIns="127"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Identify reproductive hazards for women and men</a:t>
            </a:r>
            <a:endParaRPr lang="en-US" sz="1620" dirty="0"/>
          </a:p>
        </p:txBody>
      </p:sp>
      <p:sp>
        <p:nvSpPr>
          <p:cNvPr id="22" name="Shape 20"/>
          <p:cNvSpPr/>
          <p:nvPr/>
        </p:nvSpPr>
        <p:spPr>
          <a:xfrm>
            <a:off x="6812280" y="3063240"/>
            <a:ext cx="109728" cy="109728"/>
          </a:xfrm>
          <a:prstGeom prst="ellipse">
            <a:avLst/>
          </a:prstGeom>
          <a:solidFill>
            <a:srgbClr val="2E8B78"/>
          </a:solidFill>
          <a:ln w="12700">
            <a:solidFill>
              <a:srgbClr val="2E8B78"/>
            </a:solidFill>
            <a:prstDash val="solid"/>
          </a:ln>
        </p:spPr>
      </p:sp>
      <p:sp>
        <p:nvSpPr>
          <p:cNvPr id="23" name="Text 21"/>
          <p:cNvSpPr/>
          <p:nvPr/>
        </p:nvSpPr>
        <p:spPr>
          <a:xfrm>
            <a:off x="7013448" y="2944368"/>
            <a:ext cx="3749040" cy="603504"/>
          </a:xfrm>
          <a:prstGeom prst="rect">
            <a:avLst/>
          </a:prstGeom>
          <a:noFill/>
          <a:ln/>
        </p:spPr>
        <p:txBody>
          <a:bodyPr wrap="square" lIns="127" tIns="127" rIns="127" bIns="127"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Eliminate or reduce chemical, physical, biological and psychosocial exposures</a:t>
            </a:r>
            <a:endParaRPr lang="en-US" sz="1620" dirty="0"/>
          </a:p>
        </p:txBody>
      </p:sp>
      <p:sp>
        <p:nvSpPr>
          <p:cNvPr id="24" name="Shape 22"/>
          <p:cNvSpPr/>
          <p:nvPr/>
        </p:nvSpPr>
        <p:spPr>
          <a:xfrm>
            <a:off x="6812280" y="3703320"/>
            <a:ext cx="109728" cy="109728"/>
          </a:xfrm>
          <a:prstGeom prst="ellipse">
            <a:avLst/>
          </a:prstGeom>
          <a:solidFill>
            <a:srgbClr val="2E8B78"/>
          </a:solidFill>
          <a:ln w="12700">
            <a:solidFill>
              <a:srgbClr val="2E8B78"/>
            </a:solidFill>
            <a:prstDash val="solid"/>
          </a:ln>
        </p:spPr>
      </p:sp>
      <p:sp>
        <p:nvSpPr>
          <p:cNvPr id="25" name="Text 23"/>
          <p:cNvSpPr/>
          <p:nvPr/>
        </p:nvSpPr>
        <p:spPr>
          <a:xfrm>
            <a:off x="7013448" y="3584448"/>
            <a:ext cx="3749040" cy="603504"/>
          </a:xfrm>
          <a:prstGeom prst="rect">
            <a:avLst/>
          </a:prstGeom>
          <a:noFill/>
          <a:ln/>
        </p:spPr>
        <p:txBody>
          <a:bodyPr wrap="square" lIns="127" tIns="127" rIns="127" bIns="127"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Provide confidential information, health surveillance and accommodation</a:t>
            </a:r>
            <a:endParaRPr lang="en-US" sz="1620" dirty="0"/>
          </a:p>
        </p:txBody>
      </p:sp>
      <p:sp>
        <p:nvSpPr>
          <p:cNvPr id="26" name="Shape 24"/>
          <p:cNvSpPr/>
          <p:nvPr/>
        </p:nvSpPr>
        <p:spPr>
          <a:xfrm>
            <a:off x="6812280" y="4343400"/>
            <a:ext cx="109728" cy="109728"/>
          </a:xfrm>
          <a:prstGeom prst="ellipse">
            <a:avLst/>
          </a:prstGeom>
          <a:solidFill>
            <a:srgbClr val="2E8B78"/>
          </a:solidFill>
          <a:ln w="12700">
            <a:solidFill>
              <a:srgbClr val="2E8B78"/>
            </a:solidFill>
            <a:prstDash val="solid"/>
          </a:ln>
        </p:spPr>
      </p:sp>
      <p:sp>
        <p:nvSpPr>
          <p:cNvPr id="27" name="Text 25"/>
          <p:cNvSpPr/>
          <p:nvPr/>
        </p:nvSpPr>
        <p:spPr>
          <a:xfrm>
            <a:off x="7013448" y="4224528"/>
            <a:ext cx="3749040" cy="603504"/>
          </a:xfrm>
          <a:prstGeom prst="rect">
            <a:avLst/>
          </a:prstGeom>
          <a:noFill/>
          <a:ln/>
        </p:spPr>
        <p:txBody>
          <a:bodyPr wrap="square" lIns="127" tIns="127" rIns="127" bIns="127" rtlCol="0" anchor="ctr"/>
          <a:lstStyle/>
          <a:p>
            <a:pPr indent="0" marL="0">
              <a:buNone/>
            </a:pPr>
            <a:r>
              <a:rPr lang="en-US" sz="1620" dirty="0">
                <a:solidFill>
                  <a:srgbClr val="2B2A29"/>
                </a:solidFill>
                <a:latin typeface="Noto Sans SemiCondensed" pitchFamily="34" charset="0"/>
                <a:ea typeface="Noto Sans SemiCondensed" pitchFamily="34" charset="-122"/>
                <a:cs typeface="Noto Sans SemiCondensed" pitchFamily="34" charset="-120"/>
              </a:rPr>
              <a:t>Protect employment and prevent discrimination</a:t>
            </a:r>
            <a:endParaRPr lang="en-US" sz="1620" dirty="0"/>
          </a:p>
        </p:txBody>
      </p:sp>
      <p:sp>
        <p:nvSpPr>
          <p:cNvPr id="28" name="Shape 26"/>
          <p:cNvSpPr/>
          <p:nvPr/>
        </p:nvSpPr>
        <p:spPr>
          <a:xfrm>
            <a:off x="5349240" y="3520440"/>
            <a:ext cx="822960" cy="0"/>
          </a:xfrm>
          <a:prstGeom prst="line">
            <a:avLst/>
          </a:prstGeom>
          <a:noFill/>
          <a:ln w="38100">
            <a:solidFill>
              <a:srgbClr val="284B96"/>
            </a:solidFill>
            <a:prstDash val="solid"/>
            <a:tailEnd type="triangle"/>
          </a:ln>
        </p:spPr>
      </p:sp>
      <p:sp>
        <p:nvSpPr>
          <p:cNvPr id="29" name="Shape 27"/>
          <p:cNvSpPr/>
          <p:nvPr/>
        </p:nvSpPr>
        <p:spPr>
          <a:xfrm>
            <a:off x="2148840" y="5605272"/>
            <a:ext cx="7909560" cy="502920"/>
          </a:xfrm>
          <a:prstGeom prst="roundRect">
            <a:avLst/>
          </a:prstGeom>
          <a:solidFill>
            <a:srgbClr val="D1D5EB"/>
          </a:solidFill>
          <a:ln w="12700">
            <a:solidFill>
              <a:srgbClr val="D1D5EB"/>
            </a:solidFill>
            <a:prstDash val="solid"/>
          </a:ln>
        </p:spPr>
      </p:sp>
      <p:sp>
        <p:nvSpPr>
          <p:cNvPr id="30" name="Text 28"/>
          <p:cNvSpPr/>
          <p:nvPr/>
        </p:nvSpPr>
        <p:spPr>
          <a:xfrm>
            <a:off x="2423160" y="5742432"/>
            <a:ext cx="7360920" cy="246888"/>
          </a:xfrm>
          <a:prstGeom prst="rect">
            <a:avLst/>
          </a:prstGeom>
          <a:noFill/>
          <a:ln/>
        </p:spPr>
        <p:txBody>
          <a:bodyPr wrap="square" lIns="0" tIns="0" rIns="0" bIns="0" rtlCol="0" anchor="ctr"/>
          <a:lstStyle/>
          <a:p>
            <a:pPr algn="ctr" indent="0" marL="0">
              <a:buNone/>
            </a:pPr>
            <a:r>
              <a:rPr lang="en-US" sz="1750" b="1" dirty="0">
                <a:solidFill>
                  <a:srgbClr val="284B96"/>
                </a:solidFill>
                <a:latin typeface="Noto Sans SemiCondensed" pitchFamily="34" charset="0"/>
                <a:ea typeface="Noto Sans SemiCondensed" pitchFamily="34" charset="-122"/>
                <a:cs typeface="Noto Sans SemiCondensed" pitchFamily="34" charset="-120"/>
              </a:rPr>
              <a:t>The objective is equal access to safe work, supported by effective controls and reasonable accommodation.</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84B96"/>
        </a:solidFill>
      </p:bgPr>
    </p:bg>
    <p:spTree>
      <p:nvGrpSpPr>
        <p:cNvPr id="1" name=""/>
        <p:cNvGrpSpPr/>
        <p:nvPr/>
      </p:nvGrpSpPr>
      <p:grpSpPr>
        <a:xfrm>
          <a:off x="0" y="0"/>
          <a:ext cx="0" cy="0"/>
          <a:chOff x="0" y="0"/>
          <a:chExt cx="0" cy="0"/>
        </a:xfrm>
      </p:grpSpPr>
      <p:sp>
        <p:nvSpPr>
          <p:cNvPr id="2" name="Text 0"/>
          <p:cNvSpPr/>
          <p:nvPr/>
        </p:nvSpPr>
        <p:spPr>
          <a:xfrm>
            <a:off x="530352" y="256032"/>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VIOLENCE AND HARASSMENT</a:t>
            </a:r>
            <a:endParaRPr lang="en-US" sz="1000" dirty="0"/>
          </a:p>
        </p:txBody>
      </p:sp>
      <p:sp>
        <p:nvSpPr>
          <p:cNvPr id="3" name="Text 1"/>
          <p:cNvSpPr/>
          <p:nvPr/>
        </p:nvSpPr>
        <p:spPr>
          <a:xfrm>
            <a:off x="530352" y="457200"/>
            <a:ext cx="1024128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SemiCondensed" pitchFamily="34" charset="0"/>
                <a:ea typeface="Noto Sans SemiCondensed" pitchFamily="34" charset="-122"/>
                <a:cs typeface="Noto Sans SemiCondensed" pitchFamily="34" charset="-120"/>
              </a:rPr>
              <a:t>A safe workplace must also be a respectful workplace</a:t>
            </a:r>
            <a:endParaRPr lang="en-US" sz="3100" dirty="0"/>
          </a:p>
        </p:txBody>
      </p:sp>
      <p:sp>
        <p:nvSpPr>
          <p:cNvPr id="4" name="Shape 2"/>
          <p:cNvSpPr/>
          <p:nvPr/>
        </p:nvSpPr>
        <p:spPr>
          <a:xfrm>
            <a:off x="0" y="6729984"/>
            <a:ext cx="12191695" cy="128016"/>
          </a:xfrm>
          <a:prstGeom prst="rect">
            <a:avLst/>
          </a:prstGeom>
          <a:solidFill>
            <a:srgbClr val="00A3E0"/>
          </a:solidFill>
          <a:ln w="12700">
            <a:solidFill>
              <a:srgbClr val="00A3E0"/>
            </a:solidFill>
            <a:prstDash val="solid"/>
          </a:ln>
        </p:spPr>
      </p:sp>
      <p:sp>
        <p:nvSpPr>
          <p:cNvPr id="5" name="Text 3"/>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FFFFFF"/>
                </a:solidFill>
                <a:latin typeface="Noto Sans SemiCondensed" pitchFamily="34" charset="0"/>
                <a:ea typeface="Noto Sans SemiCondensed" pitchFamily="34" charset="-122"/>
                <a:cs typeface="Noto Sans SemiCondensed" pitchFamily="34" charset="-120"/>
              </a:rPr>
              <a:t>13</a:t>
            </a:r>
            <a:endParaRPr lang="en-US" sz="900" dirty="0"/>
          </a:p>
        </p:txBody>
      </p:sp>
      <p:sp>
        <p:nvSpPr>
          <p:cNvPr id="6" name="Text 4"/>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7" name="Text 5"/>
          <p:cNvSpPr/>
          <p:nvPr/>
        </p:nvSpPr>
        <p:spPr>
          <a:xfrm>
            <a:off x="731520" y="1325880"/>
            <a:ext cx="1069848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Noto Sans SemiCondensed" pitchFamily="34" charset="0"/>
                <a:ea typeface="Noto Sans SemiCondensed" pitchFamily="34" charset="-122"/>
                <a:cs typeface="Noto Sans SemiCondensed" pitchFamily="34" charset="-120"/>
              </a:rPr>
              <a:t>Violence and harassment - including gender-based violence and harassment - are occupational safety and health risks.</a:t>
            </a:r>
            <a:endParaRPr lang="en-US" sz="2200" dirty="0"/>
          </a:p>
        </p:txBody>
      </p:sp>
      <p:sp>
        <p:nvSpPr>
          <p:cNvPr id="8" name="Shape 6"/>
          <p:cNvSpPr/>
          <p:nvPr/>
        </p:nvSpPr>
        <p:spPr>
          <a:xfrm>
            <a:off x="640080" y="2660904"/>
            <a:ext cx="658368" cy="0"/>
          </a:xfrm>
          <a:prstGeom prst="line">
            <a:avLst/>
          </a:prstGeom>
          <a:noFill/>
          <a:ln w="76200">
            <a:solidFill>
              <a:srgbClr val="00A3E0"/>
            </a:solidFill>
            <a:prstDash val="solid"/>
          </a:ln>
        </p:spPr>
      </p:sp>
      <p:sp>
        <p:nvSpPr>
          <p:cNvPr id="9" name="Text 7"/>
          <p:cNvSpPr/>
          <p:nvPr/>
        </p:nvSpPr>
        <p:spPr>
          <a:xfrm>
            <a:off x="1508760" y="2386584"/>
            <a:ext cx="4480560" cy="292608"/>
          </a:xfrm>
          <a:prstGeom prst="rect">
            <a:avLst/>
          </a:prstGeom>
          <a:noFill/>
          <a:ln/>
        </p:spPr>
        <p:txBody>
          <a:bodyPr wrap="square" lIns="0" tIns="0" rIns="0" bIns="0" rtlCol="0" anchor="ctr"/>
          <a:lstStyle/>
          <a:p>
            <a:pPr indent="0" marL="0">
              <a:buNone/>
            </a:pPr>
            <a:r>
              <a:rPr lang="en-US" sz="2100" b="1" dirty="0">
                <a:solidFill>
                  <a:srgbClr val="FFFFFF"/>
                </a:solidFill>
                <a:latin typeface="Noto Sans ExtraCondensed" pitchFamily="34" charset="0"/>
                <a:ea typeface="Noto Sans ExtraCondensed" pitchFamily="34" charset="-122"/>
                <a:cs typeface="Noto Sans ExtraCondensed" pitchFamily="34" charset="-120"/>
              </a:rPr>
              <a:t>ISOLATED / NIGHT WORK</a:t>
            </a:r>
            <a:endParaRPr lang="en-US" sz="2100" dirty="0"/>
          </a:p>
        </p:txBody>
      </p:sp>
      <p:sp>
        <p:nvSpPr>
          <p:cNvPr id="10" name="Text 8"/>
          <p:cNvSpPr/>
          <p:nvPr/>
        </p:nvSpPr>
        <p:spPr>
          <a:xfrm>
            <a:off x="1508760" y="2788920"/>
            <a:ext cx="4343400" cy="475488"/>
          </a:xfrm>
          <a:prstGeom prst="rect">
            <a:avLst/>
          </a:prstGeom>
          <a:noFill/>
          <a:ln/>
        </p:spPr>
        <p:txBody>
          <a:bodyPr wrap="square" lIns="0" tIns="0" rIns="0" bIns="0" rtlCol="0" anchor="ctr"/>
          <a:lstStyle/>
          <a:p>
            <a:pPr indent="0" marL="0">
              <a:buNone/>
            </a:pPr>
            <a:r>
              <a:rPr lang="en-US" sz="1550" dirty="0">
                <a:solidFill>
                  <a:srgbClr val="D1D5EB"/>
                </a:solidFill>
                <a:latin typeface="Noto Sans SemiCondensed" pitchFamily="34" charset="0"/>
                <a:ea typeface="Noto Sans SemiCondensed" pitchFamily="34" charset="-122"/>
                <a:cs typeface="Noto Sans SemiCondensed" pitchFamily="34" charset="-120"/>
              </a:rPr>
              <a:t>Remote sites, call-outs, transport and emergency response</a:t>
            </a:r>
            <a:endParaRPr lang="en-US" sz="1550" dirty="0"/>
          </a:p>
        </p:txBody>
      </p:sp>
      <p:sp>
        <p:nvSpPr>
          <p:cNvPr id="11" name="Shape 9"/>
          <p:cNvSpPr/>
          <p:nvPr/>
        </p:nvSpPr>
        <p:spPr>
          <a:xfrm>
            <a:off x="6263640" y="2660904"/>
            <a:ext cx="658368" cy="0"/>
          </a:xfrm>
          <a:prstGeom prst="line">
            <a:avLst/>
          </a:prstGeom>
          <a:noFill/>
          <a:ln w="76200">
            <a:solidFill>
              <a:srgbClr val="2E8B78"/>
            </a:solidFill>
            <a:prstDash val="solid"/>
          </a:ln>
        </p:spPr>
      </p:sp>
      <p:sp>
        <p:nvSpPr>
          <p:cNvPr id="12" name="Text 10"/>
          <p:cNvSpPr/>
          <p:nvPr/>
        </p:nvSpPr>
        <p:spPr>
          <a:xfrm>
            <a:off x="7132320" y="2386584"/>
            <a:ext cx="4480560" cy="292608"/>
          </a:xfrm>
          <a:prstGeom prst="rect">
            <a:avLst/>
          </a:prstGeom>
          <a:noFill/>
          <a:ln/>
        </p:spPr>
        <p:txBody>
          <a:bodyPr wrap="square" lIns="0" tIns="0" rIns="0" bIns="0" rtlCol="0" anchor="ctr"/>
          <a:lstStyle/>
          <a:p>
            <a:pPr indent="0" marL="0">
              <a:buNone/>
            </a:pPr>
            <a:r>
              <a:rPr lang="en-US" sz="2100" b="1" dirty="0">
                <a:solidFill>
                  <a:srgbClr val="FFFFFF"/>
                </a:solidFill>
                <a:latin typeface="Noto Sans ExtraCondensed" pitchFamily="34" charset="0"/>
                <a:ea typeface="Noto Sans ExtraCondensed" pitchFamily="34" charset="-122"/>
                <a:cs typeface="Noto Sans ExtraCondensed" pitchFamily="34" charset="-120"/>
              </a:rPr>
              <a:t>ACCOMMODATION / TRAVEL</a:t>
            </a:r>
            <a:endParaRPr lang="en-US" sz="2100" dirty="0"/>
          </a:p>
        </p:txBody>
      </p:sp>
      <p:sp>
        <p:nvSpPr>
          <p:cNvPr id="13" name="Text 11"/>
          <p:cNvSpPr/>
          <p:nvPr/>
        </p:nvSpPr>
        <p:spPr>
          <a:xfrm>
            <a:off x="7132320" y="2788920"/>
            <a:ext cx="4343400" cy="475488"/>
          </a:xfrm>
          <a:prstGeom prst="rect">
            <a:avLst/>
          </a:prstGeom>
          <a:noFill/>
          <a:ln/>
        </p:spPr>
        <p:txBody>
          <a:bodyPr wrap="square" lIns="0" tIns="0" rIns="0" bIns="0" rtlCol="0" anchor="ctr"/>
          <a:lstStyle/>
          <a:p>
            <a:pPr indent="0" marL="0">
              <a:buNone/>
            </a:pPr>
            <a:r>
              <a:rPr lang="en-US" sz="1550" dirty="0">
                <a:solidFill>
                  <a:srgbClr val="D1D5EB"/>
                </a:solidFill>
                <a:latin typeface="Noto Sans SemiCondensed" pitchFamily="34" charset="0"/>
                <a:ea typeface="Noto Sans SemiCondensed" pitchFamily="34" charset="-122"/>
                <a:cs typeface="Noto Sans SemiCondensed" pitchFamily="34" charset="-120"/>
              </a:rPr>
              <a:t>Shared facilities, field missions and contractor interfaces</a:t>
            </a:r>
            <a:endParaRPr lang="en-US" sz="1550" dirty="0"/>
          </a:p>
        </p:txBody>
      </p:sp>
      <p:sp>
        <p:nvSpPr>
          <p:cNvPr id="14" name="Shape 12"/>
          <p:cNvSpPr/>
          <p:nvPr/>
        </p:nvSpPr>
        <p:spPr>
          <a:xfrm>
            <a:off x="640080" y="4078224"/>
            <a:ext cx="658368" cy="0"/>
          </a:xfrm>
          <a:prstGeom prst="line">
            <a:avLst/>
          </a:prstGeom>
          <a:noFill/>
          <a:ln w="76200">
            <a:solidFill>
              <a:srgbClr val="E7A33E"/>
            </a:solidFill>
            <a:prstDash val="solid"/>
          </a:ln>
        </p:spPr>
      </p:sp>
      <p:sp>
        <p:nvSpPr>
          <p:cNvPr id="15" name="Text 13"/>
          <p:cNvSpPr/>
          <p:nvPr/>
        </p:nvSpPr>
        <p:spPr>
          <a:xfrm>
            <a:off x="1508760" y="3803904"/>
            <a:ext cx="4480560" cy="292608"/>
          </a:xfrm>
          <a:prstGeom prst="rect">
            <a:avLst/>
          </a:prstGeom>
          <a:noFill/>
          <a:ln/>
        </p:spPr>
        <p:txBody>
          <a:bodyPr wrap="square" lIns="0" tIns="0" rIns="0" bIns="0" rtlCol="0" anchor="ctr"/>
          <a:lstStyle/>
          <a:p>
            <a:pPr indent="0" marL="0">
              <a:buNone/>
            </a:pPr>
            <a:r>
              <a:rPr lang="en-US" sz="2100" b="1" dirty="0">
                <a:solidFill>
                  <a:srgbClr val="FFFFFF"/>
                </a:solidFill>
                <a:latin typeface="Noto Sans ExtraCondensed" pitchFamily="34" charset="0"/>
                <a:ea typeface="Noto Sans ExtraCondensed" pitchFamily="34" charset="-122"/>
                <a:cs typeface="Noto Sans ExtraCondensed" pitchFamily="34" charset="-120"/>
              </a:rPr>
              <a:t>TEAM CULTURE / POWER</a:t>
            </a:r>
            <a:endParaRPr lang="en-US" sz="2100" dirty="0"/>
          </a:p>
        </p:txBody>
      </p:sp>
      <p:sp>
        <p:nvSpPr>
          <p:cNvPr id="16" name="Text 14"/>
          <p:cNvSpPr/>
          <p:nvPr/>
        </p:nvSpPr>
        <p:spPr>
          <a:xfrm>
            <a:off x="1508760" y="4206240"/>
            <a:ext cx="4343400" cy="475488"/>
          </a:xfrm>
          <a:prstGeom prst="rect">
            <a:avLst/>
          </a:prstGeom>
          <a:noFill/>
          <a:ln/>
        </p:spPr>
        <p:txBody>
          <a:bodyPr wrap="square" lIns="0" tIns="0" rIns="0" bIns="0" rtlCol="0" anchor="ctr"/>
          <a:lstStyle/>
          <a:p>
            <a:pPr indent="0" marL="0">
              <a:buNone/>
            </a:pPr>
            <a:r>
              <a:rPr lang="en-US" sz="1550" dirty="0">
                <a:solidFill>
                  <a:srgbClr val="D1D5EB"/>
                </a:solidFill>
                <a:latin typeface="Noto Sans SemiCondensed" pitchFamily="34" charset="0"/>
                <a:ea typeface="Noto Sans SemiCondensed" pitchFamily="34" charset="-122"/>
                <a:cs typeface="Noto Sans SemiCondensed" pitchFamily="34" charset="-120"/>
              </a:rPr>
              <a:t>Male-dominated teams, apprenticeships, supervision and promotion</a:t>
            </a:r>
            <a:endParaRPr lang="en-US" sz="1550" dirty="0"/>
          </a:p>
        </p:txBody>
      </p:sp>
      <p:sp>
        <p:nvSpPr>
          <p:cNvPr id="17" name="Shape 15"/>
          <p:cNvSpPr/>
          <p:nvPr/>
        </p:nvSpPr>
        <p:spPr>
          <a:xfrm>
            <a:off x="6263640" y="4078224"/>
            <a:ext cx="658368" cy="0"/>
          </a:xfrm>
          <a:prstGeom prst="line">
            <a:avLst/>
          </a:prstGeom>
          <a:noFill/>
          <a:ln w="76200">
            <a:solidFill>
              <a:srgbClr val="C95B61"/>
            </a:solidFill>
            <a:prstDash val="solid"/>
          </a:ln>
        </p:spPr>
      </p:sp>
      <p:sp>
        <p:nvSpPr>
          <p:cNvPr id="18" name="Text 16"/>
          <p:cNvSpPr/>
          <p:nvPr/>
        </p:nvSpPr>
        <p:spPr>
          <a:xfrm>
            <a:off x="7132320" y="3803904"/>
            <a:ext cx="4480560" cy="292608"/>
          </a:xfrm>
          <a:prstGeom prst="rect">
            <a:avLst/>
          </a:prstGeom>
          <a:noFill/>
          <a:ln/>
        </p:spPr>
        <p:txBody>
          <a:bodyPr wrap="square" lIns="0" tIns="0" rIns="0" bIns="0" rtlCol="0" anchor="ctr"/>
          <a:lstStyle/>
          <a:p>
            <a:pPr indent="0" marL="0">
              <a:buNone/>
            </a:pPr>
            <a:r>
              <a:rPr lang="en-US" sz="2100" b="1" dirty="0">
                <a:solidFill>
                  <a:srgbClr val="FFFFFF"/>
                </a:solidFill>
                <a:latin typeface="Noto Sans ExtraCondensed" pitchFamily="34" charset="0"/>
                <a:ea typeface="Noto Sans ExtraCondensed" pitchFamily="34" charset="-122"/>
                <a:cs typeface="Noto Sans ExtraCondensed" pitchFamily="34" charset="-120"/>
              </a:rPr>
              <a:t>DIGITAL COMMUNICATION</a:t>
            </a:r>
            <a:endParaRPr lang="en-US" sz="2100" dirty="0"/>
          </a:p>
        </p:txBody>
      </p:sp>
      <p:sp>
        <p:nvSpPr>
          <p:cNvPr id="19" name="Text 17"/>
          <p:cNvSpPr/>
          <p:nvPr/>
        </p:nvSpPr>
        <p:spPr>
          <a:xfrm>
            <a:off x="7132320" y="4206240"/>
            <a:ext cx="4343400" cy="475488"/>
          </a:xfrm>
          <a:prstGeom prst="rect">
            <a:avLst/>
          </a:prstGeom>
          <a:noFill/>
          <a:ln/>
        </p:spPr>
        <p:txBody>
          <a:bodyPr wrap="square" lIns="0" tIns="0" rIns="0" bIns="0" rtlCol="0" anchor="ctr"/>
          <a:lstStyle/>
          <a:p>
            <a:pPr indent="0" marL="0">
              <a:buNone/>
            </a:pPr>
            <a:r>
              <a:rPr lang="en-US" sz="1550" dirty="0">
                <a:solidFill>
                  <a:srgbClr val="D1D5EB"/>
                </a:solidFill>
                <a:latin typeface="Noto Sans SemiCondensed" pitchFamily="34" charset="0"/>
                <a:ea typeface="Noto Sans SemiCondensed" pitchFamily="34" charset="-122"/>
                <a:cs typeface="Noto Sans SemiCondensed" pitchFamily="34" charset="-120"/>
              </a:rPr>
              <a:t>Messages, monitoring, online abuse and after-hours contact</a:t>
            </a:r>
            <a:endParaRPr lang="en-US" sz="1550" dirty="0"/>
          </a:p>
        </p:txBody>
      </p:sp>
      <p:sp>
        <p:nvSpPr>
          <p:cNvPr id="20" name="Shape 18"/>
          <p:cNvSpPr/>
          <p:nvPr/>
        </p:nvSpPr>
        <p:spPr>
          <a:xfrm>
            <a:off x="960120" y="5376672"/>
            <a:ext cx="10287000" cy="658368"/>
          </a:xfrm>
          <a:prstGeom prst="roundRect">
            <a:avLst/>
          </a:prstGeom>
          <a:solidFill>
            <a:srgbClr val="FFFFFF">
              <a:alpha val="10000"/>
            </a:srgbClr>
          </a:solidFill>
          <a:ln w="15240">
            <a:solidFill>
              <a:srgbClr val="00A3E0"/>
            </a:solidFill>
            <a:prstDash val="solid"/>
          </a:ln>
        </p:spPr>
      </p:sp>
      <p:sp>
        <p:nvSpPr>
          <p:cNvPr id="21" name="Text 19"/>
          <p:cNvSpPr/>
          <p:nvPr/>
        </p:nvSpPr>
        <p:spPr>
          <a:xfrm>
            <a:off x="1234440" y="5577840"/>
            <a:ext cx="9738360" cy="292608"/>
          </a:xfrm>
          <a:prstGeom prst="rect">
            <a:avLst/>
          </a:prstGeom>
          <a:noFill/>
          <a:ln/>
        </p:spPr>
        <p:txBody>
          <a:bodyPr wrap="square" lIns="0" tIns="0" rIns="0" bIns="0" rtlCol="0" anchor="ctr"/>
          <a:lstStyle/>
          <a:p>
            <a:pPr algn="ctr" indent="0" marL="0">
              <a:buNone/>
            </a:pPr>
            <a:r>
              <a:rPr lang="en-US" sz="1650" b="1" dirty="0">
                <a:solidFill>
                  <a:srgbClr val="FFFFFF"/>
                </a:solidFill>
                <a:latin typeface="Noto Sans SemiCondensed" pitchFamily="34" charset="0"/>
                <a:ea typeface="Noto Sans SemiCondensed" pitchFamily="34" charset="-122"/>
                <a:cs typeface="Noto Sans SemiCondensed" pitchFamily="34" charset="-120"/>
              </a:rPr>
              <a:t>Controls: clear standards | risk assessment | trusted reporting | survivor-centred support | accountability | worker participation</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OSH IN TRANSITION</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Modern energy work combines established and emerging hazards</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14</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pic>
        <p:nvPicPr>
          <p:cNvPr id="8" name="Image 0" descr="Renewable energy on the grid">    </p:cNvPr>
          <p:cNvPicPr>
            <a:picLocks noChangeAspect="1"/>
          </p:cNvPicPr>
          <p:nvPr/>
        </p:nvPicPr>
        <p:blipFill>
          <a:blip r:embed="rId1"/>
          <a:srcRect l="0" r="0" t="0" b="0"/>
          <a:stretch/>
        </p:blipFill>
        <p:spPr>
          <a:xfrm>
            <a:off x="594360" y="1234440"/>
            <a:ext cx="11018520" cy="1417320"/>
          </a:xfrm>
          <a:prstGeom prst="rect">
            <a:avLst/>
          </a:prstGeom>
        </p:spPr>
      </p:pic>
      <p:sp>
        <p:nvSpPr>
          <p:cNvPr id="9" name="Shape 6"/>
          <p:cNvSpPr/>
          <p:nvPr/>
        </p:nvSpPr>
        <p:spPr>
          <a:xfrm>
            <a:off x="594360" y="1234440"/>
            <a:ext cx="11018520" cy="1417320"/>
          </a:xfrm>
          <a:prstGeom prst="rect">
            <a:avLst/>
          </a:prstGeom>
          <a:solidFill>
            <a:srgbClr val="284B96">
              <a:alpha val="55000"/>
            </a:srgbClr>
          </a:solidFill>
          <a:ln w="12700">
            <a:solidFill>
              <a:srgbClr val="284B96">
                <a:alpha val="0"/>
              </a:srgbClr>
            </a:solidFill>
            <a:prstDash val="solid"/>
          </a:ln>
        </p:spPr>
      </p:sp>
      <p:sp>
        <p:nvSpPr>
          <p:cNvPr id="10" name="Text 7"/>
          <p:cNvSpPr/>
          <p:nvPr/>
        </p:nvSpPr>
        <p:spPr>
          <a:xfrm>
            <a:off x="1051560" y="1673352"/>
            <a:ext cx="10104120" cy="420624"/>
          </a:xfrm>
          <a:prstGeom prst="rect">
            <a:avLst/>
          </a:prstGeom>
          <a:noFill/>
          <a:ln/>
        </p:spPr>
        <p:txBody>
          <a:bodyPr wrap="square" lIns="0" tIns="0" rIns="0" bIns="0" rtlCol="0" anchor="ctr"/>
          <a:lstStyle/>
          <a:p>
            <a:pPr algn="ctr" indent="0" marL="0">
              <a:buNone/>
            </a:pPr>
            <a:r>
              <a:rPr lang="en-US" sz="2700" b="1" dirty="0">
                <a:solidFill>
                  <a:srgbClr val="FFFFFF"/>
                </a:solidFill>
                <a:latin typeface="Noto Sans ExtraCondensed" pitchFamily="34" charset="0"/>
                <a:ea typeface="Noto Sans ExtraCondensed" pitchFamily="34" charset="-122"/>
                <a:cs typeface="Noto Sans ExtraCondensed" pitchFamily="34" charset="-120"/>
              </a:rPr>
              <a:t>Old hazards do not disappear when the energy system becomes cleaner and smarter.</a:t>
            </a:r>
            <a:endParaRPr lang="en-US" sz="2700" dirty="0"/>
          </a:p>
        </p:txBody>
      </p:sp>
      <p:sp>
        <p:nvSpPr>
          <p:cNvPr id="11" name="Text 8"/>
          <p:cNvSpPr/>
          <p:nvPr/>
        </p:nvSpPr>
        <p:spPr>
          <a:xfrm>
            <a:off x="1051560" y="3063240"/>
            <a:ext cx="4389120" cy="347472"/>
          </a:xfrm>
          <a:prstGeom prst="rect">
            <a:avLst/>
          </a:prstGeom>
          <a:noFill/>
          <a:ln/>
        </p:spPr>
        <p:txBody>
          <a:bodyPr wrap="square" lIns="0" tIns="0" rIns="0" bIns="0" rtlCol="0" anchor="ctr"/>
          <a:lstStyle/>
          <a:p>
            <a:pPr algn="ctr" indent="0" marL="0">
              <a:buNone/>
            </a:pPr>
            <a:r>
              <a:rPr lang="en-US" sz="2400" b="1" dirty="0">
                <a:solidFill>
                  <a:srgbClr val="C95B61"/>
                </a:solidFill>
                <a:latin typeface="Noto Sans ExtraCondensed" pitchFamily="34" charset="0"/>
                <a:ea typeface="Noto Sans ExtraCondensed" pitchFamily="34" charset="-122"/>
                <a:cs typeface="Noto Sans ExtraCondensed" pitchFamily="34" charset="-120"/>
              </a:rPr>
              <a:t>ESTABLISHED</a:t>
            </a:r>
            <a:endParaRPr lang="en-US" sz="2400" dirty="0"/>
          </a:p>
        </p:txBody>
      </p:sp>
      <p:sp>
        <p:nvSpPr>
          <p:cNvPr id="12" name="Text 9"/>
          <p:cNvSpPr/>
          <p:nvPr/>
        </p:nvSpPr>
        <p:spPr>
          <a:xfrm>
            <a:off x="6583680" y="3063240"/>
            <a:ext cx="4389120" cy="347472"/>
          </a:xfrm>
          <a:prstGeom prst="rect">
            <a:avLst/>
          </a:prstGeom>
          <a:noFill/>
          <a:ln/>
        </p:spPr>
        <p:txBody>
          <a:bodyPr wrap="square" lIns="0" tIns="0" rIns="0" bIns="0" rtlCol="0" anchor="ctr"/>
          <a:lstStyle/>
          <a:p>
            <a:pPr algn="ctr" indent="0" marL="0">
              <a:buNone/>
            </a:pPr>
            <a:r>
              <a:rPr lang="en-US" sz="2400" b="1" dirty="0">
                <a:solidFill>
                  <a:srgbClr val="00A3E0"/>
                </a:solidFill>
                <a:latin typeface="Noto Sans ExtraCondensed" pitchFamily="34" charset="0"/>
                <a:ea typeface="Noto Sans ExtraCondensed" pitchFamily="34" charset="-122"/>
                <a:cs typeface="Noto Sans ExtraCondensed" pitchFamily="34" charset="-120"/>
              </a:rPr>
              <a:t>EMERGING OR INTENSIFYING</a:t>
            </a:r>
            <a:endParaRPr lang="en-US" sz="2400" dirty="0"/>
          </a:p>
        </p:txBody>
      </p:sp>
      <p:sp>
        <p:nvSpPr>
          <p:cNvPr id="13" name="Shape 10"/>
          <p:cNvSpPr/>
          <p:nvPr/>
        </p:nvSpPr>
        <p:spPr>
          <a:xfrm>
            <a:off x="1170432" y="3794760"/>
            <a:ext cx="109728" cy="109728"/>
          </a:xfrm>
          <a:prstGeom prst="ellipse">
            <a:avLst/>
          </a:prstGeom>
          <a:solidFill>
            <a:srgbClr val="C95B61"/>
          </a:solidFill>
          <a:ln w="12700">
            <a:solidFill>
              <a:srgbClr val="C95B61"/>
            </a:solidFill>
            <a:prstDash val="solid"/>
          </a:ln>
        </p:spPr>
      </p:sp>
      <p:sp>
        <p:nvSpPr>
          <p:cNvPr id="14" name="Text 11"/>
          <p:cNvSpPr/>
          <p:nvPr/>
        </p:nvSpPr>
        <p:spPr>
          <a:xfrm>
            <a:off x="1371600" y="36758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Electrical energy and arc flash</a:t>
            </a:r>
            <a:endParaRPr lang="en-US" sz="1680" dirty="0"/>
          </a:p>
        </p:txBody>
      </p:sp>
      <p:sp>
        <p:nvSpPr>
          <p:cNvPr id="15" name="Shape 12"/>
          <p:cNvSpPr/>
          <p:nvPr/>
        </p:nvSpPr>
        <p:spPr>
          <a:xfrm>
            <a:off x="1170432" y="4251960"/>
            <a:ext cx="109728" cy="109728"/>
          </a:xfrm>
          <a:prstGeom prst="ellipse">
            <a:avLst/>
          </a:prstGeom>
          <a:solidFill>
            <a:srgbClr val="C95B61"/>
          </a:solidFill>
          <a:ln w="12700">
            <a:solidFill>
              <a:srgbClr val="C95B61"/>
            </a:solidFill>
            <a:prstDash val="solid"/>
          </a:ln>
        </p:spPr>
      </p:sp>
      <p:sp>
        <p:nvSpPr>
          <p:cNvPr id="16" name="Text 13"/>
          <p:cNvSpPr/>
          <p:nvPr/>
        </p:nvSpPr>
        <p:spPr>
          <a:xfrm>
            <a:off x="1371600" y="41330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Work at height and falling objects</a:t>
            </a:r>
            <a:endParaRPr lang="en-US" sz="1680" dirty="0"/>
          </a:p>
        </p:txBody>
      </p:sp>
      <p:sp>
        <p:nvSpPr>
          <p:cNvPr id="17" name="Shape 14"/>
          <p:cNvSpPr/>
          <p:nvPr/>
        </p:nvSpPr>
        <p:spPr>
          <a:xfrm>
            <a:off x="1170432" y="4709160"/>
            <a:ext cx="109728" cy="109728"/>
          </a:xfrm>
          <a:prstGeom prst="ellipse">
            <a:avLst/>
          </a:prstGeom>
          <a:solidFill>
            <a:srgbClr val="C95B61"/>
          </a:solidFill>
          <a:ln w="12700">
            <a:solidFill>
              <a:srgbClr val="C95B61"/>
            </a:solidFill>
            <a:prstDash val="solid"/>
          </a:ln>
        </p:spPr>
      </p:sp>
      <p:sp>
        <p:nvSpPr>
          <p:cNvPr id="18" name="Text 15"/>
          <p:cNvSpPr/>
          <p:nvPr/>
        </p:nvSpPr>
        <p:spPr>
          <a:xfrm>
            <a:off x="1371600" y="45902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Machinery, lifting and vehicles</a:t>
            </a:r>
            <a:endParaRPr lang="en-US" sz="1680" dirty="0"/>
          </a:p>
        </p:txBody>
      </p:sp>
      <p:sp>
        <p:nvSpPr>
          <p:cNvPr id="19" name="Shape 16"/>
          <p:cNvSpPr/>
          <p:nvPr/>
        </p:nvSpPr>
        <p:spPr>
          <a:xfrm>
            <a:off x="1170432" y="5166360"/>
            <a:ext cx="109728" cy="109728"/>
          </a:xfrm>
          <a:prstGeom prst="ellipse">
            <a:avLst/>
          </a:prstGeom>
          <a:solidFill>
            <a:srgbClr val="C95B61"/>
          </a:solidFill>
          <a:ln w="12700">
            <a:solidFill>
              <a:srgbClr val="C95B61"/>
            </a:solidFill>
            <a:prstDash val="solid"/>
          </a:ln>
        </p:spPr>
      </p:sp>
      <p:sp>
        <p:nvSpPr>
          <p:cNvPr id="20" name="Text 17"/>
          <p:cNvSpPr/>
          <p:nvPr/>
        </p:nvSpPr>
        <p:spPr>
          <a:xfrm>
            <a:off x="1371600" y="50474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Fire, explosion and confined spaces</a:t>
            </a:r>
            <a:endParaRPr lang="en-US" sz="1680" dirty="0"/>
          </a:p>
        </p:txBody>
      </p:sp>
      <p:sp>
        <p:nvSpPr>
          <p:cNvPr id="21" name="Shape 18"/>
          <p:cNvSpPr/>
          <p:nvPr/>
        </p:nvSpPr>
        <p:spPr>
          <a:xfrm>
            <a:off x="1170432" y="5623560"/>
            <a:ext cx="109728" cy="109728"/>
          </a:xfrm>
          <a:prstGeom prst="ellipse">
            <a:avLst/>
          </a:prstGeom>
          <a:solidFill>
            <a:srgbClr val="C95B61"/>
          </a:solidFill>
          <a:ln w="12700">
            <a:solidFill>
              <a:srgbClr val="C95B61"/>
            </a:solidFill>
            <a:prstDash val="solid"/>
          </a:ln>
        </p:spPr>
      </p:sp>
      <p:sp>
        <p:nvSpPr>
          <p:cNvPr id="22" name="Text 19"/>
          <p:cNvSpPr/>
          <p:nvPr/>
        </p:nvSpPr>
        <p:spPr>
          <a:xfrm>
            <a:off x="1371600" y="55046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Dusts, chemicals, noise and vibration</a:t>
            </a:r>
            <a:endParaRPr lang="en-US" sz="1680" dirty="0"/>
          </a:p>
        </p:txBody>
      </p:sp>
      <p:sp>
        <p:nvSpPr>
          <p:cNvPr id="23" name="Shape 20"/>
          <p:cNvSpPr/>
          <p:nvPr/>
        </p:nvSpPr>
        <p:spPr>
          <a:xfrm>
            <a:off x="6693408" y="3794760"/>
            <a:ext cx="109728" cy="109728"/>
          </a:xfrm>
          <a:prstGeom prst="ellipse">
            <a:avLst/>
          </a:prstGeom>
          <a:solidFill>
            <a:srgbClr val="00A3E0"/>
          </a:solidFill>
          <a:ln w="12700">
            <a:solidFill>
              <a:srgbClr val="00A3E0"/>
            </a:solidFill>
            <a:prstDash val="solid"/>
          </a:ln>
        </p:spPr>
      </p:sp>
      <p:sp>
        <p:nvSpPr>
          <p:cNvPr id="24" name="Text 21"/>
          <p:cNvSpPr/>
          <p:nvPr/>
        </p:nvSpPr>
        <p:spPr>
          <a:xfrm>
            <a:off x="6894576" y="36758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Heat, extreme weather and disaster response</a:t>
            </a:r>
            <a:endParaRPr lang="en-US" sz="1680" dirty="0"/>
          </a:p>
        </p:txBody>
      </p:sp>
      <p:sp>
        <p:nvSpPr>
          <p:cNvPr id="25" name="Shape 22"/>
          <p:cNvSpPr/>
          <p:nvPr/>
        </p:nvSpPr>
        <p:spPr>
          <a:xfrm>
            <a:off x="6693408" y="4251960"/>
            <a:ext cx="109728" cy="109728"/>
          </a:xfrm>
          <a:prstGeom prst="ellipse">
            <a:avLst/>
          </a:prstGeom>
          <a:solidFill>
            <a:srgbClr val="00A3E0"/>
          </a:solidFill>
          <a:ln w="12700">
            <a:solidFill>
              <a:srgbClr val="00A3E0"/>
            </a:solidFill>
            <a:prstDash val="solid"/>
          </a:ln>
        </p:spPr>
      </p:sp>
      <p:sp>
        <p:nvSpPr>
          <p:cNvPr id="26" name="Text 23"/>
          <p:cNvSpPr/>
          <p:nvPr/>
        </p:nvSpPr>
        <p:spPr>
          <a:xfrm>
            <a:off x="6894576" y="41330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Battery, hydrogen and new material risks</a:t>
            </a:r>
            <a:endParaRPr lang="en-US" sz="1680" dirty="0"/>
          </a:p>
        </p:txBody>
      </p:sp>
      <p:sp>
        <p:nvSpPr>
          <p:cNvPr id="27" name="Shape 24"/>
          <p:cNvSpPr/>
          <p:nvPr/>
        </p:nvSpPr>
        <p:spPr>
          <a:xfrm>
            <a:off x="6693408" y="4709160"/>
            <a:ext cx="109728" cy="109728"/>
          </a:xfrm>
          <a:prstGeom prst="ellipse">
            <a:avLst/>
          </a:prstGeom>
          <a:solidFill>
            <a:srgbClr val="00A3E0"/>
          </a:solidFill>
          <a:ln w="12700">
            <a:solidFill>
              <a:srgbClr val="00A3E0"/>
            </a:solidFill>
            <a:prstDash val="solid"/>
          </a:ln>
        </p:spPr>
      </p:sp>
      <p:sp>
        <p:nvSpPr>
          <p:cNvPr id="28" name="Text 25"/>
          <p:cNvSpPr/>
          <p:nvPr/>
        </p:nvSpPr>
        <p:spPr>
          <a:xfrm>
            <a:off x="6894576" y="45902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Cyber-physical failures and remote control</a:t>
            </a:r>
            <a:endParaRPr lang="en-US" sz="1680" dirty="0"/>
          </a:p>
        </p:txBody>
      </p:sp>
      <p:sp>
        <p:nvSpPr>
          <p:cNvPr id="29" name="Shape 26"/>
          <p:cNvSpPr/>
          <p:nvPr/>
        </p:nvSpPr>
        <p:spPr>
          <a:xfrm>
            <a:off x="6693408" y="5166360"/>
            <a:ext cx="109728" cy="109728"/>
          </a:xfrm>
          <a:prstGeom prst="ellipse">
            <a:avLst/>
          </a:prstGeom>
          <a:solidFill>
            <a:srgbClr val="00A3E0"/>
          </a:solidFill>
          <a:ln w="12700">
            <a:solidFill>
              <a:srgbClr val="00A3E0"/>
            </a:solidFill>
            <a:prstDash val="solid"/>
          </a:ln>
        </p:spPr>
      </p:sp>
      <p:sp>
        <p:nvSpPr>
          <p:cNvPr id="30" name="Text 27"/>
          <p:cNvSpPr/>
          <p:nvPr/>
        </p:nvSpPr>
        <p:spPr>
          <a:xfrm>
            <a:off x="6894576" y="50474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Automation bias, surveillance and work intensification</a:t>
            </a:r>
            <a:endParaRPr lang="en-US" sz="1680" dirty="0"/>
          </a:p>
        </p:txBody>
      </p:sp>
      <p:sp>
        <p:nvSpPr>
          <p:cNvPr id="31" name="Shape 28"/>
          <p:cNvSpPr/>
          <p:nvPr/>
        </p:nvSpPr>
        <p:spPr>
          <a:xfrm>
            <a:off x="6693408" y="5623560"/>
            <a:ext cx="109728" cy="109728"/>
          </a:xfrm>
          <a:prstGeom prst="ellipse">
            <a:avLst/>
          </a:prstGeom>
          <a:solidFill>
            <a:srgbClr val="00A3E0"/>
          </a:solidFill>
          <a:ln w="12700">
            <a:solidFill>
              <a:srgbClr val="00A3E0"/>
            </a:solidFill>
            <a:prstDash val="solid"/>
          </a:ln>
        </p:spPr>
      </p:sp>
      <p:sp>
        <p:nvSpPr>
          <p:cNvPr id="32" name="Text 29"/>
          <p:cNvSpPr/>
          <p:nvPr/>
        </p:nvSpPr>
        <p:spPr>
          <a:xfrm>
            <a:off x="6894576" y="5504688"/>
            <a:ext cx="4325112" cy="420624"/>
          </a:xfrm>
          <a:prstGeom prst="rect">
            <a:avLst/>
          </a:prstGeom>
          <a:noFill/>
          <a:ln/>
        </p:spPr>
        <p:txBody>
          <a:bodyPr wrap="square" lIns="127" tIns="127" rIns="127" bIns="127" rtlCol="0" anchor="ctr"/>
          <a:lstStyle/>
          <a:p>
            <a:pPr indent="0" marL="0">
              <a:buNone/>
            </a:pPr>
            <a:r>
              <a:rPr lang="en-US" sz="1680" dirty="0">
                <a:solidFill>
                  <a:srgbClr val="2B2A29"/>
                </a:solidFill>
                <a:latin typeface="Noto Sans SemiCondensed" pitchFamily="34" charset="0"/>
                <a:ea typeface="Noto Sans SemiCondensed" pitchFamily="34" charset="-122"/>
                <a:cs typeface="Noto Sans SemiCondensed" pitchFamily="34" charset="-120"/>
              </a:rPr>
              <a:t>Skill mismatch and complex contractor interfaces</a:t>
            </a:r>
            <a:endParaRPr lang="en-US" sz="1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CLIMATE AND OSH</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Climate change is already changing the risk profile</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15</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pic>
        <p:nvPicPr>
          <p:cNvPr id="8" name="Image 0" descr="Electrical substation">    </p:cNvPr>
          <p:cNvPicPr>
            <a:picLocks noChangeAspect="1"/>
          </p:cNvPicPr>
          <p:nvPr/>
        </p:nvPicPr>
        <p:blipFill>
          <a:blip r:embed="rId1"/>
          <a:srcRect l="0" r="0" t="0" b="0"/>
          <a:stretch/>
        </p:blipFill>
        <p:spPr>
          <a:xfrm>
            <a:off x="594360" y="1234440"/>
            <a:ext cx="4800600" cy="5074920"/>
          </a:xfrm>
          <a:prstGeom prst="rect">
            <a:avLst/>
          </a:prstGeom>
        </p:spPr>
      </p:pic>
      <p:sp>
        <p:nvSpPr>
          <p:cNvPr id="9" name="Shape 6"/>
          <p:cNvSpPr/>
          <p:nvPr/>
        </p:nvSpPr>
        <p:spPr>
          <a:xfrm>
            <a:off x="5806440" y="1389888"/>
            <a:ext cx="512064" cy="512064"/>
          </a:xfrm>
          <a:prstGeom prst="ellipse">
            <a:avLst/>
          </a:prstGeom>
          <a:solidFill>
            <a:srgbClr val="C95B61"/>
          </a:solidFill>
          <a:ln w="12700">
            <a:solidFill>
              <a:srgbClr val="C95B61"/>
            </a:solidFill>
            <a:prstDash val="solid"/>
          </a:ln>
        </p:spPr>
      </p:sp>
      <p:sp>
        <p:nvSpPr>
          <p:cNvPr id="10" name="Text 7"/>
          <p:cNvSpPr/>
          <p:nvPr/>
        </p:nvSpPr>
        <p:spPr>
          <a:xfrm>
            <a:off x="6519672" y="1408176"/>
            <a:ext cx="1965960" cy="256032"/>
          </a:xfrm>
          <a:prstGeom prst="rect">
            <a:avLst/>
          </a:prstGeom>
          <a:noFill/>
          <a:ln/>
        </p:spPr>
        <p:txBody>
          <a:bodyPr wrap="square" lIns="0" tIns="0" rIns="0" bIns="0" rtlCol="0" anchor="ctr"/>
          <a:lstStyle/>
          <a:p>
            <a:pPr indent="0" marL="0">
              <a:buNone/>
            </a:pPr>
            <a:r>
              <a:rPr lang="en-US" sz="1800" b="1" dirty="0">
                <a:solidFill>
                  <a:srgbClr val="C95B61"/>
                </a:solidFill>
                <a:latin typeface="Noto Sans ExtraCondensed" pitchFamily="34" charset="0"/>
                <a:ea typeface="Noto Sans ExtraCondensed" pitchFamily="34" charset="-122"/>
                <a:cs typeface="Noto Sans ExtraCondensed" pitchFamily="34" charset="-120"/>
              </a:rPr>
              <a:t>HEAT</a:t>
            </a:r>
            <a:endParaRPr lang="en-US" sz="1800" dirty="0"/>
          </a:p>
        </p:txBody>
      </p:sp>
      <p:sp>
        <p:nvSpPr>
          <p:cNvPr id="11" name="Text 8"/>
          <p:cNvSpPr/>
          <p:nvPr/>
        </p:nvSpPr>
        <p:spPr>
          <a:xfrm>
            <a:off x="6519672" y="1737360"/>
            <a:ext cx="2011680" cy="658368"/>
          </a:xfrm>
          <a:prstGeom prst="rect">
            <a:avLst/>
          </a:prstGeom>
          <a:noFill/>
          <a:ln/>
        </p:spPr>
        <p:txBody>
          <a:bodyPr wrap="square" lIns="0" tIns="0" rIns="0" bIns="0" rtlCol="0" anchor="ctr"/>
          <a:lstStyle/>
          <a:p>
            <a:pPr indent="0" marL="0">
              <a:buNone/>
            </a:pPr>
            <a:r>
              <a:rPr lang="en-US" sz="1370" dirty="0">
                <a:solidFill>
                  <a:srgbClr val="2B2A29"/>
                </a:solidFill>
                <a:latin typeface="Noto Sans SemiCondensed" pitchFamily="34" charset="0"/>
                <a:ea typeface="Noto Sans SemiCondensed" pitchFamily="34" charset="-122"/>
                <a:cs typeface="Noto Sans SemiCondensed" pitchFamily="34" charset="-120"/>
              </a:rPr>
              <a:t>Heat strain, fatigue, dehydration and reduced concentration</a:t>
            </a:r>
            <a:endParaRPr lang="en-US" sz="1370" dirty="0"/>
          </a:p>
        </p:txBody>
      </p:sp>
      <p:sp>
        <p:nvSpPr>
          <p:cNvPr id="12" name="Shape 9"/>
          <p:cNvSpPr/>
          <p:nvPr/>
        </p:nvSpPr>
        <p:spPr>
          <a:xfrm>
            <a:off x="8595360" y="1389888"/>
            <a:ext cx="512064" cy="512064"/>
          </a:xfrm>
          <a:prstGeom prst="ellipse">
            <a:avLst/>
          </a:prstGeom>
          <a:solidFill>
            <a:srgbClr val="E7A33E"/>
          </a:solidFill>
          <a:ln w="12700">
            <a:solidFill>
              <a:srgbClr val="E7A33E"/>
            </a:solidFill>
            <a:prstDash val="solid"/>
          </a:ln>
        </p:spPr>
      </p:sp>
      <p:sp>
        <p:nvSpPr>
          <p:cNvPr id="13" name="Text 10"/>
          <p:cNvSpPr/>
          <p:nvPr/>
        </p:nvSpPr>
        <p:spPr>
          <a:xfrm>
            <a:off x="9308592" y="1408176"/>
            <a:ext cx="1965960" cy="256032"/>
          </a:xfrm>
          <a:prstGeom prst="rect">
            <a:avLst/>
          </a:prstGeom>
          <a:noFill/>
          <a:ln/>
        </p:spPr>
        <p:txBody>
          <a:bodyPr wrap="square" lIns="0" tIns="0" rIns="0" bIns="0" rtlCol="0" anchor="ctr"/>
          <a:lstStyle/>
          <a:p>
            <a:pPr indent="0" marL="0">
              <a:buNone/>
            </a:pPr>
            <a:r>
              <a:rPr lang="en-US" sz="1800" b="1" dirty="0">
                <a:solidFill>
                  <a:srgbClr val="E7A33E"/>
                </a:solidFill>
                <a:latin typeface="Noto Sans ExtraCondensed" pitchFamily="34" charset="0"/>
                <a:ea typeface="Noto Sans ExtraCondensed" pitchFamily="34" charset="-122"/>
                <a:cs typeface="Noto Sans ExtraCondensed" pitchFamily="34" charset="-120"/>
              </a:rPr>
              <a:t>UV</a:t>
            </a:r>
            <a:endParaRPr lang="en-US" sz="1800" dirty="0"/>
          </a:p>
        </p:txBody>
      </p:sp>
      <p:sp>
        <p:nvSpPr>
          <p:cNvPr id="14" name="Text 11"/>
          <p:cNvSpPr/>
          <p:nvPr/>
        </p:nvSpPr>
        <p:spPr>
          <a:xfrm>
            <a:off x="9308592" y="1737360"/>
            <a:ext cx="2011680" cy="658368"/>
          </a:xfrm>
          <a:prstGeom prst="rect">
            <a:avLst/>
          </a:prstGeom>
          <a:noFill/>
          <a:ln/>
        </p:spPr>
        <p:txBody>
          <a:bodyPr wrap="square" lIns="0" tIns="0" rIns="0" bIns="0" rtlCol="0" anchor="ctr"/>
          <a:lstStyle/>
          <a:p>
            <a:pPr indent="0" marL="0">
              <a:buNone/>
            </a:pPr>
            <a:r>
              <a:rPr lang="en-US" sz="1370" dirty="0">
                <a:solidFill>
                  <a:srgbClr val="2B2A29"/>
                </a:solidFill>
                <a:latin typeface="Noto Sans SemiCondensed" pitchFamily="34" charset="0"/>
                <a:ea typeface="Noto Sans SemiCondensed" pitchFamily="34" charset="-122"/>
                <a:cs typeface="Noto Sans SemiCondensed" pitchFamily="34" charset="-120"/>
              </a:rPr>
              <a:t>Skin and eye damage in outdoor work</a:t>
            </a:r>
            <a:endParaRPr lang="en-US" sz="1370" dirty="0"/>
          </a:p>
        </p:txBody>
      </p:sp>
      <p:sp>
        <p:nvSpPr>
          <p:cNvPr id="15" name="Shape 12"/>
          <p:cNvSpPr/>
          <p:nvPr/>
        </p:nvSpPr>
        <p:spPr>
          <a:xfrm>
            <a:off x="5806440" y="2825496"/>
            <a:ext cx="512064" cy="512064"/>
          </a:xfrm>
          <a:prstGeom prst="ellipse">
            <a:avLst/>
          </a:prstGeom>
          <a:solidFill>
            <a:srgbClr val="00A3E0"/>
          </a:solidFill>
          <a:ln w="12700">
            <a:solidFill>
              <a:srgbClr val="00A3E0"/>
            </a:solidFill>
            <a:prstDash val="solid"/>
          </a:ln>
        </p:spPr>
      </p:sp>
      <p:sp>
        <p:nvSpPr>
          <p:cNvPr id="16" name="Text 13"/>
          <p:cNvSpPr/>
          <p:nvPr/>
        </p:nvSpPr>
        <p:spPr>
          <a:xfrm>
            <a:off x="6519672" y="2843784"/>
            <a:ext cx="1965960" cy="256032"/>
          </a:xfrm>
          <a:prstGeom prst="rect">
            <a:avLst/>
          </a:prstGeom>
          <a:noFill/>
          <a:ln/>
        </p:spPr>
        <p:txBody>
          <a:bodyPr wrap="square" lIns="0" tIns="0" rIns="0" bIns="0" rtlCol="0" anchor="ctr"/>
          <a:lstStyle/>
          <a:p>
            <a:pPr indent="0" marL="0">
              <a:buNone/>
            </a:pPr>
            <a:r>
              <a:rPr lang="en-US" sz="1800" b="1" dirty="0">
                <a:solidFill>
                  <a:srgbClr val="00A3E0"/>
                </a:solidFill>
                <a:latin typeface="Noto Sans ExtraCondensed" pitchFamily="34" charset="0"/>
                <a:ea typeface="Noto Sans ExtraCondensed" pitchFamily="34" charset="-122"/>
                <a:cs typeface="Noto Sans ExtraCondensed" pitchFamily="34" charset="-120"/>
              </a:rPr>
              <a:t>EXTREME WEATHER</a:t>
            </a:r>
            <a:endParaRPr lang="en-US" sz="1800" dirty="0"/>
          </a:p>
        </p:txBody>
      </p:sp>
      <p:sp>
        <p:nvSpPr>
          <p:cNvPr id="17" name="Text 14"/>
          <p:cNvSpPr/>
          <p:nvPr/>
        </p:nvSpPr>
        <p:spPr>
          <a:xfrm>
            <a:off x="6519672" y="3172968"/>
            <a:ext cx="2011680" cy="658368"/>
          </a:xfrm>
          <a:prstGeom prst="rect">
            <a:avLst/>
          </a:prstGeom>
          <a:noFill/>
          <a:ln/>
        </p:spPr>
        <p:txBody>
          <a:bodyPr wrap="square" lIns="0" tIns="0" rIns="0" bIns="0" rtlCol="0" anchor="ctr"/>
          <a:lstStyle/>
          <a:p>
            <a:pPr indent="0" marL="0">
              <a:buNone/>
            </a:pPr>
            <a:r>
              <a:rPr lang="en-US" sz="1370" dirty="0">
                <a:solidFill>
                  <a:srgbClr val="2B2A29"/>
                </a:solidFill>
                <a:latin typeface="Noto Sans SemiCondensed" pitchFamily="34" charset="0"/>
                <a:ea typeface="Noto Sans SemiCondensed" pitchFamily="34" charset="-122"/>
                <a:cs typeface="Noto Sans SemiCondensed" pitchFamily="34" charset="-120"/>
              </a:rPr>
              <a:t>Storm, flood, ice, wildfire and emergency restoration</a:t>
            </a:r>
            <a:endParaRPr lang="en-US" sz="1370" dirty="0"/>
          </a:p>
        </p:txBody>
      </p:sp>
      <p:sp>
        <p:nvSpPr>
          <p:cNvPr id="18" name="Shape 15"/>
          <p:cNvSpPr/>
          <p:nvPr/>
        </p:nvSpPr>
        <p:spPr>
          <a:xfrm>
            <a:off x="8595360" y="2825496"/>
            <a:ext cx="512064" cy="512064"/>
          </a:xfrm>
          <a:prstGeom prst="ellipse">
            <a:avLst/>
          </a:prstGeom>
          <a:solidFill>
            <a:srgbClr val="898989"/>
          </a:solidFill>
          <a:ln w="12700">
            <a:solidFill>
              <a:srgbClr val="898989"/>
            </a:solidFill>
            <a:prstDash val="solid"/>
          </a:ln>
        </p:spPr>
      </p:sp>
      <p:sp>
        <p:nvSpPr>
          <p:cNvPr id="19" name="Text 16"/>
          <p:cNvSpPr/>
          <p:nvPr/>
        </p:nvSpPr>
        <p:spPr>
          <a:xfrm>
            <a:off x="9308592" y="2843784"/>
            <a:ext cx="1965960" cy="256032"/>
          </a:xfrm>
          <a:prstGeom prst="rect">
            <a:avLst/>
          </a:prstGeom>
          <a:noFill/>
          <a:ln/>
        </p:spPr>
        <p:txBody>
          <a:bodyPr wrap="square" lIns="0" tIns="0" rIns="0" bIns="0" rtlCol="0" anchor="ctr"/>
          <a:lstStyle/>
          <a:p>
            <a:pPr indent="0" marL="0">
              <a:buNone/>
            </a:pPr>
            <a:r>
              <a:rPr lang="en-US" sz="1800" b="1" dirty="0">
                <a:solidFill>
                  <a:srgbClr val="898989"/>
                </a:solidFill>
                <a:latin typeface="Noto Sans ExtraCondensed" pitchFamily="34" charset="0"/>
                <a:ea typeface="Noto Sans ExtraCondensed" pitchFamily="34" charset="-122"/>
                <a:cs typeface="Noto Sans ExtraCondensed" pitchFamily="34" charset="-120"/>
              </a:rPr>
              <a:t>AIR QUALITY</a:t>
            </a:r>
            <a:endParaRPr lang="en-US" sz="1800" dirty="0"/>
          </a:p>
        </p:txBody>
      </p:sp>
      <p:sp>
        <p:nvSpPr>
          <p:cNvPr id="20" name="Text 17"/>
          <p:cNvSpPr/>
          <p:nvPr/>
        </p:nvSpPr>
        <p:spPr>
          <a:xfrm>
            <a:off x="9308592" y="3172968"/>
            <a:ext cx="2011680" cy="658368"/>
          </a:xfrm>
          <a:prstGeom prst="rect">
            <a:avLst/>
          </a:prstGeom>
          <a:noFill/>
          <a:ln/>
        </p:spPr>
        <p:txBody>
          <a:bodyPr wrap="square" lIns="0" tIns="0" rIns="0" bIns="0" rtlCol="0" anchor="ctr"/>
          <a:lstStyle/>
          <a:p>
            <a:pPr indent="0" marL="0">
              <a:buNone/>
            </a:pPr>
            <a:r>
              <a:rPr lang="en-US" sz="1370" dirty="0">
                <a:solidFill>
                  <a:srgbClr val="2B2A29"/>
                </a:solidFill>
                <a:latin typeface="Noto Sans SemiCondensed" pitchFamily="34" charset="0"/>
                <a:ea typeface="Noto Sans SemiCondensed" pitchFamily="34" charset="-122"/>
                <a:cs typeface="Noto Sans SemiCondensed" pitchFamily="34" charset="-120"/>
              </a:rPr>
              <a:t>Smoke, dust and pollution during normal and emergency work</a:t>
            </a:r>
            <a:endParaRPr lang="en-US" sz="1370" dirty="0"/>
          </a:p>
        </p:txBody>
      </p:sp>
      <p:sp>
        <p:nvSpPr>
          <p:cNvPr id="21" name="Shape 18"/>
          <p:cNvSpPr/>
          <p:nvPr/>
        </p:nvSpPr>
        <p:spPr>
          <a:xfrm>
            <a:off x="5806440" y="4261104"/>
            <a:ext cx="512064" cy="512064"/>
          </a:xfrm>
          <a:prstGeom prst="ellipse">
            <a:avLst/>
          </a:prstGeom>
          <a:solidFill>
            <a:srgbClr val="2E8B78"/>
          </a:solidFill>
          <a:ln w="12700">
            <a:solidFill>
              <a:srgbClr val="2E8B78"/>
            </a:solidFill>
            <a:prstDash val="solid"/>
          </a:ln>
        </p:spPr>
      </p:sp>
      <p:sp>
        <p:nvSpPr>
          <p:cNvPr id="22" name="Text 19"/>
          <p:cNvSpPr/>
          <p:nvPr/>
        </p:nvSpPr>
        <p:spPr>
          <a:xfrm>
            <a:off x="6519672" y="4279392"/>
            <a:ext cx="1965960" cy="256032"/>
          </a:xfrm>
          <a:prstGeom prst="rect">
            <a:avLst/>
          </a:prstGeom>
          <a:noFill/>
          <a:ln/>
        </p:spPr>
        <p:txBody>
          <a:bodyPr wrap="square" lIns="0" tIns="0" rIns="0" bIns="0" rtlCol="0" anchor="ctr"/>
          <a:lstStyle/>
          <a:p>
            <a:pPr indent="0" marL="0">
              <a:buNone/>
            </a:pPr>
            <a:r>
              <a:rPr lang="en-US" sz="1800" b="1" dirty="0">
                <a:solidFill>
                  <a:srgbClr val="2E8B78"/>
                </a:solidFill>
                <a:latin typeface="Noto Sans ExtraCondensed" pitchFamily="34" charset="0"/>
                <a:ea typeface="Noto Sans ExtraCondensed" pitchFamily="34" charset="-122"/>
                <a:cs typeface="Noto Sans ExtraCondensed" pitchFamily="34" charset="-120"/>
              </a:rPr>
              <a:t>VECTOR / BIOLOGICAL</a:t>
            </a:r>
            <a:endParaRPr lang="en-US" sz="1800" dirty="0"/>
          </a:p>
        </p:txBody>
      </p:sp>
      <p:sp>
        <p:nvSpPr>
          <p:cNvPr id="23" name="Text 20"/>
          <p:cNvSpPr/>
          <p:nvPr/>
        </p:nvSpPr>
        <p:spPr>
          <a:xfrm>
            <a:off x="6519672" y="4608576"/>
            <a:ext cx="2011680" cy="658368"/>
          </a:xfrm>
          <a:prstGeom prst="rect">
            <a:avLst/>
          </a:prstGeom>
          <a:noFill/>
          <a:ln/>
        </p:spPr>
        <p:txBody>
          <a:bodyPr wrap="square" lIns="0" tIns="0" rIns="0" bIns="0" rtlCol="0" anchor="ctr"/>
          <a:lstStyle/>
          <a:p>
            <a:pPr indent="0" marL="0">
              <a:buNone/>
            </a:pPr>
            <a:r>
              <a:rPr lang="en-US" sz="1370" dirty="0">
                <a:solidFill>
                  <a:srgbClr val="2B2A29"/>
                </a:solidFill>
                <a:latin typeface="Noto Sans SemiCondensed" pitchFamily="34" charset="0"/>
                <a:ea typeface="Noto Sans SemiCondensed" pitchFamily="34" charset="-122"/>
                <a:cs typeface="Noto Sans SemiCondensed" pitchFamily="34" charset="-120"/>
              </a:rPr>
              <a:t>Changing geographic and seasonal exposure</a:t>
            </a:r>
            <a:endParaRPr lang="en-US" sz="1370" dirty="0"/>
          </a:p>
        </p:txBody>
      </p:sp>
      <p:sp>
        <p:nvSpPr>
          <p:cNvPr id="24" name="Shape 21"/>
          <p:cNvSpPr/>
          <p:nvPr/>
        </p:nvSpPr>
        <p:spPr>
          <a:xfrm>
            <a:off x="8595360" y="4261104"/>
            <a:ext cx="512064" cy="512064"/>
          </a:xfrm>
          <a:prstGeom prst="ellipse">
            <a:avLst/>
          </a:prstGeom>
          <a:solidFill>
            <a:srgbClr val="6B5AA6"/>
          </a:solidFill>
          <a:ln w="12700">
            <a:solidFill>
              <a:srgbClr val="6B5AA6"/>
            </a:solidFill>
            <a:prstDash val="solid"/>
          </a:ln>
        </p:spPr>
      </p:sp>
      <p:sp>
        <p:nvSpPr>
          <p:cNvPr id="25" name="Text 22"/>
          <p:cNvSpPr/>
          <p:nvPr/>
        </p:nvSpPr>
        <p:spPr>
          <a:xfrm>
            <a:off x="9308592" y="4279392"/>
            <a:ext cx="1965960" cy="256032"/>
          </a:xfrm>
          <a:prstGeom prst="rect">
            <a:avLst/>
          </a:prstGeom>
          <a:noFill/>
          <a:ln/>
        </p:spPr>
        <p:txBody>
          <a:bodyPr wrap="square" lIns="0" tIns="0" rIns="0" bIns="0" rtlCol="0" anchor="ctr"/>
          <a:lstStyle/>
          <a:p>
            <a:pPr indent="0" marL="0">
              <a:buNone/>
            </a:pPr>
            <a:r>
              <a:rPr lang="en-US" sz="1800" b="1" dirty="0">
                <a:solidFill>
                  <a:srgbClr val="6B5AA6"/>
                </a:solidFill>
                <a:latin typeface="Noto Sans ExtraCondensed" pitchFamily="34" charset="0"/>
                <a:ea typeface="Noto Sans ExtraCondensed" pitchFamily="34" charset="-122"/>
                <a:cs typeface="Noto Sans ExtraCondensed" pitchFamily="34" charset="-120"/>
              </a:rPr>
              <a:t>MENTAL HEALTH</a:t>
            </a:r>
            <a:endParaRPr lang="en-US" sz="1800" dirty="0"/>
          </a:p>
        </p:txBody>
      </p:sp>
      <p:sp>
        <p:nvSpPr>
          <p:cNvPr id="26" name="Text 23"/>
          <p:cNvSpPr/>
          <p:nvPr/>
        </p:nvSpPr>
        <p:spPr>
          <a:xfrm>
            <a:off x="9308592" y="4608576"/>
            <a:ext cx="2011680" cy="658368"/>
          </a:xfrm>
          <a:prstGeom prst="rect">
            <a:avLst/>
          </a:prstGeom>
          <a:noFill/>
          <a:ln/>
        </p:spPr>
        <p:txBody>
          <a:bodyPr wrap="square" lIns="0" tIns="0" rIns="0" bIns="0" rtlCol="0" anchor="ctr"/>
          <a:lstStyle/>
          <a:p>
            <a:pPr indent="0" marL="0">
              <a:buNone/>
            </a:pPr>
            <a:r>
              <a:rPr lang="en-US" sz="1370" dirty="0">
                <a:solidFill>
                  <a:srgbClr val="2B2A29"/>
                </a:solidFill>
                <a:latin typeface="Noto Sans SemiCondensed" pitchFamily="34" charset="0"/>
                <a:ea typeface="Noto Sans SemiCondensed" pitchFamily="34" charset="-122"/>
                <a:cs typeface="Noto Sans SemiCondensed" pitchFamily="34" charset="-120"/>
              </a:rPr>
              <a:t>Trauma, uncertainty, disrupted recovery and chronic strain</a:t>
            </a:r>
            <a:endParaRPr lang="en-US" sz="1370" dirty="0"/>
          </a:p>
        </p:txBody>
      </p:sp>
      <p:sp>
        <p:nvSpPr>
          <p:cNvPr id="27" name="Shape 24"/>
          <p:cNvSpPr/>
          <p:nvPr/>
        </p:nvSpPr>
        <p:spPr>
          <a:xfrm>
            <a:off x="5852160" y="5623560"/>
            <a:ext cx="5257800" cy="530352"/>
          </a:xfrm>
          <a:prstGeom prst="roundRect">
            <a:avLst/>
          </a:prstGeom>
          <a:solidFill>
            <a:srgbClr val="D1D5EB"/>
          </a:solidFill>
          <a:ln w="12700">
            <a:solidFill>
              <a:srgbClr val="D1D5EB"/>
            </a:solidFill>
            <a:prstDash val="solid"/>
          </a:ln>
        </p:spPr>
      </p:sp>
      <p:sp>
        <p:nvSpPr>
          <p:cNvPr id="28" name="Text 25"/>
          <p:cNvSpPr/>
          <p:nvPr/>
        </p:nvSpPr>
        <p:spPr>
          <a:xfrm>
            <a:off x="6144768" y="5769864"/>
            <a:ext cx="4681728" cy="246888"/>
          </a:xfrm>
          <a:prstGeom prst="rect">
            <a:avLst/>
          </a:prstGeom>
          <a:noFill/>
          <a:ln/>
        </p:spPr>
        <p:txBody>
          <a:bodyPr wrap="square" lIns="0" tIns="0" rIns="0" bIns="0" rtlCol="0" anchor="ctr"/>
          <a:lstStyle/>
          <a:p>
            <a:pPr algn="ctr" indent="0" marL="0">
              <a:buNone/>
            </a:pPr>
            <a:r>
              <a:rPr lang="en-US" sz="1630" b="1" dirty="0">
                <a:solidFill>
                  <a:srgbClr val="284B96"/>
                </a:solidFill>
                <a:latin typeface="Noto Sans SemiCondensed" pitchFamily="34" charset="0"/>
                <a:ea typeface="Noto Sans SemiCondensed" pitchFamily="34" charset="-122"/>
                <a:cs typeface="Noto Sans SemiCondensed" pitchFamily="34" charset="-120"/>
              </a:rPr>
              <a:t>Adapt risk assessment, work-rest schedules, emergency plans, training and procurement.</a:t>
            </a:r>
            <a:endParaRPr lang="en-US" sz="16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TECHNOLOGY AND OSH</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Digitalization can prevent harm - and create new risks</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16</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685800" y="1353312"/>
            <a:ext cx="5074920" cy="4526280"/>
          </a:xfrm>
          <a:prstGeom prst="roundRect">
            <a:avLst/>
          </a:prstGeom>
          <a:solidFill>
            <a:srgbClr val="EAF6F2"/>
          </a:solidFill>
          <a:ln w="20320">
            <a:solidFill>
              <a:srgbClr val="2E8B78"/>
            </a:solidFill>
            <a:prstDash val="solid"/>
          </a:ln>
        </p:spPr>
      </p:sp>
      <p:sp>
        <p:nvSpPr>
          <p:cNvPr id="9" name="Text 7"/>
          <p:cNvSpPr/>
          <p:nvPr/>
        </p:nvSpPr>
        <p:spPr>
          <a:xfrm>
            <a:off x="1051560" y="1719072"/>
            <a:ext cx="4343400" cy="320040"/>
          </a:xfrm>
          <a:prstGeom prst="rect">
            <a:avLst/>
          </a:prstGeom>
          <a:noFill/>
          <a:ln/>
        </p:spPr>
        <p:txBody>
          <a:bodyPr wrap="square" lIns="0" tIns="0" rIns="0" bIns="0" rtlCol="0" anchor="ctr"/>
          <a:lstStyle/>
          <a:p>
            <a:pPr algn="ctr" indent="0" marL="0">
              <a:buNone/>
            </a:pPr>
            <a:r>
              <a:rPr lang="en-US" sz="2300" b="1" dirty="0">
                <a:solidFill>
                  <a:srgbClr val="2E8B78"/>
                </a:solidFill>
                <a:latin typeface="Noto Sans ExtraCondensed" pitchFamily="34" charset="0"/>
                <a:ea typeface="Noto Sans ExtraCondensed" pitchFamily="34" charset="-122"/>
                <a:cs typeface="Noto Sans ExtraCondensed" pitchFamily="34" charset="-120"/>
              </a:rPr>
              <a:t>PREVENTION OPPORTUNITIES</a:t>
            </a:r>
            <a:endParaRPr lang="en-US" sz="2300" dirty="0"/>
          </a:p>
        </p:txBody>
      </p:sp>
      <p:sp>
        <p:nvSpPr>
          <p:cNvPr id="10" name="Shape 8"/>
          <p:cNvSpPr/>
          <p:nvPr/>
        </p:nvSpPr>
        <p:spPr>
          <a:xfrm>
            <a:off x="1097280" y="2450592"/>
            <a:ext cx="109728" cy="109728"/>
          </a:xfrm>
          <a:prstGeom prst="ellipse">
            <a:avLst/>
          </a:prstGeom>
          <a:solidFill>
            <a:srgbClr val="2E8B78"/>
          </a:solidFill>
          <a:ln w="12700">
            <a:solidFill>
              <a:srgbClr val="2E8B78"/>
            </a:solidFill>
            <a:prstDash val="solid"/>
          </a:ln>
        </p:spPr>
      </p:sp>
      <p:sp>
        <p:nvSpPr>
          <p:cNvPr id="11" name="Text 9"/>
          <p:cNvSpPr/>
          <p:nvPr/>
        </p:nvSpPr>
        <p:spPr>
          <a:xfrm>
            <a:off x="1298448" y="2331720"/>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Drones and robots remove workers from dangerous areas</a:t>
            </a:r>
            <a:endParaRPr lang="en-US" sz="1640" dirty="0"/>
          </a:p>
        </p:txBody>
      </p:sp>
      <p:sp>
        <p:nvSpPr>
          <p:cNvPr id="12" name="Shape 10"/>
          <p:cNvSpPr/>
          <p:nvPr/>
        </p:nvSpPr>
        <p:spPr>
          <a:xfrm>
            <a:off x="1097280" y="3054096"/>
            <a:ext cx="109728" cy="109728"/>
          </a:xfrm>
          <a:prstGeom prst="ellipse">
            <a:avLst/>
          </a:prstGeom>
          <a:solidFill>
            <a:srgbClr val="2E8B78"/>
          </a:solidFill>
          <a:ln w="12700">
            <a:solidFill>
              <a:srgbClr val="2E8B78"/>
            </a:solidFill>
            <a:prstDash val="solid"/>
          </a:ln>
        </p:spPr>
      </p:sp>
      <p:sp>
        <p:nvSpPr>
          <p:cNvPr id="13" name="Text 11"/>
          <p:cNvSpPr/>
          <p:nvPr/>
        </p:nvSpPr>
        <p:spPr>
          <a:xfrm>
            <a:off x="1298448" y="2935224"/>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Sensors detect heat, gas, electrical and mechanical anomalies</a:t>
            </a:r>
            <a:endParaRPr lang="en-US" sz="1640" dirty="0"/>
          </a:p>
        </p:txBody>
      </p:sp>
      <p:sp>
        <p:nvSpPr>
          <p:cNvPr id="14" name="Shape 12"/>
          <p:cNvSpPr/>
          <p:nvPr/>
        </p:nvSpPr>
        <p:spPr>
          <a:xfrm>
            <a:off x="1097280" y="3657600"/>
            <a:ext cx="109728" cy="109728"/>
          </a:xfrm>
          <a:prstGeom prst="ellipse">
            <a:avLst/>
          </a:prstGeom>
          <a:solidFill>
            <a:srgbClr val="2E8B78"/>
          </a:solidFill>
          <a:ln w="12700">
            <a:solidFill>
              <a:srgbClr val="2E8B78"/>
            </a:solidFill>
            <a:prstDash val="solid"/>
          </a:ln>
        </p:spPr>
      </p:sp>
      <p:sp>
        <p:nvSpPr>
          <p:cNvPr id="15" name="Text 13"/>
          <p:cNvSpPr/>
          <p:nvPr/>
        </p:nvSpPr>
        <p:spPr>
          <a:xfrm>
            <a:off x="1298448" y="3538728"/>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Predictive maintenance identifies failure before exposure</a:t>
            </a:r>
            <a:endParaRPr lang="en-US" sz="1640" dirty="0"/>
          </a:p>
        </p:txBody>
      </p:sp>
      <p:sp>
        <p:nvSpPr>
          <p:cNvPr id="16" name="Shape 14"/>
          <p:cNvSpPr/>
          <p:nvPr/>
        </p:nvSpPr>
        <p:spPr>
          <a:xfrm>
            <a:off x="1097280" y="4261104"/>
            <a:ext cx="109728" cy="109728"/>
          </a:xfrm>
          <a:prstGeom prst="ellipse">
            <a:avLst/>
          </a:prstGeom>
          <a:solidFill>
            <a:srgbClr val="2E8B78"/>
          </a:solidFill>
          <a:ln w="12700">
            <a:solidFill>
              <a:srgbClr val="2E8B78"/>
            </a:solidFill>
            <a:prstDash val="solid"/>
          </a:ln>
        </p:spPr>
      </p:sp>
      <p:sp>
        <p:nvSpPr>
          <p:cNvPr id="17" name="Text 15"/>
          <p:cNvSpPr/>
          <p:nvPr/>
        </p:nvSpPr>
        <p:spPr>
          <a:xfrm>
            <a:off x="1298448" y="4142232"/>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Wearables can support heat, fatigue and ergonomic prevention</a:t>
            </a:r>
            <a:endParaRPr lang="en-US" sz="1640" dirty="0"/>
          </a:p>
        </p:txBody>
      </p:sp>
      <p:sp>
        <p:nvSpPr>
          <p:cNvPr id="18" name="Shape 16"/>
          <p:cNvSpPr/>
          <p:nvPr/>
        </p:nvSpPr>
        <p:spPr>
          <a:xfrm>
            <a:off x="1097280" y="4864608"/>
            <a:ext cx="109728" cy="109728"/>
          </a:xfrm>
          <a:prstGeom prst="ellipse">
            <a:avLst/>
          </a:prstGeom>
          <a:solidFill>
            <a:srgbClr val="2E8B78"/>
          </a:solidFill>
          <a:ln w="12700">
            <a:solidFill>
              <a:srgbClr val="2E8B78"/>
            </a:solidFill>
            <a:prstDash val="solid"/>
          </a:ln>
        </p:spPr>
      </p:sp>
      <p:sp>
        <p:nvSpPr>
          <p:cNvPr id="19" name="Text 17"/>
          <p:cNvSpPr/>
          <p:nvPr/>
        </p:nvSpPr>
        <p:spPr>
          <a:xfrm>
            <a:off x="1298448" y="4745736"/>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Remote expert support can improve decisions in the field</a:t>
            </a:r>
            <a:endParaRPr lang="en-US" sz="1640" dirty="0"/>
          </a:p>
        </p:txBody>
      </p:sp>
      <p:sp>
        <p:nvSpPr>
          <p:cNvPr id="20" name="Shape 18"/>
          <p:cNvSpPr/>
          <p:nvPr/>
        </p:nvSpPr>
        <p:spPr>
          <a:xfrm>
            <a:off x="6400800" y="1353312"/>
            <a:ext cx="5074920" cy="4526280"/>
          </a:xfrm>
          <a:prstGeom prst="roundRect">
            <a:avLst/>
          </a:prstGeom>
          <a:solidFill>
            <a:srgbClr val="FBEDEE"/>
          </a:solidFill>
          <a:ln w="20320">
            <a:solidFill>
              <a:srgbClr val="C95B61"/>
            </a:solidFill>
            <a:prstDash val="solid"/>
          </a:ln>
        </p:spPr>
      </p:sp>
      <p:sp>
        <p:nvSpPr>
          <p:cNvPr id="21" name="Text 19"/>
          <p:cNvSpPr/>
          <p:nvPr/>
        </p:nvSpPr>
        <p:spPr>
          <a:xfrm>
            <a:off x="6784848" y="1719072"/>
            <a:ext cx="4343400" cy="320040"/>
          </a:xfrm>
          <a:prstGeom prst="rect">
            <a:avLst/>
          </a:prstGeom>
          <a:noFill/>
          <a:ln/>
        </p:spPr>
        <p:txBody>
          <a:bodyPr wrap="square" lIns="0" tIns="0" rIns="0" bIns="0" rtlCol="0" anchor="ctr"/>
          <a:lstStyle/>
          <a:p>
            <a:pPr algn="ctr" indent="0" marL="0">
              <a:buNone/>
            </a:pPr>
            <a:r>
              <a:rPr lang="en-US" sz="2300" b="1" dirty="0">
                <a:solidFill>
                  <a:srgbClr val="C95B61"/>
                </a:solidFill>
                <a:latin typeface="Noto Sans ExtraCondensed" pitchFamily="34" charset="0"/>
                <a:ea typeface="Noto Sans ExtraCondensed" pitchFamily="34" charset="-122"/>
                <a:cs typeface="Noto Sans ExtraCondensed" pitchFamily="34" charset="-120"/>
              </a:rPr>
              <a:t>GOVERNANCE RISKS</a:t>
            </a:r>
            <a:endParaRPr lang="en-US" sz="2300" dirty="0"/>
          </a:p>
        </p:txBody>
      </p:sp>
      <p:sp>
        <p:nvSpPr>
          <p:cNvPr id="22" name="Shape 20"/>
          <p:cNvSpPr/>
          <p:nvPr/>
        </p:nvSpPr>
        <p:spPr>
          <a:xfrm>
            <a:off x="6812280" y="2450592"/>
            <a:ext cx="109728" cy="109728"/>
          </a:xfrm>
          <a:prstGeom prst="ellipse">
            <a:avLst/>
          </a:prstGeom>
          <a:solidFill>
            <a:srgbClr val="C95B61"/>
          </a:solidFill>
          <a:ln w="12700">
            <a:solidFill>
              <a:srgbClr val="C95B61"/>
            </a:solidFill>
            <a:prstDash val="solid"/>
          </a:ln>
        </p:spPr>
      </p:sp>
      <p:sp>
        <p:nvSpPr>
          <p:cNvPr id="23" name="Text 21"/>
          <p:cNvSpPr/>
          <p:nvPr/>
        </p:nvSpPr>
        <p:spPr>
          <a:xfrm>
            <a:off x="7013448" y="2331720"/>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False assurance, automation bias and over-reliance</a:t>
            </a:r>
            <a:endParaRPr lang="en-US" sz="1640" dirty="0"/>
          </a:p>
        </p:txBody>
      </p:sp>
      <p:sp>
        <p:nvSpPr>
          <p:cNvPr id="24" name="Shape 22"/>
          <p:cNvSpPr/>
          <p:nvPr/>
        </p:nvSpPr>
        <p:spPr>
          <a:xfrm>
            <a:off x="6812280" y="3054096"/>
            <a:ext cx="109728" cy="109728"/>
          </a:xfrm>
          <a:prstGeom prst="ellipse">
            <a:avLst/>
          </a:prstGeom>
          <a:solidFill>
            <a:srgbClr val="C95B61"/>
          </a:solidFill>
          <a:ln w="12700">
            <a:solidFill>
              <a:srgbClr val="C95B61"/>
            </a:solidFill>
            <a:prstDash val="solid"/>
          </a:ln>
        </p:spPr>
      </p:sp>
      <p:sp>
        <p:nvSpPr>
          <p:cNvPr id="25" name="Text 23"/>
          <p:cNvSpPr/>
          <p:nvPr/>
        </p:nvSpPr>
        <p:spPr>
          <a:xfrm>
            <a:off x="7013448" y="2935224"/>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Work intensification and reduced autonomy</a:t>
            </a:r>
            <a:endParaRPr lang="en-US" sz="1640" dirty="0"/>
          </a:p>
        </p:txBody>
      </p:sp>
      <p:sp>
        <p:nvSpPr>
          <p:cNvPr id="26" name="Shape 24"/>
          <p:cNvSpPr/>
          <p:nvPr/>
        </p:nvSpPr>
        <p:spPr>
          <a:xfrm>
            <a:off x="6812280" y="3657600"/>
            <a:ext cx="109728" cy="109728"/>
          </a:xfrm>
          <a:prstGeom prst="ellipse">
            <a:avLst/>
          </a:prstGeom>
          <a:solidFill>
            <a:srgbClr val="C95B61"/>
          </a:solidFill>
          <a:ln w="12700">
            <a:solidFill>
              <a:srgbClr val="C95B61"/>
            </a:solidFill>
            <a:prstDash val="solid"/>
          </a:ln>
        </p:spPr>
      </p:sp>
      <p:sp>
        <p:nvSpPr>
          <p:cNvPr id="27" name="Text 25"/>
          <p:cNvSpPr/>
          <p:nvPr/>
        </p:nvSpPr>
        <p:spPr>
          <a:xfrm>
            <a:off x="7013448" y="3538728"/>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Biased data and unequal access to technology</a:t>
            </a:r>
            <a:endParaRPr lang="en-US" sz="1640" dirty="0"/>
          </a:p>
        </p:txBody>
      </p:sp>
      <p:sp>
        <p:nvSpPr>
          <p:cNvPr id="28" name="Shape 26"/>
          <p:cNvSpPr/>
          <p:nvPr/>
        </p:nvSpPr>
        <p:spPr>
          <a:xfrm>
            <a:off x="6812280" y="4261104"/>
            <a:ext cx="109728" cy="109728"/>
          </a:xfrm>
          <a:prstGeom prst="ellipse">
            <a:avLst/>
          </a:prstGeom>
          <a:solidFill>
            <a:srgbClr val="C95B61"/>
          </a:solidFill>
          <a:ln w="12700">
            <a:solidFill>
              <a:srgbClr val="C95B61"/>
            </a:solidFill>
            <a:prstDash val="solid"/>
          </a:ln>
        </p:spPr>
      </p:sp>
      <p:sp>
        <p:nvSpPr>
          <p:cNvPr id="29" name="Text 27"/>
          <p:cNvSpPr/>
          <p:nvPr/>
        </p:nvSpPr>
        <p:spPr>
          <a:xfrm>
            <a:off x="7013448" y="4142232"/>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Surveillance, privacy and loss of trust</a:t>
            </a:r>
            <a:endParaRPr lang="en-US" sz="1640" dirty="0"/>
          </a:p>
        </p:txBody>
      </p:sp>
      <p:sp>
        <p:nvSpPr>
          <p:cNvPr id="30" name="Shape 28"/>
          <p:cNvSpPr/>
          <p:nvPr/>
        </p:nvSpPr>
        <p:spPr>
          <a:xfrm>
            <a:off x="6812280" y="4864608"/>
            <a:ext cx="109728" cy="109728"/>
          </a:xfrm>
          <a:prstGeom prst="ellipse">
            <a:avLst/>
          </a:prstGeom>
          <a:solidFill>
            <a:srgbClr val="C95B61"/>
          </a:solidFill>
          <a:ln w="12700">
            <a:solidFill>
              <a:srgbClr val="C95B61"/>
            </a:solidFill>
            <a:prstDash val="solid"/>
          </a:ln>
        </p:spPr>
      </p:sp>
      <p:sp>
        <p:nvSpPr>
          <p:cNvPr id="31" name="Text 29"/>
          <p:cNvSpPr/>
          <p:nvPr/>
        </p:nvSpPr>
        <p:spPr>
          <a:xfrm>
            <a:off x="7013448" y="4745736"/>
            <a:ext cx="4142232" cy="566928"/>
          </a:xfrm>
          <a:prstGeom prst="rect">
            <a:avLst/>
          </a:prstGeom>
          <a:noFill/>
          <a:ln/>
        </p:spPr>
        <p:txBody>
          <a:bodyPr wrap="square" lIns="127" tIns="127" rIns="127" bIns="127" rtlCol="0" anchor="ctr"/>
          <a:lstStyle/>
          <a:p>
            <a:pPr indent="0" marL="0">
              <a:buNone/>
            </a:pPr>
            <a:r>
              <a:rPr lang="en-US" sz="1640" dirty="0">
                <a:solidFill>
                  <a:srgbClr val="2B2A29"/>
                </a:solidFill>
                <a:latin typeface="Noto Sans SemiCondensed" pitchFamily="34" charset="0"/>
                <a:ea typeface="Noto Sans SemiCondensed" pitchFamily="34" charset="-122"/>
                <a:cs typeface="Noto Sans SemiCondensed" pitchFamily="34" charset="-120"/>
              </a:rPr>
              <a:t>Cybersecurity failures with physical safety consequences</a:t>
            </a:r>
            <a:endParaRPr lang="en-US" sz="1640" dirty="0"/>
          </a:p>
        </p:txBody>
      </p:sp>
      <p:sp>
        <p:nvSpPr>
          <p:cNvPr id="32" name="Text 30"/>
          <p:cNvSpPr/>
          <p:nvPr/>
        </p:nvSpPr>
        <p:spPr>
          <a:xfrm>
            <a:off x="1371600" y="6080760"/>
            <a:ext cx="9464040" cy="274320"/>
          </a:xfrm>
          <a:prstGeom prst="rect">
            <a:avLst/>
          </a:prstGeom>
          <a:noFill/>
          <a:ln/>
        </p:spPr>
        <p:txBody>
          <a:bodyPr wrap="square" lIns="0" tIns="0" rIns="0" bIns="0" rtlCol="0" anchor="ctr"/>
          <a:lstStyle/>
          <a:p>
            <a:pPr algn="ctr" indent="0" marL="0">
              <a:buNone/>
            </a:pPr>
            <a:r>
              <a:rPr lang="en-US" sz="1800" b="1" dirty="0">
                <a:solidFill>
                  <a:srgbClr val="284B96"/>
                </a:solidFill>
                <a:latin typeface="Noto Sans SemiCondensed" pitchFamily="34" charset="0"/>
                <a:ea typeface="Noto Sans SemiCondensed" pitchFamily="34" charset="-122"/>
                <a:cs typeface="Noto Sans SemiCondensed" pitchFamily="34" charset="-120"/>
              </a:rPr>
              <a:t>Technology should support professional judgement and prevention - not replace responsibility.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TECHNOLOGY AND OSH</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A human-centred deployment test</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17</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4251960" y="2084832"/>
            <a:ext cx="3657600" cy="1920240"/>
          </a:xfrm>
          <a:prstGeom prst="ellipse">
            <a:avLst/>
          </a:prstGeom>
          <a:solidFill>
            <a:srgbClr val="284B96"/>
          </a:solidFill>
          <a:ln w="12700">
            <a:solidFill>
              <a:srgbClr val="284B96"/>
            </a:solidFill>
            <a:prstDash val="solid"/>
          </a:ln>
        </p:spPr>
      </p:sp>
      <p:sp>
        <p:nvSpPr>
          <p:cNvPr id="9" name="Text 7"/>
          <p:cNvSpPr/>
          <p:nvPr/>
        </p:nvSpPr>
        <p:spPr>
          <a:xfrm>
            <a:off x="4754880" y="2523744"/>
            <a:ext cx="2651760" cy="1005840"/>
          </a:xfrm>
          <a:prstGeom prst="rect">
            <a:avLst/>
          </a:prstGeom>
          <a:noFill/>
          <a:ln/>
        </p:spPr>
        <p:txBody>
          <a:bodyPr wrap="square" lIns="0" tIns="0" rIns="0" bIns="0" rtlCol="0" anchor="ctr"/>
          <a:lstStyle/>
          <a:p>
            <a:pPr algn="ctr" indent="0" marL="0">
              <a:buNone/>
            </a:pPr>
            <a:r>
              <a:rPr lang="en-US" sz="2300" b="1" dirty="0">
                <a:solidFill>
                  <a:srgbClr val="FFFFFF"/>
                </a:solidFill>
                <a:latin typeface="Noto Sans ExtraCondensed" pitchFamily="34" charset="0"/>
                <a:ea typeface="Noto Sans ExtraCondensed" pitchFamily="34" charset="-122"/>
                <a:cs typeface="Noto Sans ExtraCondensed" pitchFamily="34" charset="-120"/>
              </a:rPr>
              <a:t>DOES THE TOOL</a:t>
            </a:r>
            <a:endParaRPr lang="en-US" sz="2300" dirty="0"/>
          </a:p>
          <a:p>
            <a:pPr algn="ctr" indent="0" marL="0">
              <a:buNone/>
            </a:pPr>
            <a:r>
              <a:rPr lang="en-US" sz="2300" b="1" dirty="0">
                <a:solidFill>
                  <a:srgbClr val="FFFFFF"/>
                </a:solidFill>
                <a:latin typeface="Noto Sans ExtraCondensed" pitchFamily="34" charset="0"/>
                <a:ea typeface="Noto Sans ExtraCondensed" pitchFamily="34" charset="-122"/>
                <a:cs typeface="Noto Sans ExtraCondensed" pitchFamily="34" charset="-120"/>
              </a:rPr>
              <a:t>IMPROVE SAFE WORK</a:t>
            </a:r>
            <a:endParaRPr lang="en-US" sz="2300" dirty="0"/>
          </a:p>
          <a:p>
            <a:pPr algn="ctr" indent="0" marL="0">
              <a:buNone/>
            </a:pPr>
            <a:r>
              <a:rPr lang="en-US" sz="2300" b="1" dirty="0">
                <a:solidFill>
                  <a:srgbClr val="FFFFFF"/>
                </a:solidFill>
                <a:latin typeface="Noto Sans ExtraCondensed" pitchFamily="34" charset="0"/>
                <a:ea typeface="Noto Sans ExtraCondensed" pitchFamily="34" charset="-122"/>
                <a:cs typeface="Noto Sans ExtraCondensed" pitchFamily="34" charset="-120"/>
              </a:rPr>
              <a:t>FOR THE WHOLE WORKFORCE?</a:t>
            </a:r>
            <a:endParaRPr lang="en-US" sz="2300" dirty="0"/>
          </a:p>
        </p:txBody>
      </p:sp>
      <p:sp>
        <p:nvSpPr>
          <p:cNvPr id="10" name="Shape 8"/>
          <p:cNvSpPr/>
          <p:nvPr/>
        </p:nvSpPr>
        <p:spPr>
          <a:xfrm>
            <a:off x="594360" y="1325880"/>
            <a:ext cx="3566160" cy="1051560"/>
          </a:xfrm>
          <a:prstGeom prst="roundRect">
            <a:avLst/>
          </a:prstGeom>
          <a:solidFill>
            <a:srgbClr val="FFFFFF"/>
          </a:solidFill>
          <a:ln w="25400">
            <a:solidFill>
              <a:srgbClr val="00A3E0"/>
            </a:solidFill>
            <a:prstDash val="solid"/>
          </a:ln>
        </p:spPr>
      </p:sp>
      <p:sp>
        <p:nvSpPr>
          <p:cNvPr id="11" name="Text 9"/>
          <p:cNvSpPr/>
          <p:nvPr/>
        </p:nvSpPr>
        <p:spPr>
          <a:xfrm>
            <a:off x="758952" y="1453896"/>
            <a:ext cx="3200400" cy="256032"/>
          </a:xfrm>
          <a:prstGeom prst="rect">
            <a:avLst/>
          </a:prstGeom>
          <a:noFill/>
          <a:ln/>
        </p:spPr>
        <p:txBody>
          <a:bodyPr wrap="square" lIns="0" tIns="0" rIns="0" bIns="0" rtlCol="0" anchor="ctr"/>
          <a:lstStyle/>
          <a:p>
            <a:pPr algn="ctr" indent="0" marL="0">
              <a:buNone/>
            </a:pPr>
            <a:r>
              <a:rPr lang="en-US" sz="1800" b="1" dirty="0">
                <a:solidFill>
                  <a:srgbClr val="00A3E0"/>
                </a:solidFill>
                <a:latin typeface="Noto Sans ExtraCondensed" pitchFamily="34" charset="0"/>
                <a:ea typeface="Noto Sans ExtraCondensed" pitchFamily="34" charset="-122"/>
                <a:cs typeface="Noto Sans ExtraCondensed" pitchFamily="34" charset="-120"/>
              </a:rPr>
              <a:t>PURPOSE</a:t>
            </a:r>
            <a:endParaRPr lang="en-US" sz="1800" dirty="0"/>
          </a:p>
        </p:txBody>
      </p:sp>
      <p:sp>
        <p:nvSpPr>
          <p:cNvPr id="12" name="Text 10"/>
          <p:cNvSpPr/>
          <p:nvPr/>
        </p:nvSpPr>
        <p:spPr>
          <a:xfrm>
            <a:off x="795528" y="1801368"/>
            <a:ext cx="3154680" cy="411480"/>
          </a:xfrm>
          <a:prstGeom prst="rect">
            <a:avLst/>
          </a:prstGeom>
          <a:noFill/>
          <a:ln/>
        </p:spPr>
        <p:txBody>
          <a:bodyPr wrap="square" lIns="0" tIns="0" rIns="0" bIns="0" rtlCol="0" anchor="ctr"/>
          <a:lstStyle/>
          <a:p>
            <a:pPr algn="ctr" indent="0" marL="0">
              <a:buNone/>
            </a:pPr>
            <a:r>
              <a:rPr lang="en-US" sz="1360" dirty="0">
                <a:solidFill>
                  <a:srgbClr val="2B2A29"/>
                </a:solidFill>
                <a:latin typeface="Noto Sans SemiCondensed" pitchFamily="34" charset="0"/>
                <a:ea typeface="Noto Sans SemiCondensed" pitchFamily="34" charset="-122"/>
                <a:cs typeface="Noto Sans SemiCondensed" pitchFamily="34" charset="-120"/>
              </a:rPr>
              <a:t>What risk or work problem are we solving?</a:t>
            </a:r>
            <a:endParaRPr lang="en-US" sz="1360" dirty="0"/>
          </a:p>
        </p:txBody>
      </p:sp>
      <p:sp>
        <p:nvSpPr>
          <p:cNvPr id="13" name="Shape 11"/>
          <p:cNvSpPr/>
          <p:nvPr/>
        </p:nvSpPr>
        <p:spPr>
          <a:xfrm>
            <a:off x="594360" y="4251960"/>
            <a:ext cx="3566160" cy="1051560"/>
          </a:xfrm>
          <a:prstGeom prst="roundRect">
            <a:avLst/>
          </a:prstGeom>
          <a:solidFill>
            <a:srgbClr val="FFFFFF"/>
          </a:solidFill>
          <a:ln w="25400">
            <a:solidFill>
              <a:srgbClr val="2E8B78"/>
            </a:solidFill>
            <a:prstDash val="solid"/>
          </a:ln>
        </p:spPr>
      </p:sp>
      <p:sp>
        <p:nvSpPr>
          <p:cNvPr id="14" name="Text 12"/>
          <p:cNvSpPr/>
          <p:nvPr/>
        </p:nvSpPr>
        <p:spPr>
          <a:xfrm>
            <a:off x="758952" y="4379976"/>
            <a:ext cx="3200400" cy="256032"/>
          </a:xfrm>
          <a:prstGeom prst="rect">
            <a:avLst/>
          </a:prstGeom>
          <a:noFill/>
          <a:ln/>
        </p:spPr>
        <p:txBody>
          <a:bodyPr wrap="square" lIns="0" tIns="0" rIns="0" bIns="0" rtlCol="0" anchor="ctr"/>
          <a:lstStyle/>
          <a:p>
            <a:pPr algn="ctr" indent="0" marL="0">
              <a:buNone/>
            </a:pPr>
            <a:r>
              <a:rPr lang="en-US" sz="1800" b="1" dirty="0">
                <a:solidFill>
                  <a:srgbClr val="2E8B78"/>
                </a:solidFill>
                <a:latin typeface="Noto Sans ExtraCondensed" pitchFamily="34" charset="0"/>
                <a:ea typeface="Noto Sans ExtraCondensed" pitchFamily="34" charset="-122"/>
                <a:cs typeface="Noto Sans ExtraCondensed" pitchFamily="34" charset="-120"/>
              </a:rPr>
              <a:t>PARTICIPATION</a:t>
            </a:r>
            <a:endParaRPr lang="en-US" sz="1800" dirty="0"/>
          </a:p>
        </p:txBody>
      </p:sp>
      <p:sp>
        <p:nvSpPr>
          <p:cNvPr id="15" name="Text 13"/>
          <p:cNvSpPr/>
          <p:nvPr/>
        </p:nvSpPr>
        <p:spPr>
          <a:xfrm>
            <a:off x="795528" y="4727448"/>
            <a:ext cx="3154680" cy="411480"/>
          </a:xfrm>
          <a:prstGeom prst="rect">
            <a:avLst/>
          </a:prstGeom>
          <a:noFill/>
          <a:ln/>
        </p:spPr>
        <p:txBody>
          <a:bodyPr wrap="square" lIns="0" tIns="0" rIns="0" bIns="0" rtlCol="0" anchor="ctr"/>
          <a:lstStyle/>
          <a:p>
            <a:pPr algn="ctr" indent="0" marL="0">
              <a:buNone/>
            </a:pPr>
            <a:r>
              <a:rPr lang="en-US" sz="1360" dirty="0">
                <a:solidFill>
                  <a:srgbClr val="2B2A29"/>
                </a:solidFill>
                <a:latin typeface="Noto Sans SemiCondensed" pitchFamily="34" charset="0"/>
                <a:ea typeface="Noto Sans SemiCondensed" pitchFamily="34" charset="-122"/>
                <a:cs typeface="Noto Sans SemiCondensed" pitchFamily="34" charset="-120"/>
              </a:rPr>
              <a:t>Have workers and representatives shaped design and testing?</a:t>
            </a:r>
            <a:endParaRPr lang="en-US" sz="1360" dirty="0"/>
          </a:p>
        </p:txBody>
      </p:sp>
      <p:sp>
        <p:nvSpPr>
          <p:cNvPr id="16" name="Shape 14"/>
          <p:cNvSpPr/>
          <p:nvPr/>
        </p:nvSpPr>
        <p:spPr>
          <a:xfrm>
            <a:off x="4315968" y="4937760"/>
            <a:ext cx="3566160" cy="1051560"/>
          </a:xfrm>
          <a:prstGeom prst="roundRect">
            <a:avLst/>
          </a:prstGeom>
          <a:solidFill>
            <a:srgbClr val="FFFFFF"/>
          </a:solidFill>
          <a:ln w="25400">
            <a:solidFill>
              <a:srgbClr val="E7A33E"/>
            </a:solidFill>
            <a:prstDash val="solid"/>
          </a:ln>
        </p:spPr>
      </p:sp>
      <p:sp>
        <p:nvSpPr>
          <p:cNvPr id="17" name="Text 15"/>
          <p:cNvSpPr/>
          <p:nvPr/>
        </p:nvSpPr>
        <p:spPr>
          <a:xfrm>
            <a:off x="4480560" y="5065776"/>
            <a:ext cx="3200400" cy="256032"/>
          </a:xfrm>
          <a:prstGeom prst="rect">
            <a:avLst/>
          </a:prstGeom>
          <a:noFill/>
          <a:ln/>
        </p:spPr>
        <p:txBody>
          <a:bodyPr wrap="square" lIns="0" tIns="0" rIns="0" bIns="0" rtlCol="0" anchor="ctr"/>
          <a:lstStyle/>
          <a:p>
            <a:pPr algn="ctr" indent="0" marL="0">
              <a:buNone/>
            </a:pPr>
            <a:r>
              <a:rPr lang="en-US" sz="1800" b="1" dirty="0">
                <a:solidFill>
                  <a:srgbClr val="E7A33E"/>
                </a:solidFill>
                <a:latin typeface="Noto Sans ExtraCondensed" pitchFamily="34" charset="0"/>
                <a:ea typeface="Noto Sans ExtraCondensed" pitchFamily="34" charset="-122"/>
                <a:cs typeface="Noto Sans ExtraCondensed" pitchFamily="34" charset="-120"/>
              </a:rPr>
              <a:t>HUMAN OVERSIGHT</a:t>
            </a:r>
            <a:endParaRPr lang="en-US" sz="1800" dirty="0"/>
          </a:p>
        </p:txBody>
      </p:sp>
      <p:sp>
        <p:nvSpPr>
          <p:cNvPr id="18" name="Text 16"/>
          <p:cNvSpPr/>
          <p:nvPr/>
        </p:nvSpPr>
        <p:spPr>
          <a:xfrm>
            <a:off x="4517136" y="5413248"/>
            <a:ext cx="3154680" cy="411480"/>
          </a:xfrm>
          <a:prstGeom prst="rect">
            <a:avLst/>
          </a:prstGeom>
          <a:noFill/>
          <a:ln/>
        </p:spPr>
        <p:txBody>
          <a:bodyPr wrap="square" lIns="0" tIns="0" rIns="0" bIns="0" rtlCol="0" anchor="ctr"/>
          <a:lstStyle/>
          <a:p>
            <a:pPr algn="ctr" indent="0" marL="0">
              <a:buNone/>
            </a:pPr>
            <a:r>
              <a:rPr lang="en-US" sz="1360" dirty="0">
                <a:solidFill>
                  <a:srgbClr val="2B2A29"/>
                </a:solidFill>
                <a:latin typeface="Noto Sans SemiCondensed" pitchFamily="34" charset="0"/>
                <a:ea typeface="Noto Sans SemiCondensed" pitchFamily="34" charset="-122"/>
                <a:cs typeface="Noto Sans SemiCondensed" pitchFamily="34" charset="-120"/>
              </a:rPr>
              <a:t>Who can challenge, pause or override the system?</a:t>
            </a:r>
            <a:endParaRPr lang="en-US" sz="1360" dirty="0"/>
          </a:p>
        </p:txBody>
      </p:sp>
      <p:sp>
        <p:nvSpPr>
          <p:cNvPr id="19" name="Shape 17"/>
          <p:cNvSpPr/>
          <p:nvPr/>
        </p:nvSpPr>
        <p:spPr>
          <a:xfrm>
            <a:off x="8028432" y="4251960"/>
            <a:ext cx="3566160" cy="1051560"/>
          </a:xfrm>
          <a:prstGeom prst="roundRect">
            <a:avLst/>
          </a:prstGeom>
          <a:solidFill>
            <a:srgbClr val="FFFFFF"/>
          </a:solidFill>
          <a:ln w="25400">
            <a:solidFill>
              <a:srgbClr val="6B5AA6"/>
            </a:solidFill>
            <a:prstDash val="solid"/>
          </a:ln>
        </p:spPr>
      </p:sp>
      <p:sp>
        <p:nvSpPr>
          <p:cNvPr id="20" name="Text 18"/>
          <p:cNvSpPr/>
          <p:nvPr/>
        </p:nvSpPr>
        <p:spPr>
          <a:xfrm>
            <a:off x="8193024" y="4379976"/>
            <a:ext cx="3200400" cy="256032"/>
          </a:xfrm>
          <a:prstGeom prst="rect">
            <a:avLst/>
          </a:prstGeom>
          <a:noFill/>
          <a:ln/>
        </p:spPr>
        <p:txBody>
          <a:bodyPr wrap="square" lIns="0" tIns="0" rIns="0" bIns="0" rtlCol="0" anchor="ctr"/>
          <a:lstStyle/>
          <a:p>
            <a:pPr algn="ctr" indent="0" marL="0">
              <a:buNone/>
            </a:pPr>
            <a:r>
              <a:rPr lang="en-US" sz="1800" b="1" dirty="0">
                <a:solidFill>
                  <a:srgbClr val="6B5AA6"/>
                </a:solidFill>
                <a:latin typeface="Noto Sans ExtraCondensed" pitchFamily="34" charset="0"/>
                <a:ea typeface="Noto Sans ExtraCondensed" pitchFamily="34" charset="-122"/>
                <a:cs typeface="Noto Sans ExtraCondensed" pitchFamily="34" charset="-120"/>
              </a:rPr>
              <a:t>PRIVACY</a:t>
            </a:r>
            <a:endParaRPr lang="en-US" sz="1800" dirty="0"/>
          </a:p>
        </p:txBody>
      </p:sp>
      <p:sp>
        <p:nvSpPr>
          <p:cNvPr id="21" name="Text 19"/>
          <p:cNvSpPr/>
          <p:nvPr/>
        </p:nvSpPr>
        <p:spPr>
          <a:xfrm>
            <a:off x="8229600" y="4727448"/>
            <a:ext cx="3154680" cy="411480"/>
          </a:xfrm>
          <a:prstGeom prst="rect">
            <a:avLst/>
          </a:prstGeom>
          <a:noFill/>
          <a:ln/>
        </p:spPr>
        <p:txBody>
          <a:bodyPr wrap="square" lIns="0" tIns="0" rIns="0" bIns="0" rtlCol="0" anchor="ctr"/>
          <a:lstStyle/>
          <a:p>
            <a:pPr algn="ctr" indent="0" marL="0">
              <a:buNone/>
            </a:pPr>
            <a:r>
              <a:rPr lang="en-US" sz="1360" dirty="0">
                <a:solidFill>
                  <a:srgbClr val="2B2A29"/>
                </a:solidFill>
                <a:latin typeface="Noto Sans SemiCondensed" pitchFamily="34" charset="0"/>
                <a:ea typeface="Noto Sans SemiCondensed" pitchFamily="34" charset="-122"/>
                <a:cs typeface="Noto Sans SemiCondensed" pitchFamily="34" charset="-120"/>
              </a:rPr>
              <a:t>Is data collection necessary, proportionate and transparent?</a:t>
            </a:r>
            <a:endParaRPr lang="en-US" sz="1360" dirty="0"/>
          </a:p>
        </p:txBody>
      </p:sp>
      <p:sp>
        <p:nvSpPr>
          <p:cNvPr id="22" name="Shape 20"/>
          <p:cNvSpPr/>
          <p:nvPr/>
        </p:nvSpPr>
        <p:spPr>
          <a:xfrm>
            <a:off x="8028432" y="1325880"/>
            <a:ext cx="3566160" cy="1051560"/>
          </a:xfrm>
          <a:prstGeom prst="roundRect">
            <a:avLst/>
          </a:prstGeom>
          <a:solidFill>
            <a:srgbClr val="FFFFFF"/>
          </a:solidFill>
          <a:ln w="25400">
            <a:solidFill>
              <a:srgbClr val="C95B61"/>
            </a:solidFill>
            <a:prstDash val="solid"/>
          </a:ln>
        </p:spPr>
      </p:sp>
      <p:sp>
        <p:nvSpPr>
          <p:cNvPr id="23" name="Text 21"/>
          <p:cNvSpPr/>
          <p:nvPr/>
        </p:nvSpPr>
        <p:spPr>
          <a:xfrm>
            <a:off x="8193024" y="1453896"/>
            <a:ext cx="3200400" cy="256032"/>
          </a:xfrm>
          <a:prstGeom prst="rect">
            <a:avLst/>
          </a:prstGeom>
          <a:noFill/>
          <a:ln/>
        </p:spPr>
        <p:txBody>
          <a:bodyPr wrap="square" lIns="0" tIns="0" rIns="0" bIns="0" rtlCol="0" anchor="ctr"/>
          <a:lstStyle/>
          <a:p>
            <a:pPr algn="ctr" indent="0" marL="0">
              <a:buNone/>
            </a:pPr>
            <a:r>
              <a:rPr lang="en-US" sz="1800" b="1" dirty="0">
                <a:solidFill>
                  <a:srgbClr val="C95B61"/>
                </a:solidFill>
                <a:latin typeface="Noto Sans ExtraCondensed" pitchFamily="34" charset="0"/>
                <a:ea typeface="Noto Sans ExtraCondensed" pitchFamily="34" charset="-122"/>
                <a:cs typeface="Noto Sans ExtraCondensed" pitchFamily="34" charset="-120"/>
              </a:rPr>
              <a:t>INCLUSION</a:t>
            </a:r>
            <a:endParaRPr lang="en-US" sz="1800" dirty="0"/>
          </a:p>
        </p:txBody>
      </p:sp>
      <p:sp>
        <p:nvSpPr>
          <p:cNvPr id="24" name="Text 22"/>
          <p:cNvSpPr/>
          <p:nvPr/>
        </p:nvSpPr>
        <p:spPr>
          <a:xfrm>
            <a:off x="8229600" y="1801368"/>
            <a:ext cx="3154680" cy="411480"/>
          </a:xfrm>
          <a:prstGeom prst="rect">
            <a:avLst/>
          </a:prstGeom>
          <a:noFill/>
          <a:ln/>
        </p:spPr>
        <p:txBody>
          <a:bodyPr wrap="square" lIns="0" tIns="0" rIns="0" bIns="0" rtlCol="0" anchor="ctr"/>
          <a:lstStyle/>
          <a:p>
            <a:pPr algn="ctr" indent="0" marL="0">
              <a:buNone/>
            </a:pPr>
            <a:r>
              <a:rPr lang="en-US" sz="1360" dirty="0">
                <a:solidFill>
                  <a:srgbClr val="2B2A29"/>
                </a:solidFill>
                <a:latin typeface="Noto Sans SemiCondensed" pitchFamily="34" charset="0"/>
                <a:ea typeface="Noto Sans SemiCondensed" pitchFamily="34" charset="-122"/>
                <a:cs typeface="Noto Sans SemiCondensed" pitchFamily="34" charset="-120"/>
              </a:rPr>
              <a:t>Does the tool work for different users and accessibility needs?</a:t>
            </a:r>
            <a:endParaRPr lang="en-US" sz="1360" dirty="0"/>
          </a:p>
        </p:txBody>
      </p:sp>
      <p:sp>
        <p:nvSpPr>
          <p:cNvPr id="25" name="Shape 23"/>
          <p:cNvSpPr/>
          <p:nvPr/>
        </p:nvSpPr>
        <p:spPr>
          <a:xfrm>
            <a:off x="4315968" y="1115568"/>
            <a:ext cx="3566160" cy="1051560"/>
          </a:xfrm>
          <a:prstGeom prst="roundRect">
            <a:avLst/>
          </a:prstGeom>
          <a:solidFill>
            <a:srgbClr val="FFFFFF"/>
          </a:solidFill>
          <a:ln w="25400">
            <a:solidFill>
              <a:srgbClr val="7885BC"/>
            </a:solidFill>
            <a:prstDash val="solid"/>
          </a:ln>
        </p:spPr>
      </p:sp>
      <p:sp>
        <p:nvSpPr>
          <p:cNvPr id="26" name="Text 24"/>
          <p:cNvSpPr/>
          <p:nvPr/>
        </p:nvSpPr>
        <p:spPr>
          <a:xfrm>
            <a:off x="4480560" y="1243584"/>
            <a:ext cx="3200400" cy="256032"/>
          </a:xfrm>
          <a:prstGeom prst="rect">
            <a:avLst/>
          </a:prstGeom>
          <a:noFill/>
          <a:ln/>
        </p:spPr>
        <p:txBody>
          <a:bodyPr wrap="square" lIns="0" tIns="0" rIns="0" bIns="0" rtlCol="0" anchor="ctr"/>
          <a:lstStyle/>
          <a:p>
            <a:pPr algn="ctr" indent="0" marL="0">
              <a:buNone/>
            </a:pPr>
            <a:r>
              <a:rPr lang="en-US" sz="1800" b="1" dirty="0">
                <a:solidFill>
                  <a:srgbClr val="7885BC"/>
                </a:solidFill>
                <a:latin typeface="Noto Sans ExtraCondensed" pitchFamily="34" charset="0"/>
                <a:ea typeface="Noto Sans ExtraCondensed" pitchFamily="34" charset="-122"/>
                <a:cs typeface="Noto Sans ExtraCondensed" pitchFamily="34" charset="-120"/>
              </a:rPr>
              <a:t>LEARNING</a:t>
            </a:r>
            <a:endParaRPr lang="en-US" sz="1800" dirty="0"/>
          </a:p>
        </p:txBody>
      </p:sp>
      <p:sp>
        <p:nvSpPr>
          <p:cNvPr id="27" name="Text 25"/>
          <p:cNvSpPr/>
          <p:nvPr/>
        </p:nvSpPr>
        <p:spPr>
          <a:xfrm>
            <a:off x="4517136" y="1591056"/>
            <a:ext cx="3154680" cy="411480"/>
          </a:xfrm>
          <a:prstGeom prst="rect">
            <a:avLst/>
          </a:prstGeom>
          <a:noFill/>
          <a:ln/>
        </p:spPr>
        <p:txBody>
          <a:bodyPr wrap="square" lIns="0" tIns="0" rIns="0" bIns="0" rtlCol="0" anchor="ctr"/>
          <a:lstStyle/>
          <a:p>
            <a:pPr algn="ctr" indent="0" marL="0">
              <a:buNone/>
            </a:pPr>
            <a:r>
              <a:rPr lang="en-US" sz="1360" dirty="0">
                <a:solidFill>
                  <a:srgbClr val="2B2A29"/>
                </a:solidFill>
                <a:latin typeface="Noto Sans SemiCondensed" pitchFamily="34" charset="0"/>
                <a:ea typeface="Noto Sans SemiCondensed" pitchFamily="34" charset="-122"/>
                <a:cs typeface="Noto Sans SemiCondensed" pitchFamily="34" charset="-120"/>
              </a:rPr>
              <a:t>How will errors, incidents and unintended effects be reviewed?</a:t>
            </a:r>
            <a:endParaRPr lang="en-US" sz="13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84B96"/>
        </a:solidFill>
      </p:bgPr>
    </p:bg>
    <p:spTree>
      <p:nvGrpSpPr>
        <p:cNvPr id="1" name=""/>
        <p:cNvGrpSpPr/>
        <p:nvPr/>
      </p:nvGrpSpPr>
      <p:grpSpPr>
        <a:xfrm>
          <a:off x="0" y="0"/>
          <a:ext cx="0" cy="0"/>
          <a:chOff x="0" y="0"/>
          <a:chExt cx="0" cy="0"/>
        </a:xfrm>
      </p:grpSpPr>
      <p:sp>
        <p:nvSpPr>
          <p:cNvPr id="2" name="Text 0"/>
          <p:cNvSpPr/>
          <p:nvPr/>
        </p:nvSpPr>
        <p:spPr>
          <a:xfrm>
            <a:off x="530352" y="256032"/>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PSYCHOSOCIAL WORKING ENVIRONMENT</a:t>
            </a:r>
            <a:endParaRPr lang="en-US" sz="1000" dirty="0"/>
          </a:p>
        </p:txBody>
      </p:sp>
      <p:sp>
        <p:nvSpPr>
          <p:cNvPr id="3" name="Text 1"/>
          <p:cNvSpPr/>
          <p:nvPr/>
        </p:nvSpPr>
        <p:spPr>
          <a:xfrm>
            <a:off x="530352" y="457200"/>
            <a:ext cx="10241280" cy="594360"/>
          </a:xfrm>
          <a:prstGeom prst="rect">
            <a:avLst/>
          </a:prstGeom>
          <a:noFill/>
          <a:ln/>
        </p:spPr>
        <p:txBody>
          <a:bodyPr wrap="square" lIns="0" tIns="0" rIns="0" bIns="0" rtlCol="0" anchor="ctr"/>
          <a:lstStyle/>
          <a:p>
            <a:pPr indent="0" marL="0">
              <a:buNone/>
            </a:pPr>
            <a:r>
              <a:rPr lang="en-US" sz="3100" b="1" dirty="0">
                <a:solidFill>
                  <a:srgbClr val="FFFFFF"/>
                </a:solidFill>
                <a:latin typeface="Noto Sans SemiCondensed" pitchFamily="34" charset="0"/>
                <a:ea typeface="Noto Sans SemiCondensed" pitchFamily="34" charset="-122"/>
                <a:cs typeface="Noto Sans SemiCondensed" pitchFamily="34" charset="-120"/>
              </a:rPr>
              <a:t>Psychosocial risks are work-design risks</a:t>
            </a:r>
            <a:endParaRPr lang="en-US" sz="3100" dirty="0"/>
          </a:p>
        </p:txBody>
      </p:sp>
      <p:sp>
        <p:nvSpPr>
          <p:cNvPr id="4" name="Shape 2"/>
          <p:cNvSpPr/>
          <p:nvPr/>
        </p:nvSpPr>
        <p:spPr>
          <a:xfrm>
            <a:off x="0" y="6729984"/>
            <a:ext cx="12191695" cy="128016"/>
          </a:xfrm>
          <a:prstGeom prst="rect">
            <a:avLst/>
          </a:prstGeom>
          <a:solidFill>
            <a:srgbClr val="00A3E0"/>
          </a:solidFill>
          <a:ln w="12700">
            <a:solidFill>
              <a:srgbClr val="00A3E0"/>
            </a:solidFill>
            <a:prstDash val="solid"/>
          </a:ln>
        </p:spPr>
      </p:sp>
      <p:sp>
        <p:nvSpPr>
          <p:cNvPr id="5" name="Text 3"/>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FFFFFF"/>
                </a:solidFill>
                <a:latin typeface="Noto Sans SemiCondensed" pitchFamily="34" charset="0"/>
                <a:ea typeface="Noto Sans SemiCondensed" pitchFamily="34" charset="-122"/>
                <a:cs typeface="Noto Sans SemiCondensed" pitchFamily="34" charset="-120"/>
              </a:rPr>
              <a:t>18</a:t>
            </a:r>
            <a:endParaRPr lang="en-US" sz="900" dirty="0"/>
          </a:p>
        </p:txBody>
      </p:sp>
      <p:sp>
        <p:nvSpPr>
          <p:cNvPr id="6" name="Text 4"/>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7" name="Shape 5"/>
          <p:cNvSpPr/>
          <p:nvPr/>
        </p:nvSpPr>
        <p:spPr>
          <a:xfrm>
            <a:off x="3273552" y="1417320"/>
            <a:ext cx="5669280" cy="4526280"/>
          </a:xfrm>
          <a:prstGeom prst="ellipse">
            <a:avLst/>
          </a:prstGeom>
          <a:solidFill>
            <a:srgbClr val="4E64A6"/>
          </a:solidFill>
          <a:ln w="19050">
            <a:solidFill>
              <a:srgbClr val="D1D5EB"/>
            </a:solidFill>
            <a:prstDash val="solid"/>
          </a:ln>
        </p:spPr>
      </p:sp>
      <p:sp>
        <p:nvSpPr>
          <p:cNvPr id="8" name="Shape 6"/>
          <p:cNvSpPr/>
          <p:nvPr/>
        </p:nvSpPr>
        <p:spPr>
          <a:xfrm>
            <a:off x="4160520" y="2084832"/>
            <a:ext cx="3886200" cy="3200400"/>
          </a:xfrm>
          <a:prstGeom prst="ellipse">
            <a:avLst/>
          </a:prstGeom>
          <a:solidFill>
            <a:srgbClr val="7885BC"/>
          </a:solidFill>
          <a:ln w="19050">
            <a:solidFill>
              <a:srgbClr val="00A3E0"/>
            </a:solidFill>
            <a:prstDash val="solid"/>
          </a:ln>
        </p:spPr>
      </p:sp>
      <p:sp>
        <p:nvSpPr>
          <p:cNvPr id="9" name="Shape 7"/>
          <p:cNvSpPr/>
          <p:nvPr/>
        </p:nvSpPr>
        <p:spPr>
          <a:xfrm>
            <a:off x="5010912" y="2743200"/>
            <a:ext cx="2194560" cy="1874520"/>
          </a:xfrm>
          <a:prstGeom prst="ellipse">
            <a:avLst/>
          </a:prstGeom>
          <a:solidFill>
            <a:srgbClr val="00A3E0"/>
          </a:solidFill>
          <a:ln w="16510">
            <a:solidFill>
              <a:srgbClr val="FFFFFF"/>
            </a:solidFill>
            <a:prstDash val="solid"/>
          </a:ln>
        </p:spPr>
      </p:sp>
      <p:sp>
        <p:nvSpPr>
          <p:cNvPr id="10" name="Text 8"/>
          <p:cNvSpPr/>
          <p:nvPr/>
        </p:nvSpPr>
        <p:spPr>
          <a:xfrm>
            <a:off x="3840480" y="1764792"/>
            <a:ext cx="4526280" cy="274320"/>
          </a:xfrm>
          <a:prstGeom prst="rect">
            <a:avLst/>
          </a:prstGeom>
          <a:noFill/>
          <a:ln/>
        </p:spPr>
        <p:txBody>
          <a:bodyPr wrap="square" lIns="0" tIns="0" rIns="0" bIns="0" rtlCol="0" anchor="ctr"/>
          <a:lstStyle/>
          <a:p>
            <a:pPr algn="ctr" indent="0" marL="0">
              <a:buNone/>
            </a:pPr>
            <a:r>
              <a:rPr lang="en-US" sz="1900" b="1" dirty="0">
                <a:solidFill>
                  <a:srgbClr val="FFFFFF"/>
                </a:solidFill>
                <a:latin typeface="Noto Sans ExtraCondensed" pitchFamily="34" charset="0"/>
                <a:ea typeface="Noto Sans ExtraCondensed" pitchFamily="34" charset="-122"/>
                <a:cs typeface="Noto Sans ExtraCondensed" pitchFamily="34" charset="-120"/>
              </a:rPr>
              <a:t>SECTOR AND POLICY CONTEXT</a:t>
            </a:r>
            <a:endParaRPr lang="en-US" sz="1900" dirty="0"/>
          </a:p>
        </p:txBody>
      </p:sp>
      <p:sp>
        <p:nvSpPr>
          <p:cNvPr id="11" name="Text 9"/>
          <p:cNvSpPr/>
          <p:nvPr/>
        </p:nvSpPr>
        <p:spPr>
          <a:xfrm>
            <a:off x="4434840" y="2404872"/>
            <a:ext cx="3337560" cy="27432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ExtraCondensed" pitchFamily="34" charset="0"/>
                <a:ea typeface="Noto Sans ExtraCondensed" pitchFamily="34" charset="-122"/>
                <a:cs typeface="Noto Sans ExtraCondensed" pitchFamily="34" charset="-120"/>
              </a:rPr>
              <a:t>ORGANIZATION AND WORKPLACE</a:t>
            </a:r>
            <a:endParaRPr lang="en-US" sz="1800" dirty="0"/>
          </a:p>
        </p:txBody>
      </p:sp>
      <p:sp>
        <p:nvSpPr>
          <p:cNvPr id="12" name="Text 10"/>
          <p:cNvSpPr/>
          <p:nvPr/>
        </p:nvSpPr>
        <p:spPr>
          <a:xfrm>
            <a:off x="5349240" y="3447288"/>
            <a:ext cx="1508760" cy="256032"/>
          </a:xfrm>
          <a:prstGeom prst="rect">
            <a:avLst/>
          </a:prstGeom>
          <a:noFill/>
          <a:ln/>
        </p:spPr>
        <p:txBody>
          <a:bodyPr wrap="square" lIns="0" tIns="0" rIns="0" bIns="0" rtlCol="0" anchor="ctr"/>
          <a:lstStyle/>
          <a:p>
            <a:pPr algn="ctr" indent="0" marL="0">
              <a:buNone/>
            </a:pPr>
            <a:r>
              <a:rPr lang="en-US" sz="1900" b="1" dirty="0">
                <a:solidFill>
                  <a:srgbClr val="FFFFFF"/>
                </a:solidFill>
                <a:latin typeface="Noto Sans ExtraCondensed" pitchFamily="34" charset="0"/>
                <a:ea typeface="Noto Sans ExtraCondensed" pitchFamily="34" charset="-122"/>
                <a:cs typeface="Noto Sans ExtraCondensed" pitchFamily="34" charset="-120"/>
              </a:rPr>
              <a:t>TASK / ROLE</a:t>
            </a:r>
            <a:endParaRPr lang="en-US" sz="1900" dirty="0"/>
          </a:p>
        </p:txBody>
      </p:sp>
      <p:sp>
        <p:nvSpPr>
          <p:cNvPr id="13" name="Text 11"/>
          <p:cNvSpPr/>
          <p:nvPr/>
        </p:nvSpPr>
        <p:spPr>
          <a:xfrm>
            <a:off x="5047488" y="3749040"/>
            <a:ext cx="2084832" cy="640080"/>
          </a:xfrm>
          <a:prstGeom prst="rect">
            <a:avLst/>
          </a:prstGeom>
          <a:noFill/>
          <a:ln/>
        </p:spPr>
        <p:txBody>
          <a:bodyPr wrap="square" lIns="0" tIns="0" rIns="0" bIns="0" rtlCol="0" anchor="ctr"/>
          <a:lstStyle/>
          <a:p>
            <a:pPr algn="ctr" indent="0" marL="0">
              <a:buNone/>
            </a:pPr>
            <a:r>
              <a:rPr lang="en-US" sz="1280" dirty="0">
                <a:solidFill>
                  <a:srgbClr val="FFFFFF"/>
                </a:solidFill>
                <a:latin typeface="Noto Sans SemiCondensed" pitchFamily="34" charset="0"/>
                <a:ea typeface="Noto Sans SemiCondensed" pitchFamily="34" charset="-122"/>
                <a:cs typeface="Noto Sans SemiCondensed" pitchFamily="34" charset="-120"/>
              </a:rPr>
              <a:t>Job demands, workload, role clarity, autonomy and exposure to traumatic events</a:t>
            </a:r>
            <a:endParaRPr lang="en-US" sz="1280" dirty="0"/>
          </a:p>
        </p:txBody>
      </p:sp>
      <p:sp>
        <p:nvSpPr>
          <p:cNvPr id="14" name="Text 12"/>
          <p:cNvSpPr/>
          <p:nvPr/>
        </p:nvSpPr>
        <p:spPr>
          <a:xfrm>
            <a:off x="4325112" y="4709160"/>
            <a:ext cx="3566160" cy="566928"/>
          </a:xfrm>
          <a:prstGeom prst="rect">
            <a:avLst/>
          </a:prstGeom>
          <a:noFill/>
          <a:ln/>
        </p:spPr>
        <p:txBody>
          <a:bodyPr wrap="square" lIns="0" tIns="0" rIns="0" bIns="0" rtlCol="0" anchor="ctr"/>
          <a:lstStyle/>
          <a:p>
            <a:pPr algn="ctr" indent="0" marL="0">
              <a:buNone/>
            </a:pPr>
            <a:r>
              <a:rPr lang="en-US" sz="1320" dirty="0">
                <a:solidFill>
                  <a:srgbClr val="FFFFFF"/>
                </a:solidFill>
                <a:latin typeface="Noto Sans SemiCondensed" pitchFamily="34" charset="0"/>
                <a:ea typeface="Noto Sans SemiCondensed" pitchFamily="34" charset="-122"/>
                <a:cs typeface="Noto Sans SemiCondensed" pitchFamily="34" charset="-120"/>
              </a:rPr>
              <a:t>Staffing, schedules, leadership, fairness, support, participation and reporting systems</a:t>
            </a:r>
            <a:endParaRPr lang="en-US" sz="1320" dirty="0"/>
          </a:p>
        </p:txBody>
      </p:sp>
      <p:sp>
        <p:nvSpPr>
          <p:cNvPr id="15" name="Text 13"/>
          <p:cNvSpPr/>
          <p:nvPr/>
        </p:nvSpPr>
        <p:spPr>
          <a:xfrm>
            <a:off x="3493008" y="5486400"/>
            <a:ext cx="5212080" cy="365760"/>
          </a:xfrm>
          <a:prstGeom prst="rect">
            <a:avLst/>
          </a:prstGeom>
          <a:noFill/>
          <a:ln/>
        </p:spPr>
        <p:txBody>
          <a:bodyPr wrap="square" lIns="0" tIns="0" rIns="0" bIns="0" rtlCol="0" anchor="ctr"/>
          <a:lstStyle/>
          <a:p>
            <a:pPr algn="ctr" indent="0" marL="0">
              <a:buNone/>
            </a:pPr>
            <a:r>
              <a:rPr lang="en-US" sz="1350" dirty="0">
                <a:solidFill>
                  <a:srgbClr val="FFFFFF"/>
                </a:solidFill>
                <a:latin typeface="Noto Sans SemiCondensed" pitchFamily="34" charset="0"/>
                <a:ea typeface="Noto Sans SemiCondensed" pitchFamily="34" charset="-122"/>
                <a:cs typeface="Noto Sans SemiCondensed" pitchFamily="34" charset="-120"/>
              </a:rPr>
              <a:t>Regulation, restructuring, labour-market insecurity, social dialogue and public expectations</a:t>
            </a:r>
            <a:endParaRPr lang="en-US" sz="1350" dirty="0"/>
          </a:p>
        </p:txBody>
      </p:sp>
      <p:sp>
        <p:nvSpPr>
          <p:cNvPr id="16" name="Text 14"/>
          <p:cNvSpPr/>
          <p:nvPr/>
        </p:nvSpPr>
        <p:spPr>
          <a:xfrm>
            <a:off x="685800" y="6016752"/>
            <a:ext cx="10789920" cy="320040"/>
          </a:xfrm>
          <a:prstGeom prst="rect">
            <a:avLst/>
          </a:prstGeom>
          <a:noFill/>
          <a:ln/>
        </p:spPr>
        <p:txBody>
          <a:bodyPr wrap="square" lIns="0" tIns="0" rIns="0" bIns="0" rtlCol="0" anchor="ctr"/>
          <a:lstStyle/>
          <a:p>
            <a:pPr algn="ctr" indent="0" marL="0">
              <a:buNone/>
            </a:pPr>
            <a:r>
              <a:rPr lang="en-US" sz="1900" b="1" dirty="0">
                <a:solidFill>
                  <a:srgbClr val="FFFFFF"/>
                </a:solidFill>
                <a:latin typeface="Noto Sans SemiCondensed" pitchFamily="34" charset="0"/>
                <a:ea typeface="Noto Sans SemiCondensed" pitchFamily="34" charset="-122"/>
                <a:cs typeface="Noto Sans SemiCondensed" pitchFamily="34" charset="-120"/>
              </a:rPr>
              <a:t>Prevention must act at all three levels - not only teach individuals to cope.</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PSYCHOSOCIAL RISKS</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The psychosocial risk profile of energy work</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19</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5166360" y="2468880"/>
            <a:ext cx="1828800" cy="1828800"/>
          </a:xfrm>
          <a:prstGeom prst="ellipse">
            <a:avLst/>
          </a:prstGeom>
          <a:solidFill>
            <a:srgbClr val="284B96"/>
          </a:solidFill>
          <a:ln w="12700">
            <a:solidFill>
              <a:srgbClr val="284B96"/>
            </a:solidFill>
            <a:prstDash val="solid"/>
          </a:ln>
        </p:spPr>
      </p:sp>
      <p:sp>
        <p:nvSpPr>
          <p:cNvPr id="9" name="Text 7"/>
          <p:cNvSpPr/>
          <p:nvPr/>
        </p:nvSpPr>
        <p:spPr>
          <a:xfrm>
            <a:off x="5458968" y="2880360"/>
            <a:ext cx="1243584" cy="960120"/>
          </a:xfrm>
          <a:prstGeom prst="rect">
            <a:avLst/>
          </a:prstGeom>
          <a:noFill/>
          <a:ln/>
        </p:spPr>
        <p:txBody>
          <a:bodyPr wrap="square" lIns="0" tIns="0" rIns="0" bIns="0" rtlCol="0" anchor="ctr"/>
          <a:lstStyle/>
          <a:p>
            <a:pPr algn="ctr" indent="0" marL="0">
              <a:buNone/>
            </a:pPr>
            <a:r>
              <a:rPr lang="en-US" sz="1850" b="1" dirty="0">
                <a:solidFill>
                  <a:srgbClr val="FFFFFF"/>
                </a:solidFill>
                <a:latin typeface="Noto Sans ExtraCondensed" pitchFamily="34" charset="0"/>
                <a:ea typeface="Noto Sans ExtraCondensed" pitchFamily="34" charset="-122"/>
                <a:cs typeface="Noto Sans ExtraCondensed" pitchFamily="34" charset="-120"/>
              </a:rPr>
              <a:t>SAFE AND</a:t>
            </a:r>
            <a:endParaRPr lang="en-US" sz="1850" dirty="0"/>
          </a:p>
          <a:p>
            <a:pPr algn="ctr" indent="0" marL="0">
              <a:buNone/>
            </a:pPr>
            <a:r>
              <a:rPr lang="en-US" sz="1850" b="1" dirty="0">
                <a:solidFill>
                  <a:srgbClr val="FFFFFF"/>
                </a:solidFill>
                <a:latin typeface="Noto Sans ExtraCondensed" pitchFamily="34" charset="0"/>
                <a:ea typeface="Noto Sans ExtraCondensed" pitchFamily="34" charset="-122"/>
                <a:cs typeface="Noto Sans ExtraCondensed" pitchFamily="34" charset="-120"/>
              </a:rPr>
              <a:t>SUSTAINABLE</a:t>
            </a:r>
            <a:endParaRPr lang="en-US" sz="1850" dirty="0"/>
          </a:p>
          <a:p>
            <a:pPr algn="ctr" indent="0" marL="0">
              <a:buNone/>
            </a:pPr>
            <a:r>
              <a:rPr lang="en-US" sz="1850" b="1" dirty="0">
                <a:solidFill>
                  <a:srgbClr val="FFFFFF"/>
                </a:solidFill>
                <a:latin typeface="Noto Sans ExtraCondensed" pitchFamily="34" charset="0"/>
                <a:ea typeface="Noto Sans ExtraCondensed" pitchFamily="34" charset="-122"/>
                <a:cs typeface="Noto Sans ExtraCondensed" pitchFamily="34" charset="-120"/>
              </a:rPr>
              <a:t>PERFORMANCE</a:t>
            </a:r>
            <a:endParaRPr lang="en-US" sz="1850" dirty="0"/>
          </a:p>
        </p:txBody>
      </p:sp>
      <p:sp>
        <p:nvSpPr>
          <p:cNvPr id="10" name="Shape 8"/>
          <p:cNvSpPr/>
          <p:nvPr/>
        </p:nvSpPr>
        <p:spPr>
          <a:xfrm>
            <a:off x="685800" y="1417320"/>
            <a:ext cx="3246120" cy="1051560"/>
          </a:xfrm>
          <a:prstGeom prst="roundRect">
            <a:avLst/>
          </a:prstGeom>
          <a:solidFill>
            <a:srgbClr val="FFFFFF"/>
          </a:solidFill>
          <a:ln w="25400">
            <a:solidFill>
              <a:srgbClr val="C95B61"/>
            </a:solidFill>
            <a:prstDash val="solid"/>
          </a:ln>
        </p:spPr>
      </p:sp>
      <p:sp>
        <p:nvSpPr>
          <p:cNvPr id="11" name="Text 9"/>
          <p:cNvSpPr/>
          <p:nvPr/>
        </p:nvSpPr>
        <p:spPr>
          <a:xfrm>
            <a:off x="850392" y="1545336"/>
            <a:ext cx="2926080" cy="256032"/>
          </a:xfrm>
          <a:prstGeom prst="rect">
            <a:avLst/>
          </a:prstGeom>
          <a:noFill/>
          <a:ln/>
        </p:spPr>
        <p:txBody>
          <a:bodyPr wrap="square" lIns="0" tIns="0" rIns="0" bIns="0" rtlCol="0" anchor="ctr"/>
          <a:lstStyle/>
          <a:p>
            <a:pPr algn="ctr" indent="0" marL="0">
              <a:buNone/>
            </a:pPr>
            <a:r>
              <a:rPr lang="en-US" sz="1750" b="1" dirty="0">
                <a:solidFill>
                  <a:srgbClr val="C95B61"/>
                </a:solidFill>
                <a:latin typeface="Noto Sans ExtraCondensed" pitchFamily="34" charset="0"/>
                <a:ea typeface="Noto Sans ExtraCondensed" pitchFamily="34" charset="-122"/>
                <a:cs typeface="Noto Sans ExtraCondensed" pitchFamily="34" charset="-120"/>
              </a:rPr>
              <a:t>FATIGUE</a:t>
            </a:r>
            <a:endParaRPr lang="en-US" sz="1750" dirty="0"/>
          </a:p>
        </p:txBody>
      </p:sp>
      <p:sp>
        <p:nvSpPr>
          <p:cNvPr id="12" name="Text 10"/>
          <p:cNvSpPr/>
          <p:nvPr/>
        </p:nvSpPr>
        <p:spPr>
          <a:xfrm>
            <a:off x="886968" y="1892808"/>
            <a:ext cx="2834640" cy="393192"/>
          </a:xfrm>
          <a:prstGeom prst="rect">
            <a:avLst/>
          </a:prstGeom>
          <a:noFill/>
          <a:ln/>
        </p:spPr>
        <p:txBody>
          <a:bodyPr wrap="square" lIns="0" tIns="0" rIns="0" bIns="0" rtlCol="0" anchor="ctr"/>
          <a:lstStyle/>
          <a:p>
            <a:pPr algn="ctr" indent="0" marL="0">
              <a:buNone/>
            </a:pPr>
            <a:r>
              <a:rPr lang="en-US" sz="1320" dirty="0">
                <a:solidFill>
                  <a:srgbClr val="2B2A29"/>
                </a:solidFill>
                <a:latin typeface="Noto Sans SemiCondensed" pitchFamily="34" charset="0"/>
                <a:ea typeface="Noto Sans SemiCondensed" pitchFamily="34" charset="-122"/>
                <a:cs typeface="Noto Sans SemiCondensed" pitchFamily="34" charset="-120"/>
              </a:rPr>
              <a:t>Long shifts, night work and interrupted recovery</a:t>
            </a:r>
            <a:endParaRPr lang="en-US" sz="1320" dirty="0"/>
          </a:p>
        </p:txBody>
      </p:sp>
      <p:sp>
        <p:nvSpPr>
          <p:cNvPr id="13" name="Shape 11"/>
          <p:cNvSpPr/>
          <p:nvPr/>
        </p:nvSpPr>
        <p:spPr>
          <a:xfrm>
            <a:off x="2313432" y="2496312"/>
            <a:ext cx="2944368" cy="155448"/>
          </a:xfrm>
          <a:prstGeom prst="line">
            <a:avLst/>
          </a:prstGeom>
          <a:noFill/>
          <a:ln w="16510">
            <a:solidFill>
              <a:srgbClr val="A4ABD4"/>
            </a:solidFill>
            <a:prstDash val="solid"/>
            <a:tailEnd type="triangle"/>
          </a:ln>
        </p:spPr>
      </p:sp>
      <p:sp>
        <p:nvSpPr>
          <p:cNvPr id="14" name="Shape 12"/>
          <p:cNvSpPr/>
          <p:nvPr/>
        </p:nvSpPr>
        <p:spPr>
          <a:xfrm>
            <a:off x="4206240" y="1051560"/>
            <a:ext cx="3246120" cy="1051560"/>
          </a:xfrm>
          <a:prstGeom prst="roundRect">
            <a:avLst/>
          </a:prstGeom>
          <a:solidFill>
            <a:srgbClr val="FFFFFF"/>
          </a:solidFill>
          <a:ln w="25400">
            <a:solidFill>
              <a:srgbClr val="6B5AA6"/>
            </a:solidFill>
            <a:prstDash val="solid"/>
          </a:ln>
        </p:spPr>
      </p:sp>
      <p:sp>
        <p:nvSpPr>
          <p:cNvPr id="15" name="Text 13"/>
          <p:cNvSpPr/>
          <p:nvPr/>
        </p:nvSpPr>
        <p:spPr>
          <a:xfrm>
            <a:off x="4370832" y="1179576"/>
            <a:ext cx="2926080" cy="256032"/>
          </a:xfrm>
          <a:prstGeom prst="rect">
            <a:avLst/>
          </a:prstGeom>
          <a:noFill/>
          <a:ln/>
        </p:spPr>
        <p:txBody>
          <a:bodyPr wrap="square" lIns="0" tIns="0" rIns="0" bIns="0" rtlCol="0" anchor="ctr"/>
          <a:lstStyle/>
          <a:p>
            <a:pPr algn="ctr" indent="0" marL="0">
              <a:buNone/>
            </a:pPr>
            <a:r>
              <a:rPr lang="en-US" sz="1750" b="1" dirty="0">
                <a:solidFill>
                  <a:srgbClr val="6B5AA6"/>
                </a:solidFill>
                <a:latin typeface="Noto Sans ExtraCondensed" pitchFamily="34" charset="0"/>
                <a:ea typeface="Noto Sans ExtraCondensed" pitchFamily="34" charset="-122"/>
                <a:cs typeface="Noto Sans ExtraCondensed" pitchFamily="34" charset="-120"/>
              </a:rPr>
              <a:t>TRAUMATIC EXPOSURE</a:t>
            </a:r>
            <a:endParaRPr lang="en-US" sz="1750" dirty="0"/>
          </a:p>
        </p:txBody>
      </p:sp>
      <p:sp>
        <p:nvSpPr>
          <p:cNvPr id="16" name="Text 14"/>
          <p:cNvSpPr/>
          <p:nvPr/>
        </p:nvSpPr>
        <p:spPr>
          <a:xfrm>
            <a:off x="4407408" y="1527048"/>
            <a:ext cx="2834640" cy="393192"/>
          </a:xfrm>
          <a:prstGeom prst="rect">
            <a:avLst/>
          </a:prstGeom>
          <a:noFill/>
          <a:ln/>
        </p:spPr>
        <p:txBody>
          <a:bodyPr wrap="square" lIns="0" tIns="0" rIns="0" bIns="0" rtlCol="0" anchor="ctr"/>
          <a:lstStyle/>
          <a:p>
            <a:pPr algn="ctr" indent="0" marL="0">
              <a:buNone/>
            </a:pPr>
            <a:r>
              <a:rPr lang="en-US" sz="1320" dirty="0">
                <a:solidFill>
                  <a:srgbClr val="2B2A29"/>
                </a:solidFill>
                <a:latin typeface="Noto Sans SemiCondensed" pitchFamily="34" charset="0"/>
                <a:ea typeface="Noto Sans SemiCondensed" pitchFamily="34" charset="-122"/>
                <a:cs typeface="Noto Sans SemiCondensed" pitchFamily="34" charset="-120"/>
              </a:rPr>
              <a:t>Injury, attacks, disasters and repeated emergency response</a:t>
            </a:r>
            <a:endParaRPr lang="en-US" sz="1320" dirty="0"/>
          </a:p>
        </p:txBody>
      </p:sp>
      <p:sp>
        <p:nvSpPr>
          <p:cNvPr id="17" name="Shape 15"/>
          <p:cNvSpPr/>
          <p:nvPr/>
        </p:nvSpPr>
        <p:spPr>
          <a:xfrm>
            <a:off x="5833872" y="2130552"/>
            <a:ext cx="246888" cy="521208"/>
          </a:xfrm>
          <a:prstGeom prst="line">
            <a:avLst/>
          </a:prstGeom>
          <a:noFill/>
          <a:ln w="16510">
            <a:solidFill>
              <a:srgbClr val="A4ABD4"/>
            </a:solidFill>
            <a:prstDash val="solid"/>
            <a:tailEnd type="triangle"/>
          </a:ln>
        </p:spPr>
      </p:sp>
      <p:sp>
        <p:nvSpPr>
          <p:cNvPr id="18" name="Shape 16"/>
          <p:cNvSpPr/>
          <p:nvPr/>
        </p:nvSpPr>
        <p:spPr>
          <a:xfrm>
            <a:off x="8092440" y="1417320"/>
            <a:ext cx="3246120" cy="1051560"/>
          </a:xfrm>
          <a:prstGeom prst="roundRect">
            <a:avLst/>
          </a:prstGeom>
          <a:solidFill>
            <a:srgbClr val="FFFFFF"/>
          </a:solidFill>
          <a:ln w="25400">
            <a:solidFill>
              <a:srgbClr val="E7A33E"/>
            </a:solidFill>
            <a:prstDash val="solid"/>
          </a:ln>
        </p:spPr>
      </p:sp>
      <p:sp>
        <p:nvSpPr>
          <p:cNvPr id="19" name="Text 17"/>
          <p:cNvSpPr/>
          <p:nvPr/>
        </p:nvSpPr>
        <p:spPr>
          <a:xfrm>
            <a:off x="8257032" y="1545336"/>
            <a:ext cx="2926080" cy="256032"/>
          </a:xfrm>
          <a:prstGeom prst="rect">
            <a:avLst/>
          </a:prstGeom>
          <a:noFill/>
          <a:ln/>
        </p:spPr>
        <p:txBody>
          <a:bodyPr wrap="square" lIns="0" tIns="0" rIns="0" bIns="0" rtlCol="0" anchor="ctr"/>
          <a:lstStyle/>
          <a:p>
            <a:pPr algn="ctr" indent="0" marL="0">
              <a:buNone/>
            </a:pPr>
            <a:r>
              <a:rPr lang="en-US" sz="1750" b="1" dirty="0">
                <a:solidFill>
                  <a:srgbClr val="E7A33E"/>
                </a:solidFill>
                <a:latin typeface="Noto Sans ExtraCondensed" pitchFamily="34" charset="0"/>
                <a:ea typeface="Noto Sans ExtraCondensed" pitchFamily="34" charset="-122"/>
                <a:cs typeface="Noto Sans ExtraCondensed" pitchFamily="34" charset="-120"/>
              </a:rPr>
              <a:t>TIME PRESSURE</a:t>
            </a:r>
            <a:endParaRPr lang="en-US" sz="1750" dirty="0"/>
          </a:p>
        </p:txBody>
      </p:sp>
      <p:sp>
        <p:nvSpPr>
          <p:cNvPr id="20" name="Text 18"/>
          <p:cNvSpPr/>
          <p:nvPr/>
        </p:nvSpPr>
        <p:spPr>
          <a:xfrm>
            <a:off x="8293608" y="1892808"/>
            <a:ext cx="2834640" cy="393192"/>
          </a:xfrm>
          <a:prstGeom prst="rect">
            <a:avLst/>
          </a:prstGeom>
          <a:noFill/>
          <a:ln/>
        </p:spPr>
        <p:txBody>
          <a:bodyPr wrap="square" lIns="0" tIns="0" rIns="0" bIns="0" rtlCol="0" anchor="ctr"/>
          <a:lstStyle/>
          <a:p>
            <a:pPr algn="ctr" indent="0" marL="0">
              <a:buNone/>
            </a:pPr>
            <a:r>
              <a:rPr lang="en-US" sz="1320" dirty="0">
                <a:solidFill>
                  <a:srgbClr val="2B2A29"/>
                </a:solidFill>
                <a:latin typeface="Noto Sans SemiCondensed" pitchFamily="34" charset="0"/>
                <a:ea typeface="Noto Sans SemiCondensed" pitchFamily="34" charset="-122"/>
                <a:cs typeface="Noto Sans SemiCondensed" pitchFamily="34" charset="-120"/>
              </a:rPr>
              <a:t>Pressure to restore service and avoid disruption</a:t>
            </a:r>
            <a:endParaRPr lang="en-US" sz="1320" dirty="0"/>
          </a:p>
        </p:txBody>
      </p:sp>
      <p:sp>
        <p:nvSpPr>
          <p:cNvPr id="21" name="Shape 19"/>
          <p:cNvSpPr/>
          <p:nvPr/>
        </p:nvSpPr>
        <p:spPr>
          <a:xfrm>
            <a:off x="9720072" y="2496312"/>
            <a:ext cx="-2816352" cy="155448"/>
          </a:xfrm>
          <a:prstGeom prst="line">
            <a:avLst/>
          </a:prstGeom>
          <a:noFill/>
          <a:ln w="16510">
            <a:solidFill>
              <a:srgbClr val="A4ABD4"/>
            </a:solidFill>
            <a:prstDash val="solid"/>
            <a:tailEnd type="triangle"/>
          </a:ln>
        </p:spPr>
      </p:sp>
      <p:sp>
        <p:nvSpPr>
          <p:cNvPr id="22" name="Shape 20"/>
          <p:cNvSpPr/>
          <p:nvPr/>
        </p:nvSpPr>
        <p:spPr>
          <a:xfrm>
            <a:off x="8366760" y="4343400"/>
            <a:ext cx="3246120" cy="1051560"/>
          </a:xfrm>
          <a:prstGeom prst="roundRect">
            <a:avLst/>
          </a:prstGeom>
          <a:solidFill>
            <a:srgbClr val="FFFFFF"/>
          </a:solidFill>
          <a:ln w="25400">
            <a:solidFill>
              <a:srgbClr val="00A3E0"/>
            </a:solidFill>
            <a:prstDash val="solid"/>
          </a:ln>
        </p:spPr>
      </p:sp>
      <p:sp>
        <p:nvSpPr>
          <p:cNvPr id="23" name="Text 21"/>
          <p:cNvSpPr/>
          <p:nvPr/>
        </p:nvSpPr>
        <p:spPr>
          <a:xfrm>
            <a:off x="8531352" y="4471416"/>
            <a:ext cx="2926080" cy="256032"/>
          </a:xfrm>
          <a:prstGeom prst="rect">
            <a:avLst/>
          </a:prstGeom>
          <a:noFill/>
          <a:ln/>
        </p:spPr>
        <p:txBody>
          <a:bodyPr wrap="square" lIns="0" tIns="0" rIns="0" bIns="0" rtlCol="0" anchor="ctr"/>
          <a:lstStyle/>
          <a:p>
            <a:pPr algn="ctr" indent="0" marL="0">
              <a:buNone/>
            </a:pPr>
            <a:r>
              <a:rPr lang="en-US" sz="1750" b="1" dirty="0">
                <a:solidFill>
                  <a:srgbClr val="00A3E0"/>
                </a:solidFill>
                <a:latin typeface="Noto Sans ExtraCondensed" pitchFamily="34" charset="0"/>
                <a:ea typeface="Noto Sans ExtraCondensed" pitchFamily="34" charset="-122"/>
                <a:cs typeface="Noto Sans ExtraCondensed" pitchFamily="34" charset="-120"/>
              </a:rPr>
              <a:t>LOW CONTROL / ROLE CONFLICT</a:t>
            </a:r>
            <a:endParaRPr lang="en-US" sz="1750" dirty="0"/>
          </a:p>
        </p:txBody>
      </p:sp>
      <p:sp>
        <p:nvSpPr>
          <p:cNvPr id="24" name="Text 22"/>
          <p:cNvSpPr/>
          <p:nvPr/>
        </p:nvSpPr>
        <p:spPr>
          <a:xfrm>
            <a:off x="8567928" y="4818888"/>
            <a:ext cx="2834640" cy="393192"/>
          </a:xfrm>
          <a:prstGeom prst="rect">
            <a:avLst/>
          </a:prstGeom>
          <a:noFill/>
          <a:ln/>
        </p:spPr>
        <p:txBody>
          <a:bodyPr wrap="square" lIns="0" tIns="0" rIns="0" bIns="0" rtlCol="0" anchor="ctr"/>
          <a:lstStyle/>
          <a:p>
            <a:pPr algn="ctr" indent="0" marL="0">
              <a:buNone/>
            </a:pPr>
            <a:r>
              <a:rPr lang="en-US" sz="1320" dirty="0">
                <a:solidFill>
                  <a:srgbClr val="2B2A29"/>
                </a:solidFill>
                <a:latin typeface="Noto Sans SemiCondensed" pitchFamily="34" charset="0"/>
                <a:ea typeface="Noto Sans SemiCondensed" pitchFamily="34" charset="-122"/>
                <a:cs typeface="Noto Sans SemiCondensed" pitchFamily="34" charset="-120"/>
              </a:rPr>
              <a:t>Competing instructions and unclear authority</a:t>
            </a:r>
            <a:endParaRPr lang="en-US" sz="1320" dirty="0"/>
          </a:p>
        </p:txBody>
      </p:sp>
      <p:sp>
        <p:nvSpPr>
          <p:cNvPr id="25" name="Shape 23"/>
          <p:cNvSpPr/>
          <p:nvPr/>
        </p:nvSpPr>
        <p:spPr>
          <a:xfrm>
            <a:off x="9994392" y="4270248"/>
            <a:ext cx="-3090672" cy="-155448"/>
          </a:xfrm>
          <a:prstGeom prst="line">
            <a:avLst/>
          </a:prstGeom>
          <a:noFill/>
          <a:ln w="16510">
            <a:solidFill>
              <a:srgbClr val="A4ABD4"/>
            </a:solidFill>
            <a:prstDash val="solid"/>
            <a:tailEnd type="triangle"/>
          </a:ln>
        </p:spPr>
      </p:sp>
      <p:sp>
        <p:nvSpPr>
          <p:cNvPr id="26" name="Shape 24"/>
          <p:cNvSpPr/>
          <p:nvPr/>
        </p:nvSpPr>
        <p:spPr>
          <a:xfrm>
            <a:off x="4297680" y="5166360"/>
            <a:ext cx="3246120" cy="1051560"/>
          </a:xfrm>
          <a:prstGeom prst="roundRect">
            <a:avLst/>
          </a:prstGeom>
          <a:solidFill>
            <a:srgbClr val="FFFFFF"/>
          </a:solidFill>
          <a:ln w="25400">
            <a:solidFill>
              <a:srgbClr val="2E8B78"/>
            </a:solidFill>
            <a:prstDash val="solid"/>
          </a:ln>
        </p:spPr>
      </p:sp>
      <p:sp>
        <p:nvSpPr>
          <p:cNvPr id="27" name="Text 25"/>
          <p:cNvSpPr/>
          <p:nvPr/>
        </p:nvSpPr>
        <p:spPr>
          <a:xfrm>
            <a:off x="4462272" y="5294376"/>
            <a:ext cx="2926080" cy="256032"/>
          </a:xfrm>
          <a:prstGeom prst="rect">
            <a:avLst/>
          </a:prstGeom>
          <a:noFill/>
          <a:ln/>
        </p:spPr>
        <p:txBody>
          <a:bodyPr wrap="square" lIns="0" tIns="0" rIns="0" bIns="0" rtlCol="0" anchor="ctr"/>
          <a:lstStyle/>
          <a:p>
            <a:pPr algn="ctr" indent="0" marL="0">
              <a:buNone/>
            </a:pPr>
            <a:r>
              <a:rPr lang="en-US" sz="1750" b="1" dirty="0">
                <a:solidFill>
                  <a:srgbClr val="2E8B78"/>
                </a:solidFill>
                <a:latin typeface="Noto Sans ExtraCondensed" pitchFamily="34" charset="0"/>
                <a:ea typeface="Noto Sans ExtraCondensed" pitchFamily="34" charset="-122"/>
                <a:cs typeface="Noto Sans ExtraCondensed" pitchFamily="34" charset="-120"/>
              </a:rPr>
              <a:t>ISOLATION</a:t>
            </a:r>
            <a:endParaRPr lang="en-US" sz="1750" dirty="0"/>
          </a:p>
        </p:txBody>
      </p:sp>
      <p:sp>
        <p:nvSpPr>
          <p:cNvPr id="28" name="Text 26"/>
          <p:cNvSpPr/>
          <p:nvPr/>
        </p:nvSpPr>
        <p:spPr>
          <a:xfrm>
            <a:off x="4498848" y="5641848"/>
            <a:ext cx="2834640" cy="393192"/>
          </a:xfrm>
          <a:prstGeom prst="rect">
            <a:avLst/>
          </a:prstGeom>
          <a:noFill/>
          <a:ln/>
        </p:spPr>
        <p:txBody>
          <a:bodyPr wrap="square" lIns="0" tIns="0" rIns="0" bIns="0" rtlCol="0" anchor="ctr"/>
          <a:lstStyle/>
          <a:p>
            <a:pPr algn="ctr" indent="0" marL="0">
              <a:buNone/>
            </a:pPr>
            <a:r>
              <a:rPr lang="en-US" sz="1320" dirty="0">
                <a:solidFill>
                  <a:srgbClr val="2B2A29"/>
                </a:solidFill>
                <a:latin typeface="Noto Sans SemiCondensed" pitchFamily="34" charset="0"/>
                <a:ea typeface="Noto Sans SemiCondensed" pitchFamily="34" charset="-122"/>
                <a:cs typeface="Noto Sans SemiCondensed" pitchFamily="34" charset="-120"/>
              </a:rPr>
              <a:t>Remote sites, lone work and weak support</a:t>
            </a:r>
            <a:endParaRPr lang="en-US" sz="1320" dirty="0"/>
          </a:p>
        </p:txBody>
      </p:sp>
      <p:sp>
        <p:nvSpPr>
          <p:cNvPr id="29" name="Shape 27"/>
          <p:cNvSpPr/>
          <p:nvPr/>
        </p:nvSpPr>
        <p:spPr>
          <a:xfrm>
            <a:off x="5925312" y="5093208"/>
            <a:ext cx="155448" cy="-978408"/>
          </a:xfrm>
          <a:prstGeom prst="line">
            <a:avLst/>
          </a:prstGeom>
          <a:noFill/>
          <a:ln w="16510">
            <a:solidFill>
              <a:srgbClr val="A4ABD4"/>
            </a:solidFill>
            <a:prstDash val="solid"/>
            <a:tailEnd type="triangle"/>
          </a:ln>
        </p:spPr>
      </p:sp>
      <p:sp>
        <p:nvSpPr>
          <p:cNvPr id="30" name="Shape 28"/>
          <p:cNvSpPr/>
          <p:nvPr/>
        </p:nvSpPr>
        <p:spPr>
          <a:xfrm>
            <a:off x="548640" y="4343400"/>
            <a:ext cx="3246120" cy="1051560"/>
          </a:xfrm>
          <a:prstGeom prst="roundRect">
            <a:avLst/>
          </a:prstGeom>
          <a:solidFill>
            <a:srgbClr val="FFFFFF"/>
          </a:solidFill>
          <a:ln w="25400">
            <a:solidFill>
              <a:srgbClr val="7885BC"/>
            </a:solidFill>
            <a:prstDash val="solid"/>
          </a:ln>
        </p:spPr>
      </p:sp>
      <p:sp>
        <p:nvSpPr>
          <p:cNvPr id="31" name="Text 29"/>
          <p:cNvSpPr/>
          <p:nvPr/>
        </p:nvSpPr>
        <p:spPr>
          <a:xfrm>
            <a:off x="713232" y="4471416"/>
            <a:ext cx="2926080" cy="256032"/>
          </a:xfrm>
          <a:prstGeom prst="rect">
            <a:avLst/>
          </a:prstGeom>
          <a:noFill/>
          <a:ln/>
        </p:spPr>
        <p:txBody>
          <a:bodyPr wrap="square" lIns="0" tIns="0" rIns="0" bIns="0" rtlCol="0" anchor="ctr"/>
          <a:lstStyle/>
          <a:p>
            <a:pPr algn="ctr" indent="0" marL="0">
              <a:buNone/>
            </a:pPr>
            <a:r>
              <a:rPr lang="en-US" sz="1750" b="1" dirty="0">
                <a:solidFill>
                  <a:srgbClr val="7885BC"/>
                </a:solidFill>
                <a:latin typeface="Noto Sans ExtraCondensed" pitchFamily="34" charset="0"/>
                <a:ea typeface="Noto Sans ExtraCondensed" pitchFamily="34" charset="-122"/>
                <a:cs typeface="Noto Sans ExtraCondensed" pitchFamily="34" charset="-120"/>
              </a:rPr>
              <a:t>INSECURITY / CHANGE</a:t>
            </a:r>
            <a:endParaRPr lang="en-US" sz="1750" dirty="0"/>
          </a:p>
        </p:txBody>
      </p:sp>
      <p:sp>
        <p:nvSpPr>
          <p:cNvPr id="32" name="Text 30"/>
          <p:cNvSpPr/>
          <p:nvPr/>
        </p:nvSpPr>
        <p:spPr>
          <a:xfrm>
            <a:off x="749808" y="4818888"/>
            <a:ext cx="2834640" cy="393192"/>
          </a:xfrm>
          <a:prstGeom prst="rect">
            <a:avLst/>
          </a:prstGeom>
          <a:noFill/>
          <a:ln/>
        </p:spPr>
        <p:txBody>
          <a:bodyPr wrap="square" lIns="0" tIns="0" rIns="0" bIns="0" rtlCol="0" anchor="ctr"/>
          <a:lstStyle/>
          <a:p>
            <a:pPr algn="ctr" indent="0" marL="0">
              <a:buNone/>
            </a:pPr>
            <a:r>
              <a:rPr lang="en-US" sz="1320" dirty="0">
                <a:solidFill>
                  <a:srgbClr val="2B2A29"/>
                </a:solidFill>
                <a:latin typeface="Noto Sans SemiCondensed" pitchFamily="34" charset="0"/>
                <a:ea typeface="Noto Sans SemiCondensed" pitchFamily="34" charset="-122"/>
                <a:cs typeface="Noto Sans SemiCondensed" pitchFamily="34" charset="-120"/>
              </a:rPr>
              <a:t>Restructuring, new technology and uncertain careers</a:t>
            </a:r>
            <a:endParaRPr lang="en-US" sz="1320" dirty="0"/>
          </a:p>
        </p:txBody>
      </p:sp>
      <p:sp>
        <p:nvSpPr>
          <p:cNvPr id="33" name="Shape 31"/>
          <p:cNvSpPr/>
          <p:nvPr/>
        </p:nvSpPr>
        <p:spPr>
          <a:xfrm>
            <a:off x="2176272" y="4270248"/>
            <a:ext cx="3081528" cy="-155448"/>
          </a:xfrm>
          <a:prstGeom prst="line">
            <a:avLst/>
          </a:prstGeom>
          <a:noFill/>
          <a:ln w="16510">
            <a:solidFill>
              <a:srgbClr val="A4ABD4"/>
            </a:solidFill>
            <a:prstDash val="solid"/>
            <a:tailEnd type="triangle"/>
          </a:ln>
        </p:spPr>
      </p:sp>
      <p:sp>
        <p:nvSpPr>
          <p:cNvPr id="34" name="Text 32"/>
          <p:cNvSpPr/>
          <p:nvPr/>
        </p:nvSpPr>
        <p:spPr>
          <a:xfrm>
            <a:off x="1097280" y="6080760"/>
            <a:ext cx="9966960" cy="274320"/>
          </a:xfrm>
          <a:prstGeom prst="rect">
            <a:avLst/>
          </a:prstGeom>
          <a:noFill/>
          <a:ln/>
        </p:spPr>
        <p:txBody>
          <a:bodyPr wrap="square" lIns="0" tIns="0" rIns="0" bIns="0" rtlCol="0" anchor="ctr"/>
          <a:lstStyle/>
          <a:p>
            <a:pPr algn="ctr" indent="0" marL="0">
              <a:buNone/>
            </a:pPr>
            <a:r>
              <a:rPr lang="en-US" sz="1650" b="1" dirty="0">
                <a:solidFill>
                  <a:srgbClr val="284B96"/>
                </a:solidFill>
                <a:latin typeface="Noto Sans SemiCondensed" pitchFamily="34" charset="0"/>
                <a:ea typeface="Noto Sans SemiCondensed" pitchFamily="34" charset="-122"/>
                <a:cs typeface="Noto Sans SemiCondensed" pitchFamily="34" charset="-120"/>
              </a:rPr>
              <a:t>Possible outcomes: error and near misses | conflict | ill-health | turnover | exclusion from work</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Transmission system repair work">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84B96">
              <a:alpha val="72000"/>
            </a:srgbClr>
          </a:solidFill>
          <a:ln w="12700">
            <a:solidFill>
              <a:srgbClr val="284B96">
                <a:alpha val="0"/>
              </a:srgbClr>
            </a:solidFill>
            <a:prstDash val="solid"/>
          </a:ln>
        </p:spPr>
      </p:sp>
      <p:sp>
        <p:nvSpPr>
          <p:cNvPr id="4" name="Shape 1"/>
          <p:cNvSpPr/>
          <p:nvPr/>
        </p:nvSpPr>
        <p:spPr>
          <a:xfrm>
            <a:off x="658368" y="502920"/>
            <a:ext cx="1051560" cy="310896"/>
          </a:xfrm>
          <a:prstGeom prst="roundRect">
            <a:avLst>
              <a:gd name="adj" fmla="val 17647"/>
            </a:avLst>
          </a:prstGeom>
          <a:solidFill>
            <a:srgbClr val="00A3E0"/>
          </a:solidFill>
          <a:ln w="12700">
            <a:solidFill>
              <a:srgbClr val="00A3E0">
                <a:alpha val="0"/>
              </a:srgbClr>
            </a:solidFill>
            <a:prstDash val="solid"/>
          </a:ln>
        </p:spPr>
      </p:sp>
      <p:sp>
        <p:nvSpPr>
          <p:cNvPr id="5" name="Text 2"/>
          <p:cNvSpPr/>
          <p:nvPr/>
        </p:nvSpPr>
        <p:spPr>
          <a:xfrm>
            <a:off x="731520" y="539496"/>
            <a:ext cx="905256" cy="201168"/>
          </a:xfrm>
          <a:prstGeom prst="rect">
            <a:avLst/>
          </a:prstGeom>
          <a:noFill/>
          <a:ln/>
        </p:spPr>
        <p:txBody>
          <a:bodyPr wrap="square" lIns="0" tIns="0" rIns="0" bIns="0" rtlCol="0" anchor="ctr"/>
          <a:lstStyle/>
          <a:p>
            <a:pPr algn="ctr" indent="0" marL="0">
              <a:buNone/>
            </a:pPr>
            <a:r>
              <a:rPr lang="en-US" sz="950" b="1" spc="70" kern="0" dirty="0">
                <a:solidFill>
                  <a:srgbClr val="FFFFFF"/>
                </a:solidFill>
                <a:latin typeface="Noto Sans SemiCondensed" pitchFamily="34" charset="0"/>
                <a:ea typeface="Noto Sans SemiCondensed" pitchFamily="34" charset="-122"/>
                <a:cs typeface="Noto Sans SemiCondensed" pitchFamily="34" charset="-120"/>
              </a:rPr>
              <a:t>UKRAINE</a:t>
            </a:r>
            <a:endParaRPr lang="en-US" sz="950" dirty="0"/>
          </a:p>
        </p:txBody>
      </p:sp>
      <p:sp>
        <p:nvSpPr>
          <p:cNvPr id="6" name="Text 3"/>
          <p:cNvSpPr/>
          <p:nvPr/>
        </p:nvSpPr>
        <p:spPr>
          <a:xfrm>
            <a:off x="685800" y="1051560"/>
            <a:ext cx="5715000" cy="1325880"/>
          </a:xfrm>
          <a:prstGeom prst="rect">
            <a:avLst/>
          </a:prstGeom>
          <a:noFill/>
          <a:ln/>
        </p:spPr>
        <p:txBody>
          <a:bodyPr wrap="square" lIns="0" tIns="0" rIns="0" bIns="0" rtlCol="0" anchor="ctr"/>
          <a:lstStyle/>
          <a:p>
            <a:pPr indent="0" marL="0">
              <a:buNone/>
            </a:pPr>
            <a:r>
              <a:rPr lang="en-US" sz="3400" b="1" dirty="0">
                <a:solidFill>
                  <a:srgbClr val="FFFFFF"/>
                </a:solidFill>
                <a:latin typeface="Noto Sans ExtraCondensed" pitchFamily="34" charset="0"/>
                <a:ea typeface="Noto Sans ExtraCondensed" pitchFamily="34" charset="-122"/>
                <a:cs typeface="Noto Sans ExtraCondensed" pitchFamily="34" charset="-120"/>
              </a:rPr>
              <a:t>ENERGY RESILIENCE DEPENDS</a:t>
            </a:r>
            <a:endParaRPr lang="en-US" sz="3400" dirty="0"/>
          </a:p>
          <a:p>
            <a:pPr indent="0" marL="0">
              <a:buNone/>
            </a:pPr>
            <a:r>
              <a:rPr lang="en-US" sz="3400" b="1" dirty="0">
                <a:solidFill>
                  <a:srgbClr val="FFFFFF"/>
                </a:solidFill>
                <a:latin typeface="Noto Sans ExtraCondensed" pitchFamily="34" charset="0"/>
                <a:ea typeface="Noto Sans ExtraCondensed" pitchFamily="34" charset="-122"/>
                <a:cs typeface="Noto Sans ExtraCondensed" pitchFamily="34" charset="-120"/>
              </a:rPr>
              <a:t>ON WORKER PROTECTION</a:t>
            </a:r>
            <a:endParaRPr lang="en-US" sz="3400" dirty="0"/>
          </a:p>
        </p:txBody>
      </p:sp>
      <p:sp>
        <p:nvSpPr>
          <p:cNvPr id="7" name="Shape 4"/>
          <p:cNvSpPr/>
          <p:nvPr/>
        </p:nvSpPr>
        <p:spPr>
          <a:xfrm>
            <a:off x="749808" y="3017520"/>
            <a:ext cx="685800" cy="0"/>
          </a:xfrm>
          <a:prstGeom prst="line">
            <a:avLst/>
          </a:prstGeom>
          <a:noFill/>
          <a:ln w="76200">
            <a:solidFill>
              <a:srgbClr val="00A3E0"/>
            </a:solidFill>
            <a:prstDash val="solid"/>
          </a:ln>
        </p:spPr>
      </p:sp>
      <p:sp>
        <p:nvSpPr>
          <p:cNvPr id="8" name="Text 5"/>
          <p:cNvSpPr/>
          <p:nvPr/>
        </p:nvSpPr>
        <p:spPr>
          <a:xfrm>
            <a:off x="1627632" y="2788920"/>
            <a:ext cx="2423160" cy="274320"/>
          </a:xfrm>
          <a:prstGeom prst="rect">
            <a:avLst/>
          </a:prstGeom>
          <a:noFill/>
          <a:ln/>
        </p:spPr>
        <p:txBody>
          <a:bodyPr wrap="square" lIns="0" tIns="0" rIns="0" bIns="0" rtlCol="0" anchor="ctr"/>
          <a:lstStyle/>
          <a:p>
            <a:pPr indent="0" marL="0">
              <a:buNone/>
            </a:pPr>
            <a:r>
              <a:rPr lang="en-US" sz="1900" b="1" dirty="0">
                <a:solidFill>
                  <a:srgbClr val="FFFFFF"/>
                </a:solidFill>
                <a:latin typeface="Noto Sans ExtraCondensed" pitchFamily="34" charset="0"/>
                <a:ea typeface="Noto Sans ExtraCondensed" pitchFamily="34" charset="-122"/>
                <a:cs typeface="Noto Sans ExtraCondensed" pitchFamily="34" charset="-120"/>
              </a:rPr>
              <a:t>IMMEDIATE OSH</a:t>
            </a:r>
            <a:endParaRPr lang="en-US" sz="1900" dirty="0"/>
          </a:p>
        </p:txBody>
      </p:sp>
      <p:sp>
        <p:nvSpPr>
          <p:cNvPr id="9" name="Text 6"/>
          <p:cNvSpPr/>
          <p:nvPr/>
        </p:nvSpPr>
        <p:spPr>
          <a:xfrm>
            <a:off x="3794760" y="2743200"/>
            <a:ext cx="7086600" cy="566928"/>
          </a:xfrm>
          <a:prstGeom prst="rect">
            <a:avLst/>
          </a:prstGeom>
          <a:noFill/>
          <a:ln/>
        </p:spPr>
        <p:txBody>
          <a:bodyPr wrap="square" lIns="0" tIns="0" rIns="0" bIns="0" rtlCol="0" anchor="ctr"/>
          <a:lstStyle/>
          <a:p>
            <a:pPr indent="0" marL="0">
              <a:buNone/>
            </a:pPr>
            <a:r>
              <a:rPr lang="en-US" sz="1520" dirty="0">
                <a:solidFill>
                  <a:srgbClr val="FFFFFF"/>
                </a:solidFill>
                <a:latin typeface="Noto Sans SemiCondensed" pitchFamily="34" charset="0"/>
                <a:ea typeface="Noto Sans SemiCondensed" pitchFamily="34" charset="-122"/>
                <a:cs typeface="Noto Sans SemiCondensed" pitchFamily="34" charset="-120"/>
              </a:rPr>
              <a:t>Wartime protocols, appropriate PPE, unexploded ordnance awareness, emergency coordination and safe repair procedures.</a:t>
            </a:r>
            <a:endParaRPr lang="en-US" sz="1520" dirty="0"/>
          </a:p>
        </p:txBody>
      </p:sp>
      <p:sp>
        <p:nvSpPr>
          <p:cNvPr id="10" name="Shape 7"/>
          <p:cNvSpPr/>
          <p:nvPr/>
        </p:nvSpPr>
        <p:spPr>
          <a:xfrm>
            <a:off x="749808" y="4005072"/>
            <a:ext cx="685800" cy="0"/>
          </a:xfrm>
          <a:prstGeom prst="line">
            <a:avLst/>
          </a:prstGeom>
          <a:noFill/>
          <a:ln w="76200">
            <a:solidFill>
              <a:srgbClr val="2E8B78"/>
            </a:solidFill>
            <a:prstDash val="solid"/>
          </a:ln>
        </p:spPr>
      </p:sp>
      <p:sp>
        <p:nvSpPr>
          <p:cNvPr id="11" name="Text 8"/>
          <p:cNvSpPr/>
          <p:nvPr/>
        </p:nvSpPr>
        <p:spPr>
          <a:xfrm>
            <a:off x="1627632" y="3776472"/>
            <a:ext cx="2423160" cy="274320"/>
          </a:xfrm>
          <a:prstGeom prst="rect">
            <a:avLst/>
          </a:prstGeom>
          <a:noFill/>
          <a:ln/>
        </p:spPr>
        <p:txBody>
          <a:bodyPr wrap="square" lIns="0" tIns="0" rIns="0" bIns="0" rtlCol="0" anchor="ctr"/>
          <a:lstStyle/>
          <a:p>
            <a:pPr indent="0" marL="0">
              <a:buNone/>
            </a:pPr>
            <a:r>
              <a:rPr lang="en-US" sz="1900" b="1" dirty="0">
                <a:solidFill>
                  <a:srgbClr val="FFFFFF"/>
                </a:solidFill>
                <a:latin typeface="Noto Sans ExtraCondensed" pitchFamily="34" charset="0"/>
                <a:ea typeface="Noto Sans ExtraCondensed" pitchFamily="34" charset="-122"/>
                <a:cs typeface="Noto Sans ExtraCondensed" pitchFamily="34" charset="-120"/>
              </a:rPr>
              <a:t>PSYCHOSOCIAL SUPPORT</a:t>
            </a:r>
            <a:endParaRPr lang="en-US" sz="1900" dirty="0"/>
          </a:p>
        </p:txBody>
      </p:sp>
      <p:sp>
        <p:nvSpPr>
          <p:cNvPr id="12" name="Text 9"/>
          <p:cNvSpPr/>
          <p:nvPr/>
        </p:nvSpPr>
        <p:spPr>
          <a:xfrm>
            <a:off x="3794760" y="3730752"/>
            <a:ext cx="7086600" cy="566928"/>
          </a:xfrm>
          <a:prstGeom prst="rect">
            <a:avLst/>
          </a:prstGeom>
          <a:noFill/>
          <a:ln/>
        </p:spPr>
        <p:txBody>
          <a:bodyPr wrap="square" lIns="0" tIns="0" rIns="0" bIns="0" rtlCol="0" anchor="ctr"/>
          <a:lstStyle/>
          <a:p>
            <a:pPr indent="0" marL="0">
              <a:buNone/>
            </a:pPr>
            <a:r>
              <a:rPr lang="en-US" sz="1520" dirty="0">
                <a:solidFill>
                  <a:srgbClr val="FFFFFF"/>
                </a:solidFill>
                <a:latin typeface="Noto Sans SemiCondensed" pitchFamily="34" charset="0"/>
                <a:ea typeface="Noto Sans SemiCondensed" pitchFamily="34" charset="-122"/>
                <a:cs typeface="Noto Sans SemiCondensed" pitchFamily="34" charset="-120"/>
              </a:rPr>
              <a:t>Fatigue management, trauma-informed support, peer systems, confidential services and recovery after critical incidents.</a:t>
            </a:r>
            <a:endParaRPr lang="en-US" sz="1520" dirty="0"/>
          </a:p>
        </p:txBody>
      </p:sp>
      <p:sp>
        <p:nvSpPr>
          <p:cNvPr id="13" name="Shape 10"/>
          <p:cNvSpPr/>
          <p:nvPr/>
        </p:nvSpPr>
        <p:spPr>
          <a:xfrm>
            <a:off x="749808" y="4992624"/>
            <a:ext cx="685800" cy="0"/>
          </a:xfrm>
          <a:prstGeom prst="line">
            <a:avLst/>
          </a:prstGeom>
          <a:noFill/>
          <a:ln w="76200">
            <a:solidFill>
              <a:srgbClr val="E7A33E"/>
            </a:solidFill>
            <a:prstDash val="solid"/>
          </a:ln>
        </p:spPr>
      </p:sp>
      <p:sp>
        <p:nvSpPr>
          <p:cNvPr id="14" name="Text 11"/>
          <p:cNvSpPr/>
          <p:nvPr/>
        </p:nvSpPr>
        <p:spPr>
          <a:xfrm>
            <a:off x="1627632" y="4764024"/>
            <a:ext cx="2423160" cy="274320"/>
          </a:xfrm>
          <a:prstGeom prst="rect">
            <a:avLst/>
          </a:prstGeom>
          <a:noFill/>
          <a:ln/>
        </p:spPr>
        <p:txBody>
          <a:bodyPr wrap="square" lIns="0" tIns="0" rIns="0" bIns="0" rtlCol="0" anchor="ctr"/>
          <a:lstStyle/>
          <a:p>
            <a:pPr indent="0" marL="0">
              <a:buNone/>
            </a:pPr>
            <a:r>
              <a:rPr lang="en-US" sz="1900" b="1" dirty="0">
                <a:solidFill>
                  <a:srgbClr val="FFFFFF"/>
                </a:solidFill>
                <a:latin typeface="Noto Sans ExtraCondensed" pitchFamily="34" charset="0"/>
                <a:ea typeface="Noto Sans ExtraCondensed" pitchFamily="34" charset="-122"/>
                <a:cs typeface="Noto Sans ExtraCondensed" pitchFamily="34" charset="-120"/>
              </a:rPr>
              <a:t>FUTURE SKILLS AND INCLUSION</a:t>
            </a:r>
            <a:endParaRPr lang="en-US" sz="1900" dirty="0"/>
          </a:p>
        </p:txBody>
      </p:sp>
      <p:sp>
        <p:nvSpPr>
          <p:cNvPr id="15" name="Text 12"/>
          <p:cNvSpPr/>
          <p:nvPr/>
        </p:nvSpPr>
        <p:spPr>
          <a:xfrm>
            <a:off x="3794760" y="4718304"/>
            <a:ext cx="7086600" cy="566928"/>
          </a:xfrm>
          <a:prstGeom prst="rect">
            <a:avLst/>
          </a:prstGeom>
          <a:noFill/>
          <a:ln/>
        </p:spPr>
        <p:txBody>
          <a:bodyPr wrap="square" lIns="0" tIns="0" rIns="0" bIns="0" rtlCol="0" anchor="ctr"/>
          <a:lstStyle/>
          <a:p>
            <a:pPr indent="0" marL="0">
              <a:buNone/>
            </a:pPr>
            <a:r>
              <a:rPr lang="en-US" sz="1520" dirty="0">
                <a:solidFill>
                  <a:srgbClr val="FFFFFF"/>
                </a:solidFill>
                <a:latin typeface="Noto Sans SemiCondensed" pitchFamily="34" charset="0"/>
                <a:ea typeface="Noto Sans SemiCondensed" pitchFamily="34" charset="-122"/>
                <a:cs typeface="Noto Sans SemiCondensed" pitchFamily="34" charset="-120"/>
              </a:rPr>
              <a:t>Prepare women, veterans, persons with disabilities and displaced workers for a modern, decentralized and renewable system.</a:t>
            </a:r>
            <a:endParaRPr lang="en-US" sz="1520" dirty="0"/>
          </a:p>
        </p:txBody>
      </p:sp>
      <p:sp>
        <p:nvSpPr>
          <p:cNvPr id="16" name="Shape 13"/>
          <p:cNvSpPr/>
          <p:nvPr/>
        </p:nvSpPr>
        <p:spPr>
          <a:xfrm>
            <a:off x="0" y="6729984"/>
            <a:ext cx="12191695" cy="128016"/>
          </a:xfrm>
          <a:prstGeom prst="rect">
            <a:avLst/>
          </a:prstGeom>
          <a:solidFill>
            <a:srgbClr val="00A3E0"/>
          </a:solidFill>
          <a:ln w="12700">
            <a:solidFill>
              <a:srgbClr val="00A3E0"/>
            </a:solidFill>
            <a:prstDash val="solid"/>
          </a:ln>
        </p:spPr>
      </p:sp>
      <p:sp>
        <p:nvSpPr>
          <p:cNvPr id="17" name="Text 1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FFFFFF"/>
                </a:solidFill>
                <a:latin typeface="Noto Sans SemiCondensed" pitchFamily="34" charset="0"/>
                <a:ea typeface="Noto Sans SemiCondensed" pitchFamily="34" charset="-122"/>
                <a:cs typeface="Noto Sans SemiCondensed" pitchFamily="34" charset="-120"/>
              </a:rPr>
              <a:t>20</a:t>
            </a:r>
            <a:endParaRPr lang="en-US" sz="900" dirty="0"/>
          </a:p>
        </p:txBody>
      </p:sp>
      <p:sp>
        <p:nvSpPr>
          <p:cNvPr id="18" name="Text 1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ITCILO</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UKRAINE AND WORKFORCE INCLUSION</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Inclusive recovery and reintegration</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21</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4434840" y="2148840"/>
            <a:ext cx="3291840" cy="2011680"/>
          </a:xfrm>
          <a:prstGeom prst="ellipse">
            <a:avLst/>
          </a:prstGeom>
          <a:solidFill>
            <a:srgbClr val="284B96"/>
          </a:solidFill>
          <a:ln w="12700">
            <a:solidFill>
              <a:srgbClr val="284B96"/>
            </a:solidFill>
            <a:prstDash val="solid"/>
          </a:ln>
        </p:spPr>
      </p:sp>
      <p:sp>
        <p:nvSpPr>
          <p:cNvPr id="9" name="Text 7"/>
          <p:cNvSpPr/>
          <p:nvPr/>
        </p:nvSpPr>
        <p:spPr>
          <a:xfrm>
            <a:off x="4956048" y="2606040"/>
            <a:ext cx="2240280" cy="960120"/>
          </a:xfrm>
          <a:prstGeom prst="rect">
            <a:avLst/>
          </a:prstGeom>
          <a:noFill/>
          <a:ln/>
        </p:spPr>
        <p:txBody>
          <a:bodyPr wrap="square" lIns="0" tIns="0" rIns="0" bIns="0" rtlCol="0" anchor="ctr"/>
          <a:lstStyle/>
          <a:p>
            <a:pPr algn="ctr" indent="0" marL="0">
              <a:buNone/>
            </a:pPr>
            <a:r>
              <a:rPr lang="en-US" sz="2300" b="1" dirty="0">
                <a:solidFill>
                  <a:srgbClr val="FFFFFF"/>
                </a:solidFill>
                <a:latin typeface="Noto Sans ExtraCondensed" pitchFamily="34" charset="0"/>
                <a:ea typeface="Noto Sans ExtraCondensed" pitchFamily="34" charset="-122"/>
                <a:cs typeface="Noto Sans ExtraCondensed" pitchFamily="34" charset="-120"/>
              </a:rPr>
              <a:t>COMPETENCE +</a:t>
            </a:r>
            <a:endParaRPr lang="en-US" sz="2300" dirty="0"/>
          </a:p>
          <a:p>
            <a:pPr algn="ctr" indent="0" marL="0">
              <a:buNone/>
            </a:pPr>
            <a:r>
              <a:rPr lang="en-US" sz="2300" b="1" dirty="0">
                <a:solidFill>
                  <a:srgbClr val="FFFFFF"/>
                </a:solidFill>
                <a:latin typeface="Noto Sans ExtraCondensed" pitchFamily="34" charset="0"/>
                <a:ea typeface="Noto Sans ExtraCondensed" pitchFamily="34" charset="-122"/>
                <a:cs typeface="Noto Sans ExtraCondensed" pitchFamily="34" charset="-120"/>
              </a:rPr>
              <a:t>SAFE ACCOMMODATION +</a:t>
            </a:r>
            <a:endParaRPr lang="en-US" sz="2300" dirty="0"/>
          </a:p>
          <a:p>
            <a:pPr algn="ctr" indent="0" marL="0">
              <a:buNone/>
            </a:pPr>
            <a:r>
              <a:rPr lang="en-US" sz="2300" b="1" dirty="0">
                <a:solidFill>
                  <a:srgbClr val="FFFFFF"/>
                </a:solidFill>
                <a:latin typeface="Noto Sans ExtraCondensed" pitchFamily="34" charset="0"/>
                <a:ea typeface="Noto Sans ExtraCondensed" pitchFamily="34" charset="-122"/>
                <a:cs typeface="Noto Sans ExtraCondensed" pitchFamily="34" charset="-120"/>
              </a:rPr>
              <a:t>DIGNITY</a:t>
            </a:r>
            <a:endParaRPr lang="en-US" sz="2300" dirty="0"/>
          </a:p>
        </p:txBody>
      </p:sp>
      <p:sp>
        <p:nvSpPr>
          <p:cNvPr id="10" name="Shape 8"/>
          <p:cNvSpPr/>
          <p:nvPr/>
        </p:nvSpPr>
        <p:spPr>
          <a:xfrm>
            <a:off x="502920" y="1325880"/>
            <a:ext cx="3474720" cy="1143000"/>
          </a:xfrm>
          <a:prstGeom prst="roundRect">
            <a:avLst/>
          </a:prstGeom>
          <a:solidFill>
            <a:srgbClr val="FFFFFF"/>
          </a:solidFill>
          <a:ln w="25400">
            <a:solidFill>
              <a:srgbClr val="00A3E0"/>
            </a:solidFill>
            <a:prstDash val="solid"/>
          </a:ln>
        </p:spPr>
      </p:sp>
      <p:sp>
        <p:nvSpPr>
          <p:cNvPr id="11" name="Text 9"/>
          <p:cNvSpPr/>
          <p:nvPr/>
        </p:nvSpPr>
        <p:spPr>
          <a:xfrm>
            <a:off x="731520" y="1664208"/>
            <a:ext cx="3017520" cy="457200"/>
          </a:xfrm>
          <a:prstGeom prst="rect">
            <a:avLst/>
          </a:prstGeom>
          <a:noFill/>
          <a:ln/>
        </p:spPr>
        <p:txBody>
          <a:bodyPr wrap="square" lIns="0" tIns="0" rIns="0" bIns="0" rtlCol="0" anchor="ctr"/>
          <a:lstStyle/>
          <a:p>
            <a:pPr algn="ctr" indent="0" marL="0">
              <a:buNone/>
            </a:pPr>
            <a:r>
              <a:rPr lang="en-US" sz="1800" b="1" dirty="0">
                <a:solidFill>
                  <a:srgbClr val="00A3E0"/>
                </a:solidFill>
                <a:latin typeface="Noto Sans ExtraCondensed" pitchFamily="34" charset="0"/>
                <a:ea typeface="Noto Sans ExtraCondensed" pitchFamily="34" charset="-122"/>
                <a:cs typeface="Noto Sans ExtraCondensed" pitchFamily="34" charset="-120"/>
              </a:rPr>
              <a:t>WOMEN ENTERING TECHNICAL ROLES</a:t>
            </a:r>
            <a:endParaRPr lang="en-US" sz="1800" dirty="0"/>
          </a:p>
        </p:txBody>
      </p:sp>
      <p:sp>
        <p:nvSpPr>
          <p:cNvPr id="12" name="Shape 10"/>
          <p:cNvSpPr/>
          <p:nvPr/>
        </p:nvSpPr>
        <p:spPr>
          <a:xfrm>
            <a:off x="3995928" y="1892808"/>
            <a:ext cx="320040" cy="1261872"/>
          </a:xfrm>
          <a:prstGeom prst="line">
            <a:avLst/>
          </a:prstGeom>
          <a:noFill/>
          <a:ln w="19050">
            <a:solidFill>
              <a:srgbClr val="A4ABD4"/>
            </a:solidFill>
            <a:prstDash val="solid"/>
            <a:tailEnd type="triangle"/>
          </a:ln>
        </p:spPr>
      </p:sp>
      <p:sp>
        <p:nvSpPr>
          <p:cNvPr id="13" name="Shape 11"/>
          <p:cNvSpPr/>
          <p:nvPr/>
        </p:nvSpPr>
        <p:spPr>
          <a:xfrm>
            <a:off x="8183880" y="1325880"/>
            <a:ext cx="3474720" cy="1143000"/>
          </a:xfrm>
          <a:prstGeom prst="roundRect">
            <a:avLst/>
          </a:prstGeom>
          <a:solidFill>
            <a:srgbClr val="FFFFFF"/>
          </a:solidFill>
          <a:ln w="25400">
            <a:solidFill>
              <a:srgbClr val="2E8B78"/>
            </a:solidFill>
            <a:prstDash val="solid"/>
          </a:ln>
        </p:spPr>
      </p:sp>
      <p:sp>
        <p:nvSpPr>
          <p:cNvPr id="14" name="Text 12"/>
          <p:cNvSpPr/>
          <p:nvPr/>
        </p:nvSpPr>
        <p:spPr>
          <a:xfrm>
            <a:off x="8412480" y="1664208"/>
            <a:ext cx="3017520" cy="457200"/>
          </a:xfrm>
          <a:prstGeom prst="rect">
            <a:avLst/>
          </a:prstGeom>
          <a:noFill/>
          <a:ln/>
        </p:spPr>
        <p:txBody>
          <a:bodyPr wrap="square" lIns="0" tIns="0" rIns="0" bIns="0" rtlCol="0" anchor="ctr"/>
          <a:lstStyle/>
          <a:p>
            <a:pPr algn="ctr" indent="0" marL="0">
              <a:buNone/>
            </a:pPr>
            <a:r>
              <a:rPr lang="en-US" sz="1800" b="1" dirty="0">
                <a:solidFill>
                  <a:srgbClr val="2E8B78"/>
                </a:solidFill>
                <a:latin typeface="Noto Sans ExtraCondensed" pitchFamily="34" charset="0"/>
                <a:ea typeface="Noto Sans ExtraCondensed" pitchFamily="34" charset="-122"/>
                <a:cs typeface="Noto Sans ExtraCondensed" pitchFamily="34" charset="-120"/>
              </a:rPr>
              <a:t>VETERANS AND RETURNING WORKERS</a:t>
            </a:r>
            <a:endParaRPr lang="en-US" sz="1800" dirty="0"/>
          </a:p>
        </p:txBody>
      </p:sp>
      <p:sp>
        <p:nvSpPr>
          <p:cNvPr id="15" name="Shape 13"/>
          <p:cNvSpPr/>
          <p:nvPr/>
        </p:nvSpPr>
        <p:spPr>
          <a:xfrm>
            <a:off x="8138160" y="1892808"/>
            <a:ext cx="-320040" cy="1261872"/>
          </a:xfrm>
          <a:prstGeom prst="line">
            <a:avLst/>
          </a:prstGeom>
          <a:noFill/>
          <a:ln w="19050">
            <a:solidFill>
              <a:srgbClr val="A4ABD4"/>
            </a:solidFill>
            <a:prstDash val="solid"/>
            <a:tailEnd type="triangle"/>
          </a:ln>
        </p:spPr>
      </p:sp>
      <p:sp>
        <p:nvSpPr>
          <p:cNvPr id="16" name="Shape 14"/>
          <p:cNvSpPr/>
          <p:nvPr/>
        </p:nvSpPr>
        <p:spPr>
          <a:xfrm>
            <a:off x="502920" y="4480560"/>
            <a:ext cx="3474720" cy="1143000"/>
          </a:xfrm>
          <a:prstGeom prst="roundRect">
            <a:avLst/>
          </a:prstGeom>
          <a:solidFill>
            <a:srgbClr val="FFFFFF"/>
          </a:solidFill>
          <a:ln w="25400">
            <a:solidFill>
              <a:srgbClr val="6B5AA6"/>
            </a:solidFill>
            <a:prstDash val="solid"/>
          </a:ln>
        </p:spPr>
      </p:sp>
      <p:sp>
        <p:nvSpPr>
          <p:cNvPr id="17" name="Text 15"/>
          <p:cNvSpPr/>
          <p:nvPr/>
        </p:nvSpPr>
        <p:spPr>
          <a:xfrm>
            <a:off x="731520" y="4818888"/>
            <a:ext cx="3017520" cy="457200"/>
          </a:xfrm>
          <a:prstGeom prst="rect">
            <a:avLst/>
          </a:prstGeom>
          <a:noFill/>
          <a:ln/>
        </p:spPr>
        <p:txBody>
          <a:bodyPr wrap="square" lIns="0" tIns="0" rIns="0" bIns="0" rtlCol="0" anchor="ctr"/>
          <a:lstStyle/>
          <a:p>
            <a:pPr algn="ctr" indent="0" marL="0">
              <a:buNone/>
            </a:pPr>
            <a:r>
              <a:rPr lang="en-US" sz="1800" b="1" dirty="0">
                <a:solidFill>
                  <a:srgbClr val="6B5AA6"/>
                </a:solidFill>
                <a:latin typeface="Noto Sans ExtraCondensed" pitchFamily="34" charset="0"/>
                <a:ea typeface="Noto Sans ExtraCondensed" pitchFamily="34" charset="-122"/>
                <a:cs typeface="Noto Sans ExtraCondensed" pitchFamily="34" charset="-120"/>
              </a:rPr>
              <a:t>PERSONS WITH DISABILITIES</a:t>
            </a:r>
            <a:endParaRPr lang="en-US" sz="1800" dirty="0"/>
          </a:p>
        </p:txBody>
      </p:sp>
      <p:sp>
        <p:nvSpPr>
          <p:cNvPr id="18" name="Shape 16"/>
          <p:cNvSpPr/>
          <p:nvPr/>
        </p:nvSpPr>
        <p:spPr>
          <a:xfrm>
            <a:off x="3995928" y="5047488"/>
            <a:ext cx="320040" cy="-1892808"/>
          </a:xfrm>
          <a:prstGeom prst="line">
            <a:avLst/>
          </a:prstGeom>
          <a:noFill/>
          <a:ln w="19050">
            <a:solidFill>
              <a:srgbClr val="A4ABD4"/>
            </a:solidFill>
            <a:prstDash val="solid"/>
            <a:tailEnd type="triangle"/>
          </a:ln>
        </p:spPr>
      </p:sp>
      <p:sp>
        <p:nvSpPr>
          <p:cNvPr id="19" name="Shape 17"/>
          <p:cNvSpPr/>
          <p:nvPr/>
        </p:nvSpPr>
        <p:spPr>
          <a:xfrm>
            <a:off x="8183880" y="4480560"/>
            <a:ext cx="3474720" cy="1143000"/>
          </a:xfrm>
          <a:prstGeom prst="roundRect">
            <a:avLst/>
          </a:prstGeom>
          <a:solidFill>
            <a:srgbClr val="FFFFFF"/>
          </a:solidFill>
          <a:ln w="25400">
            <a:solidFill>
              <a:srgbClr val="E7A33E"/>
            </a:solidFill>
            <a:prstDash val="solid"/>
          </a:ln>
        </p:spPr>
      </p:sp>
      <p:sp>
        <p:nvSpPr>
          <p:cNvPr id="20" name="Text 18"/>
          <p:cNvSpPr/>
          <p:nvPr/>
        </p:nvSpPr>
        <p:spPr>
          <a:xfrm>
            <a:off x="8412480" y="4818888"/>
            <a:ext cx="3017520" cy="457200"/>
          </a:xfrm>
          <a:prstGeom prst="rect">
            <a:avLst/>
          </a:prstGeom>
          <a:noFill/>
          <a:ln/>
        </p:spPr>
        <p:txBody>
          <a:bodyPr wrap="square" lIns="0" tIns="0" rIns="0" bIns="0" rtlCol="0" anchor="ctr"/>
          <a:lstStyle/>
          <a:p>
            <a:pPr algn="ctr" indent="0" marL="0">
              <a:buNone/>
            </a:pPr>
            <a:r>
              <a:rPr lang="en-US" sz="1800" b="1" dirty="0">
                <a:solidFill>
                  <a:srgbClr val="E7A33E"/>
                </a:solidFill>
                <a:latin typeface="Noto Sans ExtraCondensed" pitchFamily="34" charset="0"/>
                <a:ea typeface="Noto Sans ExtraCondensed" pitchFamily="34" charset="-122"/>
                <a:cs typeface="Noto Sans ExtraCondensed" pitchFamily="34" charset="-120"/>
              </a:rPr>
              <a:t>IDPs, RETURNEES AND OLDER WORKERS</a:t>
            </a:r>
            <a:endParaRPr lang="en-US" sz="1800" dirty="0"/>
          </a:p>
        </p:txBody>
      </p:sp>
      <p:sp>
        <p:nvSpPr>
          <p:cNvPr id="21" name="Shape 19"/>
          <p:cNvSpPr/>
          <p:nvPr/>
        </p:nvSpPr>
        <p:spPr>
          <a:xfrm>
            <a:off x="8138160" y="5047488"/>
            <a:ext cx="-320040" cy="-1892808"/>
          </a:xfrm>
          <a:prstGeom prst="line">
            <a:avLst/>
          </a:prstGeom>
          <a:noFill/>
          <a:ln w="19050">
            <a:solidFill>
              <a:srgbClr val="A4ABD4"/>
            </a:solidFill>
            <a:prstDash val="solid"/>
            <a:tailEnd type="triangle"/>
          </a:ln>
        </p:spPr>
      </p:sp>
      <p:sp>
        <p:nvSpPr>
          <p:cNvPr id="22" name="Shape 20"/>
          <p:cNvSpPr/>
          <p:nvPr/>
        </p:nvSpPr>
        <p:spPr>
          <a:xfrm>
            <a:off x="2880360" y="4736592"/>
            <a:ext cx="6446520" cy="1143000"/>
          </a:xfrm>
          <a:prstGeom prst="roundRect">
            <a:avLst/>
          </a:prstGeom>
          <a:solidFill>
            <a:srgbClr val="F5F7FB"/>
          </a:solidFill>
          <a:ln w="12700">
            <a:solidFill>
              <a:srgbClr val="D1D5EB"/>
            </a:solidFill>
            <a:prstDash val="solid"/>
          </a:ln>
        </p:spPr>
      </p:sp>
      <p:sp>
        <p:nvSpPr>
          <p:cNvPr id="23" name="Shape 21"/>
          <p:cNvSpPr/>
          <p:nvPr/>
        </p:nvSpPr>
        <p:spPr>
          <a:xfrm>
            <a:off x="3090672" y="5029200"/>
            <a:ext cx="100584" cy="100584"/>
          </a:xfrm>
          <a:prstGeom prst="ellipse">
            <a:avLst/>
          </a:prstGeom>
          <a:solidFill>
            <a:srgbClr val="00A3E0"/>
          </a:solidFill>
          <a:ln w="12700">
            <a:solidFill>
              <a:srgbClr val="00A3E0"/>
            </a:solidFill>
            <a:prstDash val="solid"/>
          </a:ln>
        </p:spPr>
      </p:sp>
      <p:sp>
        <p:nvSpPr>
          <p:cNvPr id="24" name="Text 22"/>
          <p:cNvSpPr/>
          <p:nvPr/>
        </p:nvSpPr>
        <p:spPr>
          <a:xfrm>
            <a:off x="3255264" y="4965192"/>
            <a:ext cx="1691640" cy="274320"/>
          </a:xfrm>
          <a:prstGeom prst="rect">
            <a:avLst/>
          </a:prstGeom>
          <a:noFill/>
          <a:ln/>
        </p:spPr>
        <p:txBody>
          <a:bodyPr wrap="square" lIns="0" tIns="0" rIns="0" bIns="0" rtlCol="0" anchor="ctr"/>
          <a:lstStyle/>
          <a:p>
            <a:pPr indent="0" marL="0">
              <a:buNone/>
            </a:pPr>
            <a:r>
              <a:rPr lang="en-US" sz="1270" dirty="0">
                <a:solidFill>
                  <a:srgbClr val="2B2A29"/>
                </a:solidFill>
                <a:latin typeface="Noto Sans SemiCondensed" pitchFamily="34" charset="0"/>
                <a:ea typeface="Noto Sans SemiCondensed" pitchFamily="34" charset="-122"/>
                <a:cs typeface="Noto Sans SemiCondensed" pitchFamily="34" charset="-120"/>
              </a:rPr>
              <a:t>Accessible recruitment and training</a:t>
            </a:r>
            <a:endParaRPr lang="en-US" sz="1270" dirty="0"/>
          </a:p>
        </p:txBody>
      </p:sp>
      <p:sp>
        <p:nvSpPr>
          <p:cNvPr id="25" name="Shape 23"/>
          <p:cNvSpPr/>
          <p:nvPr/>
        </p:nvSpPr>
        <p:spPr>
          <a:xfrm>
            <a:off x="5120640" y="5029200"/>
            <a:ext cx="100584" cy="100584"/>
          </a:xfrm>
          <a:prstGeom prst="ellipse">
            <a:avLst/>
          </a:prstGeom>
          <a:solidFill>
            <a:srgbClr val="00A3E0"/>
          </a:solidFill>
          <a:ln w="12700">
            <a:solidFill>
              <a:srgbClr val="00A3E0"/>
            </a:solidFill>
            <a:prstDash val="solid"/>
          </a:ln>
        </p:spPr>
      </p:sp>
      <p:sp>
        <p:nvSpPr>
          <p:cNvPr id="26" name="Text 24"/>
          <p:cNvSpPr/>
          <p:nvPr/>
        </p:nvSpPr>
        <p:spPr>
          <a:xfrm>
            <a:off x="5285232" y="4965192"/>
            <a:ext cx="1691640" cy="274320"/>
          </a:xfrm>
          <a:prstGeom prst="rect">
            <a:avLst/>
          </a:prstGeom>
          <a:noFill/>
          <a:ln/>
        </p:spPr>
        <p:txBody>
          <a:bodyPr wrap="square" lIns="0" tIns="0" rIns="0" bIns="0" rtlCol="0" anchor="ctr"/>
          <a:lstStyle/>
          <a:p>
            <a:pPr indent="0" marL="0">
              <a:buNone/>
            </a:pPr>
            <a:r>
              <a:rPr lang="en-US" sz="1270" dirty="0">
                <a:solidFill>
                  <a:srgbClr val="2B2A29"/>
                </a:solidFill>
                <a:latin typeface="Noto Sans SemiCondensed" pitchFamily="34" charset="0"/>
                <a:ea typeface="Noto Sans SemiCondensed" pitchFamily="34" charset="-122"/>
                <a:cs typeface="Noto Sans SemiCondensed" pitchFamily="34" charset="-120"/>
              </a:rPr>
              <a:t>Individual reasonable adjustments</a:t>
            </a:r>
            <a:endParaRPr lang="en-US" sz="1270" dirty="0"/>
          </a:p>
        </p:txBody>
      </p:sp>
      <p:sp>
        <p:nvSpPr>
          <p:cNvPr id="27" name="Shape 25"/>
          <p:cNvSpPr/>
          <p:nvPr/>
        </p:nvSpPr>
        <p:spPr>
          <a:xfrm>
            <a:off x="7150608" y="5029200"/>
            <a:ext cx="100584" cy="100584"/>
          </a:xfrm>
          <a:prstGeom prst="ellipse">
            <a:avLst/>
          </a:prstGeom>
          <a:solidFill>
            <a:srgbClr val="00A3E0"/>
          </a:solidFill>
          <a:ln w="12700">
            <a:solidFill>
              <a:srgbClr val="00A3E0"/>
            </a:solidFill>
            <a:prstDash val="solid"/>
          </a:ln>
        </p:spPr>
      </p:sp>
      <p:sp>
        <p:nvSpPr>
          <p:cNvPr id="28" name="Text 26"/>
          <p:cNvSpPr/>
          <p:nvPr/>
        </p:nvSpPr>
        <p:spPr>
          <a:xfrm>
            <a:off x="7315200" y="4965192"/>
            <a:ext cx="1691640" cy="274320"/>
          </a:xfrm>
          <a:prstGeom prst="rect">
            <a:avLst/>
          </a:prstGeom>
          <a:noFill/>
          <a:ln/>
        </p:spPr>
        <p:txBody>
          <a:bodyPr wrap="square" lIns="0" tIns="0" rIns="0" bIns="0" rtlCol="0" anchor="ctr"/>
          <a:lstStyle/>
          <a:p>
            <a:pPr indent="0" marL="0">
              <a:buNone/>
            </a:pPr>
            <a:r>
              <a:rPr lang="en-US" sz="1270" dirty="0">
                <a:solidFill>
                  <a:srgbClr val="2B2A29"/>
                </a:solidFill>
                <a:latin typeface="Noto Sans SemiCondensed" pitchFamily="34" charset="0"/>
                <a:ea typeface="Noto Sans SemiCondensed" pitchFamily="34" charset="-122"/>
                <a:cs typeface="Noto Sans SemiCondensed" pitchFamily="34" charset="-120"/>
              </a:rPr>
              <a:t>Return-to-work and rehabilitation pathways</a:t>
            </a:r>
            <a:endParaRPr lang="en-US" sz="1270" dirty="0"/>
          </a:p>
        </p:txBody>
      </p:sp>
      <p:sp>
        <p:nvSpPr>
          <p:cNvPr id="29" name="Shape 27"/>
          <p:cNvSpPr/>
          <p:nvPr/>
        </p:nvSpPr>
        <p:spPr>
          <a:xfrm>
            <a:off x="3090672" y="5449824"/>
            <a:ext cx="100584" cy="100584"/>
          </a:xfrm>
          <a:prstGeom prst="ellipse">
            <a:avLst/>
          </a:prstGeom>
          <a:solidFill>
            <a:srgbClr val="00A3E0"/>
          </a:solidFill>
          <a:ln w="12700">
            <a:solidFill>
              <a:srgbClr val="00A3E0"/>
            </a:solidFill>
            <a:prstDash val="solid"/>
          </a:ln>
        </p:spPr>
      </p:sp>
      <p:sp>
        <p:nvSpPr>
          <p:cNvPr id="30" name="Text 28"/>
          <p:cNvSpPr/>
          <p:nvPr/>
        </p:nvSpPr>
        <p:spPr>
          <a:xfrm>
            <a:off x="3255264" y="5385816"/>
            <a:ext cx="1691640" cy="274320"/>
          </a:xfrm>
          <a:prstGeom prst="rect">
            <a:avLst/>
          </a:prstGeom>
          <a:noFill/>
          <a:ln/>
        </p:spPr>
        <p:txBody>
          <a:bodyPr wrap="square" lIns="0" tIns="0" rIns="0" bIns="0" rtlCol="0" anchor="ctr"/>
          <a:lstStyle/>
          <a:p>
            <a:pPr indent="0" marL="0">
              <a:buNone/>
            </a:pPr>
            <a:r>
              <a:rPr lang="en-US" sz="1270" dirty="0">
                <a:solidFill>
                  <a:srgbClr val="2B2A29"/>
                </a:solidFill>
                <a:latin typeface="Noto Sans SemiCondensed" pitchFamily="34" charset="0"/>
                <a:ea typeface="Noto Sans SemiCondensed" pitchFamily="34" charset="-122"/>
                <a:cs typeface="Noto Sans SemiCondensed" pitchFamily="34" charset="-120"/>
              </a:rPr>
              <a:t>Flexible schedules and task redesign</a:t>
            </a:r>
            <a:endParaRPr lang="en-US" sz="1270" dirty="0"/>
          </a:p>
        </p:txBody>
      </p:sp>
      <p:sp>
        <p:nvSpPr>
          <p:cNvPr id="31" name="Shape 29"/>
          <p:cNvSpPr/>
          <p:nvPr/>
        </p:nvSpPr>
        <p:spPr>
          <a:xfrm>
            <a:off x="5120640" y="5449824"/>
            <a:ext cx="100584" cy="100584"/>
          </a:xfrm>
          <a:prstGeom prst="ellipse">
            <a:avLst/>
          </a:prstGeom>
          <a:solidFill>
            <a:srgbClr val="00A3E0"/>
          </a:solidFill>
          <a:ln w="12700">
            <a:solidFill>
              <a:srgbClr val="00A3E0"/>
            </a:solidFill>
            <a:prstDash val="solid"/>
          </a:ln>
        </p:spPr>
      </p:sp>
      <p:sp>
        <p:nvSpPr>
          <p:cNvPr id="32" name="Text 30"/>
          <p:cNvSpPr/>
          <p:nvPr/>
        </p:nvSpPr>
        <p:spPr>
          <a:xfrm>
            <a:off x="5285232" y="5385816"/>
            <a:ext cx="1691640" cy="274320"/>
          </a:xfrm>
          <a:prstGeom prst="rect">
            <a:avLst/>
          </a:prstGeom>
          <a:noFill/>
          <a:ln/>
        </p:spPr>
        <p:txBody>
          <a:bodyPr wrap="square" lIns="0" tIns="0" rIns="0" bIns="0" rtlCol="0" anchor="ctr"/>
          <a:lstStyle/>
          <a:p>
            <a:pPr indent="0" marL="0">
              <a:buNone/>
            </a:pPr>
            <a:r>
              <a:rPr lang="en-US" sz="1270" dirty="0">
                <a:solidFill>
                  <a:srgbClr val="2B2A29"/>
                </a:solidFill>
                <a:latin typeface="Noto Sans SemiCondensed" pitchFamily="34" charset="0"/>
                <a:ea typeface="Noto Sans SemiCondensed" pitchFamily="34" charset="-122"/>
                <a:cs typeface="Noto Sans SemiCondensed" pitchFamily="34" charset="-120"/>
              </a:rPr>
              <a:t>Assistive technology and accessible facilities</a:t>
            </a:r>
            <a:endParaRPr lang="en-US" sz="1270" dirty="0"/>
          </a:p>
        </p:txBody>
      </p:sp>
      <p:sp>
        <p:nvSpPr>
          <p:cNvPr id="33" name="Shape 31"/>
          <p:cNvSpPr/>
          <p:nvPr/>
        </p:nvSpPr>
        <p:spPr>
          <a:xfrm>
            <a:off x="7150608" y="5449824"/>
            <a:ext cx="100584" cy="100584"/>
          </a:xfrm>
          <a:prstGeom prst="ellipse">
            <a:avLst/>
          </a:prstGeom>
          <a:solidFill>
            <a:srgbClr val="00A3E0"/>
          </a:solidFill>
          <a:ln w="12700">
            <a:solidFill>
              <a:srgbClr val="00A3E0"/>
            </a:solidFill>
            <a:prstDash val="solid"/>
          </a:ln>
        </p:spPr>
      </p:sp>
      <p:sp>
        <p:nvSpPr>
          <p:cNvPr id="34" name="Text 32"/>
          <p:cNvSpPr/>
          <p:nvPr/>
        </p:nvSpPr>
        <p:spPr>
          <a:xfrm>
            <a:off x="7315200" y="5385816"/>
            <a:ext cx="1691640" cy="274320"/>
          </a:xfrm>
          <a:prstGeom prst="rect">
            <a:avLst/>
          </a:prstGeom>
          <a:noFill/>
          <a:ln/>
        </p:spPr>
        <p:txBody>
          <a:bodyPr wrap="square" lIns="0" tIns="0" rIns="0" bIns="0" rtlCol="0" anchor="ctr"/>
          <a:lstStyle/>
          <a:p>
            <a:pPr indent="0" marL="0">
              <a:buNone/>
            </a:pPr>
            <a:r>
              <a:rPr lang="en-US" sz="1270" dirty="0">
                <a:solidFill>
                  <a:srgbClr val="2B2A29"/>
                </a:solidFill>
                <a:latin typeface="Noto Sans SemiCondensed" pitchFamily="34" charset="0"/>
                <a:ea typeface="Noto Sans SemiCondensed" pitchFamily="34" charset="-122"/>
                <a:cs typeface="Noto Sans SemiCondensed" pitchFamily="34" charset="-120"/>
              </a:rPr>
              <a:t>Anti-stigma leadership and peer support</a:t>
            </a:r>
            <a:endParaRPr lang="en-US" sz="127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PARTICIPATION</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Social dialogue is a safety control</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22</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3337560" y="2743200"/>
            <a:ext cx="4663440" cy="0"/>
          </a:xfrm>
          <a:prstGeom prst="line">
            <a:avLst/>
          </a:prstGeom>
          <a:noFill/>
          <a:ln w="25400">
            <a:solidFill>
              <a:srgbClr val="A4ABD4"/>
            </a:solidFill>
            <a:prstDash val="solid"/>
            <a:tailEnd type="triangle"/>
          </a:ln>
        </p:spPr>
      </p:sp>
      <p:sp>
        <p:nvSpPr>
          <p:cNvPr id="9" name="Shape 7"/>
          <p:cNvSpPr/>
          <p:nvPr/>
        </p:nvSpPr>
        <p:spPr>
          <a:xfrm>
            <a:off x="2423160" y="3429000"/>
            <a:ext cx="2377440" cy="1188720"/>
          </a:xfrm>
          <a:prstGeom prst="line">
            <a:avLst/>
          </a:prstGeom>
          <a:noFill/>
          <a:ln w="25400">
            <a:solidFill>
              <a:srgbClr val="A4ABD4"/>
            </a:solidFill>
            <a:prstDash val="solid"/>
            <a:tailEnd type="triangle"/>
          </a:ln>
        </p:spPr>
      </p:sp>
      <p:sp>
        <p:nvSpPr>
          <p:cNvPr id="10" name="Shape 8"/>
          <p:cNvSpPr/>
          <p:nvPr/>
        </p:nvSpPr>
        <p:spPr>
          <a:xfrm>
            <a:off x="9509760" y="3429000"/>
            <a:ext cx="-2148840" cy="1188720"/>
          </a:xfrm>
          <a:prstGeom prst="line">
            <a:avLst/>
          </a:prstGeom>
          <a:noFill/>
          <a:ln w="25400">
            <a:solidFill>
              <a:srgbClr val="A4ABD4"/>
            </a:solidFill>
            <a:prstDash val="solid"/>
            <a:tailEnd type="triangle"/>
          </a:ln>
        </p:spPr>
      </p:sp>
      <p:sp>
        <p:nvSpPr>
          <p:cNvPr id="11" name="Shape 9"/>
          <p:cNvSpPr/>
          <p:nvPr/>
        </p:nvSpPr>
        <p:spPr>
          <a:xfrm>
            <a:off x="914400" y="1874520"/>
            <a:ext cx="3108960" cy="1417320"/>
          </a:xfrm>
          <a:prstGeom prst="ellipse">
            <a:avLst/>
          </a:prstGeom>
          <a:solidFill>
            <a:srgbClr val="284B96"/>
          </a:solidFill>
          <a:ln w="12700">
            <a:solidFill>
              <a:srgbClr val="284B96"/>
            </a:solidFill>
            <a:prstDash val="solid"/>
          </a:ln>
        </p:spPr>
      </p:sp>
      <p:sp>
        <p:nvSpPr>
          <p:cNvPr id="12" name="Text 10"/>
          <p:cNvSpPr/>
          <p:nvPr/>
        </p:nvSpPr>
        <p:spPr>
          <a:xfrm>
            <a:off x="1234440" y="2350008"/>
            <a:ext cx="246888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ExtraCondensed" pitchFamily="34" charset="0"/>
                <a:ea typeface="Noto Sans ExtraCondensed" pitchFamily="34" charset="-122"/>
                <a:cs typeface="Noto Sans ExtraCondensed" pitchFamily="34" charset="-120"/>
              </a:rPr>
              <a:t>GOVERNMENT / MINISTRY</a:t>
            </a:r>
            <a:endParaRPr lang="en-US" sz="2000" dirty="0"/>
          </a:p>
        </p:txBody>
      </p:sp>
      <p:sp>
        <p:nvSpPr>
          <p:cNvPr id="13" name="Shape 11"/>
          <p:cNvSpPr/>
          <p:nvPr/>
        </p:nvSpPr>
        <p:spPr>
          <a:xfrm>
            <a:off x="8092440" y="1874520"/>
            <a:ext cx="3108960" cy="1417320"/>
          </a:xfrm>
          <a:prstGeom prst="ellipse">
            <a:avLst/>
          </a:prstGeom>
          <a:solidFill>
            <a:srgbClr val="2E8B78"/>
          </a:solidFill>
          <a:ln w="12700">
            <a:solidFill>
              <a:srgbClr val="2E8B78"/>
            </a:solidFill>
            <a:prstDash val="solid"/>
          </a:ln>
        </p:spPr>
      </p:sp>
      <p:sp>
        <p:nvSpPr>
          <p:cNvPr id="14" name="Text 12"/>
          <p:cNvSpPr/>
          <p:nvPr/>
        </p:nvSpPr>
        <p:spPr>
          <a:xfrm>
            <a:off x="8412480" y="2350008"/>
            <a:ext cx="246888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ExtraCondensed" pitchFamily="34" charset="0"/>
                <a:ea typeface="Noto Sans ExtraCondensed" pitchFamily="34" charset="-122"/>
                <a:cs typeface="Noto Sans ExtraCondensed" pitchFamily="34" charset="-120"/>
              </a:rPr>
              <a:t>EMPLOYERS / ENTERPRISES</a:t>
            </a:r>
            <a:endParaRPr lang="en-US" sz="2000" dirty="0"/>
          </a:p>
        </p:txBody>
      </p:sp>
      <p:sp>
        <p:nvSpPr>
          <p:cNvPr id="15" name="Shape 13"/>
          <p:cNvSpPr/>
          <p:nvPr/>
        </p:nvSpPr>
        <p:spPr>
          <a:xfrm>
            <a:off x="4526280" y="4251960"/>
            <a:ext cx="3108960" cy="1417320"/>
          </a:xfrm>
          <a:prstGeom prst="ellipse">
            <a:avLst/>
          </a:prstGeom>
          <a:solidFill>
            <a:srgbClr val="00A3E0"/>
          </a:solidFill>
          <a:ln w="12700">
            <a:solidFill>
              <a:srgbClr val="00A3E0"/>
            </a:solidFill>
            <a:prstDash val="solid"/>
          </a:ln>
        </p:spPr>
      </p:sp>
      <p:sp>
        <p:nvSpPr>
          <p:cNvPr id="16" name="Text 14"/>
          <p:cNvSpPr/>
          <p:nvPr/>
        </p:nvSpPr>
        <p:spPr>
          <a:xfrm>
            <a:off x="4846320" y="4727448"/>
            <a:ext cx="246888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ExtraCondensed" pitchFamily="34" charset="0"/>
                <a:ea typeface="Noto Sans ExtraCondensed" pitchFamily="34" charset="-122"/>
                <a:cs typeface="Noto Sans ExtraCondensed" pitchFamily="34" charset="-120"/>
              </a:rPr>
              <a:t>WORKERS / UNIONS</a:t>
            </a:r>
            <a:endParaRPr lang="en-US" sz="2000" dirty="0"/>
          </a:p>
        </p:txBody>
      </p:sp>
      <p:sp>
        <p:nvSpPr>
          <p:cNvPr id="17" name="Shape 15"/>
          <p:cNvSpPr/>
          <p:nvPr/>
        </p:nvSpPr>
        <p:spPr>
          <a:xfrm>
            <a:off x="4709160" y="2240280"/>
            <a:ext cx="2743200" cy="1005840"/>
          </a:xfrm>
          <a:prstGeom prst="ellipse">
            <a:avLst/>
          </a:prstGeom>
          <a:solidFill>
            <a:srgbClr val="FFFFFF"/>
          </a:solidFill>
          <a:ln w="25400">
            <a:solidFill>
              <a:srgbClr val="E7A33E"/>
            </a:solidFill>
            <a:prstDash val="solid"/>
          </a:ln>
        </p:spPr>
      </p:sp>
      <p:sp>
        <p:nvSpPr>
          <p:cNvPr id="18" name="Text 16"/>
          <p:cNvSpPr/>
          <p:nvPr/>
        </p:nvSpPr>
        <p:spPr>
          <a:xfrm>
            <a:off x="5212080" y="2487168"/>
            <a:ext cx="1737360" cy="502920"/>
          </a:xfrm>
          <a:prstGeom prst="rect">
            <a:avLst/>
          </a:prstGeom>
          <a:noFill/>
          <a:ln/>
        </p:spPr>
        <p:txBody>
          <a:bodyPr wrap="square" lIns="0" tIns="0" rIns="0" bIns="0" rtlCol="0" anchor="ctr"/>
          <a:lstStyle/>
          <a:p>
            <a:pPr algn="ctr" indent="0" marL="0">
              <a:buNone/>
            </a:pPr>
            <a:r>
              <a:rPr lang="en-US" sz="2000" b="1" dirty="0">
                <a:solidFill>
                  <a:srgbClr val="E7A33E"/>
                </a:solidFill>
                <a:latin typeface="Noto Sans ExtraCondensed" pitchFamily="34" charset="0"/>
                <a:ea typeface="Noto Sans ExtraCondensed" pitchFamily="34" charset="-122"/>
                <a:cs typeface="Noto Sans ExtraCondensed" pitchFamily="34" charset="-120"/>
              </a:rPr>
              <a:t>SHARED RISK</a:t>
            </a:r>
            <a:endParaRPr lang="en-US" sz="2000" dirty="0"/>
          </a:p>
          <a:p>
            <a:pPr algn="ctr" indent="0" marL="0">
              <a:buNone/>
            </a:pPr>
            <a:r>
              <a:rPr lang="en-US" sz="2000" b="1" dirty="0">
                <a:solidFill>
                  <a:srgbClr val="E7A33E"/>
                </a:solidFill>
                <a:latin typeface="Noto Sans ExtraCondensed" pitchFamily="34" charset="0"/>
                <a:ea typeface="Noto Sans ExtraCondensed" pitchFamily="34" charset="-122"/>
                <a:cs typeface="Noto Sans ExtraCondensed" pitchFamily="34" charset="-120"/>
              </a:rPr>
              <a:t>INTELLIGENCE</a:t>
            </a:r>
            <a:endParaRPr lang="en-US" sz="2000" dirty="0"/>
          </a:p>
        </p:txBody>
      </p:sp>
      <p:sp>
        <p:nvSpPr>
          <p:cNvPr id="19" name="Text 17"/>
          <p:cNvSpPr/>
          <p:nvPr/>
        </p:nvSpPr>
        <p:spPr>
          <a:xfrm>
            <a:off x="777240" y="5468112"/>
            <a:ext cx="1417320" cy="274320"/>
          </a:xfrm>
          <a:prstGeom prst="rect">
            <a:avLst/>
          </a:prstGeom>
          <a:noFill/>
          <a:ln/>
        </p:spPr>
        <p:txBody>
          <a:bodyPr wrap="square" lIns="0" tIns="0" rIns="0" bIns="0" rtlCol="0" anchor="ctr"/>
          <a:lstStyle/>
          <a:p>
            <a:pPr indent="0" marL="0">
              <a:buNone/>
            </a:pPr>
            <a:r>
              <a:rPr lang="en-US" sz="1550" b="1" dirty="0">
                <a:solidFill>
                  <a:srgbClr val="284B96"/>
                </a:solidFill>
                <a:latin typeface="Noto Sans SemiCondensed" pitchFamily="34" charset="0"/>
                <a:ea typeface="Noto Sans SemiCondensed" pitchFamily="34" charset="-122"/>
                <a:cs typeface="Noto Sans SemiCondensed" pitchFamily="34" charset="-120"/>
              </a:rPr>
              <a:t>Sector level</a:t>
            </a:r>
            <a:endParaRPr lang="en-US" sz="1550" dirty="0"/>
          </a:p>
        </p:txBody>
      </p:sp>
      <p:sp>
        <p:nvSpPr>
          <p:cNvPr id="20" name="Text 18"/>
          <p:cNvSpPr/>
          <p:nvPr/>
        </p:nvSpPr>
        <p:spPr>
          <a:xfrm>
            <a:off x="2011680" y="5468112"/>
            <a:ext cx="3429000" cy="320040"/>
          </a:xfrm>
          <a:prstGeom prst="rect">
            <a:avLst/>
          </a:prstGeom>
          <a:noFill/>
          <a:ln/>
        </p:spPr>
        <p:txBody>
          <a:bodyPr wrap="square" lIns="0" tIns="0" rIns="0" bIns="0" rtlCol="0" anchor="ctr"/>
          <a:lstStyle/>
          <a:p>
            <a:pPr indent="0" marL="0">
              <a:buNone/>
            </a:pPr>
            <a:r>
              <a:rPr lang="en-US" sz="1420" dirty="0">
                <a:solidFill>
                  <a:srgbClr val="2B2A29"/>
                </a:solidFill>
                <a:latin typeface="Noto Sans SemiCondensed" pitchFamily="34" charset="0"/>
                <a:ea typeface="Noto Sans SemiCondensed" pitchFamily="34" charset="-122"/>
                <a:cs typeface="Noto Sans SemiCondensed" pitchFamily="34" charset="-120"/>
              </a:rPr>
              <a:t>Standards, skills plans, emergency coordination and sector campaigns</a:t>
            </a:r>
            <a:endParaRPr lang="en-US" sz="1420" dirty="0"/>
          </a:p>
        </p:txBody>
      </p:sp>
      <p:sp>
        <p:nvSpPr>
          <p:cNvPr id="21" name="Text 19"/>
          <p:cNvSpPr/>
          <p:nvPr/>
        </p:nvSpPr>
        <p:spPr>
          <a:xfrm>
            <a:off x="5806440" y="5468112"/>
            <a:ext cx="1554480" cy="274320"/>
          </a:xfrm>
          <a:prstGeom prst="rect">
            <a:avLst/>
          </a:prstGeom>
          <a:noFill/>
          <a:ln/>
        </p:spPr>
        <p:txBody>
          <a:bodyPr wrap="square" lIns="0" tIns="0" rIns="0" bIns="0" rtlCol="0" anchor="ctr"/>
          <a:lstStyle/>
          <a:p>
            <a:pPr indent="0" marL="0">
              <a:buNone/>
            </a:pPr>
            <a:r>
              <a:rPr lang="en-US" sz="1550" b="1" dirty="0">
                <a:solidFill>
                  <a:srgbClr val="2E8B78"/>
                </a:solidFill>
                <a:latin typeface="Noto Sans SemiCondensed" pitchFamily="34" charset="0"/>
                <a:ea typeface="Noto Sans SemiCondensed" pitchFamily="34" charset="-122"/>
                <a:cs typeface="Noto Sans SemiCondensed" pitchFamily="34" charset="-120"/>
              </a:rPr>
              <a:t>Enterprise level</a:t>
            </a:r>
            <a:endParaRPr lang="en-US" sz="1550" dirty="0"/>
          </a:p>
        </p:txBody>
      </p:sp>
      <p:sp>
        <p:nvSpPr>
          <p:cNvPr id="22" name="Text 20"/>
          <p:cNvSpPr/>
          <p:nvPr/>
        </p:nvSpPr>
        <p:spPr>
          <a:xfrm>
            <a:off x="7178040" y="5468112"/>
            <a:ext cx="4160520" cy="320040"/>
          </a:xfrm>
          <a:prstGeom prst="rect">
            <a:avLst/>
          </a:prstGeom>
          <a:noFill/>
          <a:ln/>
        </p:spPr>
        <p:txBody>
          <a:bodyPr wrap="square" lIns="0" tIns="0" rIns="0" bIns="0" rtlCol="0" anchor="ctr"/>
          <a:lstStyle/>
          <a:p>
            <a:pPr indent="0" marL="0">
              <a:buNone/>
            </a:pPr>
            <a:r>
              <a:rPr lang="en-US" sz="1420" dirty="0">
                <a:solidFill>
                  <a:srgbClr val="2B2A29"/>
                </a:solidFill>
                <a:latin typeface="Noto Sans SemiCondensed" pitchFamily="34" charset="0"/>
                <a:ea typeface="Noto Sans SemiCondensed" pitchFamily="34" charset="-122"/>
                <a:cs typeface="Noto Sans SemiCondensed" pitchFamily="34" charset="-120"/>
              </a:rPr>
              <a:t>Risk assessment, technology change, staffing, schedules and reporting</a:t>
            </a:r>
            <a:endParaRPr lang="en-US" sz="1420" dirty="0"/>
          </a:p>
        </p:txBody>
      </p:sp>
      <p:sp>
        <p:nvSpPr>
          <p:cNvPr id="23" name="Text 21"/>
          <p:cNvSpPr/>
          <p:nvPr/>
        </p:nvSpPr>
        <p:spPr>
          <a:xfrm>
            <a:off x="777240" y="5925312"/>
            <a:ext cx="1417320" cy="274320"/>
          </a:xfrm>
          <a:prstGeom prst="rect">
            <a:avLst/>
          </a:prstGeom>
          <a:noFill/>
          <a:ln/>
        </p:spPr>
        <p:txBody>
          <a:bodyPr wrap="square" lIns="0" tIns="0" rIns="0" bIns="0" rtlCol="0" anchor="ctr"/>
          <a:lstStyle/>
          <a:p>
            <a:pPr indent="0" marL="0">
              <a:buNone/>
            </a:pPr>
            <a:r>
              <a:rPr lang="en-US" sz="1550" b="1" dirty="0">
                <a:solidFill>
                  <a:srgbClr val="00A3E0"/>
                </a:solidFill>
                <a:latin typeface="Noto Sans SemiCondensed" pitchFamily="34" charset="0"/>
                <a:ea typeface="Noto Sans SemiCondensed" pitchFamily="34" charset="-122"/>
                <a:cs typeface="Noto Sans SemiCondensed" pitchFamily="34" charset="-120"/>
              </a:rPr>
              <a:t>Task level</a:t>
            </a:r>
            <a:endParaRPr lang="en-US" sz="1550" dirty="0"/>
          </a:p>
        </p:txBody>
      </p:sp>
      <p:sp>
        <p:nvSpPr>
          <p:cNvPr id="24" name="Text 22"/>
          <p:cNvSpPr/>
          <p:nvPr/>
        </p:nvSpPr>
        <p:spPr>
          <a:xfrm>
            <a:off x="2011680" y="5925312"/>
            <a:ext cx="4800600" cy="320040"/>
          </a:xfrm>
          <a:prstGeom prst="rect">
            <a:avLst/>
          </a:prstGeom>
          <a:noFill/>
          <a:ln/>
        </p:spPr>
        <p:txBody>
          <a:bodyPr wrap="square" lIns="0" tIns="0" rIns="0" bIns="0" rtlCol="0" anchor="ctr"/>
          <a:lstStyle/>
          <a:p>
            <a:pPr indent="0" marL="0">
              <a:buNone/>
            </a:pPr>
            <a:r>
              <a:rPr lang="en-US" sz="1420" dirty="0">
                <a:solidFill>
                  <a:srgbClr val="2B2A29"/>
                </a:solidFill>
                <a:latin typeface="Noto Sans SemiCondensed" pitchFamily="34" charset="0"/>
                <a:ea typeface="Noto Sans SemiCondensed" pitchFamily="34" charset="-122"/>
                <a:cs typeface="Noto Sans SemiCondensed" pitchFamily="34" charset="-120"/>
              </a:rPr>
              <a:t>Pre-job briefing, stop-work authority, peer checks and learning after work</a:t>
            </a:r>
            <a:endParaRPr lang="en-US" sz="14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FROM PRINCIPLE TO PRACTICE</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The ILO 10 Keys translated into five energy commitments</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23</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685800" y="1261872"/>
            <a:ext cx="1993392" cy="713232"/>
          </a:xfrm>
          <a:prstGeom prst="chevron">
            <a:avLst/>
          </a:prstGeom>
          <a:solidFill>
            <a:srgbClr val="284B96"/>
          </a:solidFill>
          <a:ln w="12700">
            <a:solidFill>
              <a:srgbClr val="284B96"/>
            </a:solidFill>
            <a:prstDash val="solid"/>
          </a:ln>
        </p:spPr>
      </p:sp>
      <p:sp>
        <p:nvSpPr>
          <p:cNvPr id="9" name="Text 7"/>
          <p:cNvSpPr/>
          <p:nvPr/>
        </p:nvSpPr>
        <p:spPr>
          <a:xfrm>
            <a:off x="960120" y="1426464"/>
            <a:ext cx="411480" cy="292608"/>
          </a:xfrm>
          <a:prstGeom prst="rect">
            <a:avLst/>
          </a:prstGeom>
          <a:noFill/>
          <a:ln/>
        </p:spPr>
        <p:txBody>
          <a:bodyPr wrap="square" lIns="0" tIns="0" rIns="0" bIns="0" rtlCol="0" anchor="ctr"/>
          <a:lstStyle/>
          <a:p>
            <a:pPr algn="ctr" indent="0" marL="0">
              <a:buNone/>
            </a:pPr>
            <a:r>
              <a:rPr lang="en-US" sz="2500" b="1" dirty="0">
                <a:solidFill>
                  <a:srgbClr val="FFFFFF"/>
                </a:solidFill>
                <a:latin typeface="Noto Sans ExtraCondensed" pitchFamily="34" charset="0"/>
                <a:ea typeface="Noto Sans ExtraCondensed" pitchFamily="34" charset="-122"/>
                <a:cs typeface="Noto Sans ExtraCondensed" pitchFamily="34" charset="-120"/>
              </a:rPr>
              <a:t>1</a:t>
            </a:r>
            <a:endParaRPr lang="en-US" sz="2500" dirty="0"/>
          </a:p>
        </p:txBody>
      </p:sp>
      <p:sp>
        <p:nvSpPr>
          <p:cNvPr id="10" name="Text 8"/>
          <p:cNvSpPr/>
          <p:nvPr/>
        </p:nvSpPr>
        <p:spPr>
          <a:xfrm>
            <a:off x="1371600" y="1426464"/>
            <a:ext cx="10515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ExtraCondensed" pitchFamily="34" charset="0"/>
                <a:ea typeface="Noto Sans ExtraCondensed" pitchFamily="34" charset="-122"/>
                <a:cs typeface="Noto Sans ExtraCondensed" pitchFamily="34" charset="-120"/>
              </a:rPr>
              <a:t>POLICY AND LAW</a:t>
            </a:r>
            <a:endParaRPr lang="en-US" sz="1600" dirty="0"/>
          </a:p>
        </p:txBody>
      </p:sp>
      <p:sp>
        <p:nvSpPr>
          <p:cNvPr id="11" name="Text 9"/>
          <p:cNvSpPr/>
          <p:nvPr/>
        </p:nvSpPr>
        <p:spPr>
          <a:xfrm>
            <a:off x="2971800" y="1316736"/>
            <a:ext cx="8275320" cy="566928"/>
          </a:xfrm>
          <a:prstGeom prst="rect">
            <a:avLst/>
          </a:prstGeom>
          <a:noFill/>
          <a:ln/>
        </p:spPr>
        <p:txBody>
          <a:bodyPr wrap="square" lIns="0" tIns="0" rIns="0" bIns="0"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Review OSH, equality, working-time and sector rules together - and remove discriminatory barriers.</a:t>
            </a:r>
            <a:endParaRPr lang="en-US" sz="1700" dirty="0"/>
          </a:p>
        </p:txBody>
      </p:sp>
      <p:sp>
        <p:nvSpPr>
          <p:cNvPr id="12" name="Shape 10"/>
          <p:cNvSpPr/>
          <p:nvPr/>
        </p:nvSpPr>
        <p:spPr>
          <a:xfrm>
            <a:off x="685800" y="2221992"/>
            <a:ext cx="1993392" cy="713232"/>
          </a:xfrm>
          <a:prstGeom prst="chevron">
            <a:avLst/>
          </a:prstGeom>
          <a:solidFill>
            <a:srgbClr val="00A3E0"/>
          </a:solidFill>
          <a:ln w="12700">
            <a:solidFill>
              <a:srgbClr val="00A3E0"/>
            </a:solidFill>
            <a:prstDash val="solid"/>
          </a:ln>
        </p:spPr>
      </p:sp>
      <p:sp>
        <p:nvSpPr>
          <p:cNvPr id="13" name="Text 11"/>
          <p:cNvSpPr/>
          <p:nvPr/>
        </p:nvSpPr>
        <p:spPr>
          <a:xfrm>
            <a:off x="960120" y="2386584"/>
            <a:ext cx="411480" cy="292608"/>
          </a:xfrm>
          <a:prstGeom prst="rect">
            <a:avLst/>
          </a:prstGeom>
          <a:noFill/>
          <a:ln/>
        </p:spPr>
        <p:txBody>
          <a:bodyPr wrap="square" lIns="0" tIns="0" rIns="0" bIns="0" rtlCol="0" anchor="ctr"/>
          <a:lstStyle/>
          <a:p>
            <a:pPr algn="ctr" indent="0" marL="0">
              <a:buNone/>
            </a:pPr>
            <a:r>
              <a:rPr lang="en-US" sz="2500" b="1" dirty="0">
                <a:solidFill>
                  <a:srgbClr val="FFFFFF"/>
                </a:solidFill>
                <a:latin typeface="Noto Sans ExtraCondensed" pitchFamily="34" charset="0"/>
                <a:ea typeface="Noto Sans ExtraCondensed" pitchFamily="34" charset="-122"/>
                <a:cs typeface="Noto Sans ExtraCondensed" pitchFamily="34" charset="-120"/>
              </a:rPr>
              <a:t>2</a:t>
            </a:r>
            <a:endParaRPr lang="en-US" sz="2500" dirty="0"/>
          </a:p>
        </p:txBody>
      </p:sp>
      <p:sp>
        <p:nvSpPr>
          <p:cNvPr id="14" name="Text 12"/>
          <p:cNvSpPr/>
          <p:nvPr/>
        </p:nvSpPr>
        <p:spPr>
          <a:xfrm>
            <a:off x="1371600" y="2386584"/>
            <a:ext cx="10515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ExtraCondensed" pitchFamily="34" charset="0"/>
                <a:ea typeface="Noto Sans ExtraCondensed" pitchFamily="34" charset="-122"/>
                <a:cs typeface="Noto Sans ExtraCondensed" pitchFamily="34" charset="-120"/>
              </a:rPr>
              <a:t>RISK AND DATA</a:t>
            </a:r>
            <a:endParaRPr lang="en-US" sz="1600" dirty="0"/>
          </a:p>
        </p:txBody>
      </p:sp>
      <p:sp>
        <p:nvSpPr>
          <p:cNvPr id="15" name="Text 13"/>
          <p:cNvSpPr/>
          <p:nvPr/>
        </p:nvSpPr>
        <p:spPr>
          <a:xfrm>
            <a:off x="2971800" y="2276856"/>
            <a:ext cx="8275320" cy="566928"/>
          </a:xfrm>
          <a:prstGeom prst="rect">
            <a:avLst/>
          </a:prstGeom>
          <a:noFill/>
          <a:ln/>
        </p:spPr>
        <p:txBody>
          <a:bodyPr wrap="square" lIns="0" tIns="0" rIns="0" bIns="0"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Assess real tasks and use sex-disaggregated, task-based and intersectional data.</a:t>
            </a:r>
            <a:endParaRPr lang="en-US" sz="1700" dirty="0"/>
          </a:p>
        </p:txBody>
      </p:sp>
      <p:sp>
        <p:nvSpPr>
          <p:cNvPr id="16" name="Shape 14"/>
          <p:cNvSpPr/>
          <p:nvPr/>
        </p:nvSpPr>
        <p:spPr>
          <a:xfrm>
            <a:off x="685800" y="3182112"/>
            <a:ext cx="1993392" cy="713232"/>
          </a:xfrm>
          <a:prstGeom prst="chevron">
            <a:avLst/>
          </a:prstGeom>
          <a:solidFill>
            <a:srgbClr val="2E8B78"/>
          </a:solidFill>
          <a:ln w="12700">
            <a:solidFill>
              <a:srgbClr val="2E8B78"/>
            </a:solidFill>
            <a:prstDash val="solid"/>
          </a:ln>
        </p:spPr>
      </p:sp>
      <p:sp>
        <p:nvSpPr>
          <p:cNvPr id="17" name="Text 15"/>
          <p:cNvSpPr/>
          <p:nvPr/>
        </p:nvSpPr>
        <p:spPr>
          <a:xfrm>
            <a:off x="960120" y="3346704"/>
            <a:ext cx="411480" cy="292608"/>
          </a:xfrm>
          <a:prstGeom prst="rect">
            <a:avLst/>
          </a:prstGeom>
          <a:noFill/>
          <a:ln/>
        </p:spPr>
        <p:txBody>
          <a:bodyPr wrap="square" lIns="0" tIns="0" rIns="0" bIns="0" rtlCol="0" anchor="ctr"/>
          <a:lstStyle/>
          <a:p>
            <a:pPr algn="ctr" indent="0" marL="0">
              <a:buNone/>
            </a:pPr>
            <a:r>
              <a:rPr lang="en-US" sz="2500" b="1" dirty="0">
                <a:solidFill>
                  <a:srgbClr val="FFFFFF"/>
                </a:solidFill>
                <a:latin typeface="Noto Sans ExtraCondensed" pitchFamily="34" charset="0"/>
                <a:ea typeface="Noto Sans ExtraCondensed" pitchFamily="34" charset="-122"/>
                <a:cs typeface="Noto Sans ExtraCondensed" pitchFamily="34" charset="-120"/>
              </a:rPr>
              <a:t>3</a:t>
            </a:r>
            <a:endParaRPr lang="en-US" sz="2500" dirty="0"/>
          </a:p>
        </p:txBody>
      </p:sp>
      <p:sp>
        <p:nvSpPr>
          <p:cNvPr id="18" name="Text 16"/>
          <p:cNvSpPr/>
          <p:nvPr/>
        </p:nvSpPr>
        <p:spPr>
          <a:xfrm>
            <a:off x="1371600" y="3346704"/>
            <a:ext cx="10515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ExtraCondensed" pitchFamily="34" charset="0"/>
                <a:ea typeface="Noto Sans ExtraCondensed" pitchFamily="34" charset="-122"/>
                <a:cs typeface="Noto Sans ExtraCondensed" pitchFamily="34" charset="-120"/>
              </a:rPr>
              <a:t>PARTICIPATION AND SERVICES</a:t>
            </a:r>
            <a:endParaRPr lang="en-US" sz="1600" dirty="0"/>
          </a:p>
        </p:txBody>
      </p:sp>
      <p:sp>
        <p:nvSpPr>
          <p:cNvPr id="19" name="Text 17"/>
          <p:cNvSpPr/>
          <p:nvPr/>
        </p:nvSpPr>
        <p:spPr>
          <a:xfrm>
            <a:off x="2971800" y="3236976"/>
            <a:ext cx="8275320" cy="566928"/>
          </a:xfrm>
          <a:prstGeom prst="rect">
            <a:avLst/>
          </a:prstGeom>
          <a:noFill/>
          <a:ln/>
        </p:spPr>
        <p:txBody>
          <a:bodyPr wrap="square" lIns="0" tIns="0" rIns="0" bIns="0"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Ensure equal voice, trusted reporting and access to occupational health and psychosocial support.</a:t>
            </a:r>
            <a:endParaRPr lang="en-US" sz="1700" dirty="0"/>
          </a:p>
        </p:txBody>
      </p:sp>
      <p:sp>
        <p:nvSpPr>
          <p:cNvPr id="20" name="Shape 18"/>
          <p:cNvSpPr/>
          <p:nvPr/>
        </p:nvSpPr>
        <p:spPr>
          <a:xfrm>
            <a:off x="685800" y="4142232"/>
            <a:ext cx="1993392" cy="713232"/>
          </a:xfrm>
          <a:prstGeom prst="chevron">
            <a:avLst/>
          </a:prstGeom>
          <a:solidFill>
            <a:srgbClr val="E7A33E"/>
          </a:solidFill>
          <a:ln w="12700">
            <a:solidFill>
              <a:srgbClr val="E7A33E"/>
            </a:solidFill>
            <a:prstDash val="solid"/>
          </a:ln>
        </p:spPr>
      </p:sp>
      <p:sp>
        <p:nvSpPr>
          <p:cNvPr id="21" name="Text 19"/>
          <p:cNvSpPr/>
          <p:nvPr/>
        </p:nvSpPr>
        <p:spPr>
          <a:xfrm>
            <a:off x="960120" y="4306824"/>
            <a:ext cx="411480" cy="292608"/>
          </a:xfrm>
          <a:prstGeom prst="rect">
            <a:avLst/>
          </a:prstGeom>
          <a:noFill/>
          <a:ln/>
        </p:spPr>
        <p:txBody>
          <a:bodyPr wrap="square" lIns="0" tIns="0" rIns="0" bIns="0" rtlCol="0" anchor="ctr"/>
          <a:lstStyle/>
          <a:p>
            <a:pPr algn="ctr" indent="0" marL="0">
              <a:buNone/>
            </a:pPr>
            <a:r>
              <a:rPr lang="en-US" sz="2500" b="1" dirty="0">
                <a:solidFill>
                  <a:srgbClr val="FFFFFF"/>
                </a:solidFill>
                <a:latin typeface="Noto Sans ExtraCondensed" pitchFamily="34" charset="0"/>
                <a:ea typeface="Noto Sans ExtraCondensed" pitchFamily="34" charset="-122"/>
                <a:cs typeface="Noto Sans ExtraCondensed" pitchFamily="34" charset="-120"/>
              </a:rPr>
              <a:t>4</a:t>
            </a:r>
            <a:endParaRPr lang="en-US" sz="2500" dirty="0"/>
          </a:p>
        </p:txBody>
      </p:sp>
      <p:sp>
        <p:nvSpPr>
          <p:cNvPr id="22" name="Text 20"/>
          <p:cNvSpPr/>
          <p:nvPr/>
        </p:nvSpPr>
        <p:spPr>
          <a:xfrm>
            <a:off x="1371600" y="4306824"/>
            <a:ext cx="10515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ExtraCondensed" pitchFamily="34" charset="0"/>
                <a:ea typeface="Noto Sans ExtraCondensed" pitchFamily="34" charset="-122"/>
                <a:cs typeface="Noto Sans ExtraCondensed" pitchFamily="34" charset="-120"/>
              </a:rPr>
              <a:t>EQUIPMENT AND CAPABILITY</a:t>
            </a:r>
            <a:endParaRPr lang="en-US" sz="1600" dirty="0"/>
          </a:p>
        </p:txBody>
      </p:sp>
      <p:sp>
        <p:nvSpPr>
          <p:cNvPr id="23" name="Text 21"/>
          <p:cNvSpPr/>
          <p:nvPr/>
        </p:nvSpPr>
        <p:spPr>
          <a:xfrm>
            <a:off x="2971800" y="4197096"/>
            <a:ext cx="8275320" cy="566928"/>
          </a:xfrm>
          <a:prstGeom prst="rect">
            <a:avLst/>
          </a:prstGeom>
          <a:noFill/>
          <a:ln/>
        </p:spPr>
        <p:txBody>
          <a:bodyPr wrap="square" lIns="0" tIns="0" rIns="0" bIns="0"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Design PPE, tools, facilities, information and training for a diverse workforce.</a:t>
            </a:r>
            <a:endParaRPr lang="en-US" sz="1700" dirty="0"/>
          </a:p>
        </p:txBody>
      </p:sp>
      <p:sp>
        <p:nvSpPr>
          <p:cNvPr id="24" name="Shape 22"/>
          <p:cNvSpPr/>
          <p:nvPr/>
        </p:nvSpPr>
        <p:spPr>
          <a:xfrm>
            <a:off x="685800" y="5102352"/>
            <a:ext cx="1993392" cy="713232"/>
          </a:xfrm>
          <a:prstGeom prst="chevron">
            <a:avLst/>
          </a:prstGeom>
          <a:solidFill>
            <a:srgbClr val="6B5AA6"/>
          </a:solidFill>
          <a:ln w="12700">
            <a:solidFill>
              <a:srgbClr val="6B5AA6"/>
            </a:solidFill>
            <a:prstDash val="solid"/>
          </a:ln>
        </p:spPr>
      </p:sp>
      <p:sp>
        <p:nvSpPr>
          <p:cNvPr id="25" name="Text 23"/>
          <p:cNvSpPr/>
          <p:nvPr/>
        </p:nvSpPr>
        <p:spPr>
          <a:xfrm>
            <a:off x="960120" y="5266944"/>
            <a:ext cx="411480" cy="292608"/>
          </a:xfrm>
          <a:prstGeom prst="rect">
            <a:avLst/>
          </a:prstGeom>
          <a:noFill/>
          <a:ln/>
        </p:spPr>
        <p:txBody>
          <a:bodyPr wrap="square" lIns="0" tIns="0" rIns="0" bIns="0" rtlCol="0" anchor="ctr"/>
          <a:lstStyle/>
          <a:p>
            <a:pPr algn="ctr" indent="0" marL="0">
              <a:buNone/>
            </a:pPr>
            <a:r>
              <a:rPr lang="en-US" sz="2500" b="1" dirty="0">
                <a:solidFill>
                  <a:srgbClr val="FFFFFF"/>
                </a:solidFill>
                <a:latin typeface="Noto Sans ExtraCondensed" pitchFamily="34" charset="0"/>
                <a:ea typeface="Noto Sans ExtraCondensed" pitchFamily="34" charset="-122"/>
                <a:cs typeface="Noto Sans ExtraCondensed" pitchFamily="34" charset="-120"/>
              </a:rPr>
              <a:t>5</a:t>
            </a:r>
            <a:endParaRPr lang="en-US" sz="2500" dirty="0"/>
          </a:p>
        </p:txBody>
      </p:sp>
      <p:sp>
        <p:nvSpPr>
          <p:cNvPr id="26" name="Text 24"/>
          <p:cNvSpPr/>
          <p:nvPr/>
        </p:nvSpPr>
        <p:spPr>
          <a:xfrm>
            <a:off x="1371600" y="5266944"/>
            <a:ext cx="10515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ExtraCondensed" pitchFamily="34" charset="0"/>
                <a:ea typeface="Noto Sans ExtraCondensed" pitchFamily="34" charset="-122"/>
                <a:cs typeface="Noto Sans ExtraCondensed" pitchFamily="34" charset="-120"/>
              </a:rPr>
              <a:t>WORKING TIME AND CARE</a:t>
            </a:r>
            <a:endParaRPr lang="en-US" sz="1600" dirty="0"/>
          </a:p>
        </p:txBody>
      </p:sp>
      <p:sp>
        <p:nvSpPr>
          <p:cNvPr id="27" name="Text 25"/>
          <p:cNvSpPr/>
          <p:nvPr/>
        </p:nvSpPr>
        <p:spPr>
          <a:xfrm>
            <a:off x="2971800" y="5157216"/>
            <a:ext cx="8275320" cy="566928"/>
          </a:xfrm>
          <a:prstGeom prst="rect">
            <a:avLst/>
          </a:prstGeom>
          <a:noFill/>
          <a:ln/>
        </p:spPr>
        <p:txBody>
          <a:bodyPr wrap="square" lIns="0" tIns="0" rIns="0" bIns="0" rtlCol="0" anchor="ctr"/>
          <a:lstStyle/>
          <a:p>
            <a:pPr indent="0" marL="0">
              <a:buNone/>
            </a:pPr>
            <a:r>
              <a:rPr lang="en-US" sz="1700" dirty="0">
                <a:solidFill>
                  <a:srgbClr val="2B2A29"/>
                </a:solidFill>
                <a:latin typeface="Noto Sans SemiCondensed" pitchFamily="34" charset="0"/>
                <a:ea typeface="Noto Sans SemiCondensed" pitchFamily="34" charset="-122"/>
                <a:cs typeface="Noto Sans SemiCondensed" pitchFamily="34" charset="-120"/>
              </a:rPr>
              <a:t>Manage fatigue, scheduling, travel, remote work and work-life balance as OSH issues.</a:t>
            </a:r>
            <a:endParaRPr lang="en-US" sz="1700" dirty="0"/>
          </a:p>
        </p:txBody>
      </p:sp>
      <p:sp>
        <p:nvSpPr>
          <p:cNvPr id="28" name="Text 26"/>
          <p:cNvSpPr/>
          <p:nvPr/>
        </p:nvSpPr>
        <p:spPr>
          <a:xfrm>
            <a:off x="1051560" y="6199632"/>
            <a:ext cx="10104120" cy="292608"/>
          </a:xfrm>
          <a:prstGeom prst="rect">
            <a:avLst/>
          </a:prstGeom>
          <a:noFill/>
          <a:ln/>
        </p:spPr>
        <p:txBody>
          <a:bodyPr wrap="square" lIns="0" tIns="0" rIns="0" bIns="0" rtlCol="0" anchor="ctr"/>
          <a:lstStyle/>
          <a:p>
            <a:pPr algn="ctr" indent="0" marL="0">
              <a:buNone/>
            </a:pPr>
            <a:r>
              <a:rPr lang="en-US" sz="1800" b="1" dirty="0">
                <a:solidFill>
                  <a:srgbClr val="284B96"/>
                </a:solidFill>
                <a:latin typeface="Noto Sans SemiCondensed" pitchFamily="34" charset="0"/>
                <a:ea typeface="Noto Sans SemiCondensed" pitchFamily="34" charset="-122"/>
                <a:cs typeface="Noto Sans SemiCondensed" pitchFamily="34" charset="-120"/>
              </a:rPr>
              <a:t>A gender-responsive OSH system is not a separate programme. It changes how the core system operates.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Workers repairing power infrastructure">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6629400" cy="6858000"/>
          </a:xfrm>
          <a:prstGeom prst="rect">
            <a:avLst/>
          </a:prstGeom>
          <a:solidFill>
            <a:srgbClr val="284B96">
              <a:alpha val="90000"/>
            </a:srgbClr>
          </a:solidFill>
          <a:ln w="12700">
            <a:solidFill>
              <a:srgbClr val="284B96">
                <a:alpha val="0"/>
              </a:srgbClr>
            </a:solidFill>
            <a:prstDash val="solid"/>
          </a:ln>
        </p:spPr>
      </p:sp>
      <p:sp>
        <p:nvSpPr>
          <p:cNvPr id="4" name="Shape 1"/>
          <p:cNvSpPr/>
          <p:nvPr/>
        </p:nvSpPr>
        <p:spPr>
          <a:xfrm>
            <a:off x="640080" y="457200"/>
            <a:ext cx="2148840" cy="310896"/>
          </a:xfrm>
          <a:prstGeom prst="roundRect">
            <a:avLst>
              <a:gd name="adj" fmla="val 17647"/>
            </a:avLst>
          </a:prstGeom>
          <a:solidFill>
            <a:srgbClr val="00A3E0"/>
          </a:solidFill>
          <a:ln w="12700">
            <a:solidFill>
              <a:srgbClr val="00A3E0">
                <a:alpha val="0"/>
              </a:srgbClr>
            </a:solidFill>
            <a:prstDash val="solid"/>
          </a:ln>
        </p:spPr>
      </p:sp>
      <p:sp>
        <p:nvSpPr>
          <p:cNvPr id="5" name="Text 2"/>
          <p:cNvSpPr/>
          <p:nvPr/>
        </p:nvSpPr>
        <p:spPr>
          <a:xfrm>
            <a:off x="713232" y="493776"/>
            <a:ext cx="2002536" cy="201168"/>
          </a:xfrm>
          <a:prstGeom prst="rect">
            <a:avLst/>
          </a:prstGeom>
          <a:noFill/>
          <a:ln/>
        </p:spPr>
        <p:txBody>
          <a:bodyPr wrap="square" lIns="0" tIns="0" rIns="0" bIns="0" rtlCol="0" anchor="ctr"/>
          <a:lstStyle/>
          <a:p>
            <a:pPr algn="ctr" indent="0" marL="0">
              <a:buNone/>
            </a:pPr>
            <a:r>
              <a:rPr lang="en-US" sz="950" b="1" spc="70" kern="0" dirty="0">
                <a:solidFill>
                  <a:srgbClr val="FFFFFF"/>
                </a:solidFill>
                <a:latin typeface="Noto Sans SemiCondensed" pitchFamily="34" charset="0"/>
                <a:ea typeface="Noto Sans SemiCondensed" pitchFamily="34" charset="-122"/>
                <a:cs typeface="Noto Sans SemiCondensed" pitchFamily="34" charset="-120"/>
              </a:rPr>
              <a:t>FICTIONAL COMPOSITE CASE</a:t>
            </a:r>
            <a:endParaRPr lang="en-US" sz="950" dirty="0"/>
          </a:p>
        </p:txBody>
      </p:sp>
      <p:sp>
        <p:nvSpPr>
          <p:cNvPr id="6" name="Text 3"/>
          <p:cNvSpPr/>
          <p:nvPr/>
        </p:nvSpPr>
        <p:spPr>
          <a:xfrm>
            <a:off x="658368" y="987552"/>
            <a:ext cx="5440680" cy="1051560"/>
          </a:xfrm>
          <a:prstGeom prst="rect">
            <a:avLst/>
          </a:prstGeom>
          <a:noFill/>
          <a:ln/>
        </p:spPr>
        <p:txBody>
          <a:bodyPr wrap="square" lIns="0" tIns="0" rIns="0" bIns="0" rtlCol="0" anchor="ctr"/>
          <a:lstStyle/>
          <a:p>
            <a:pPr indent="0" marL="0">
              <a:buNone/>
            </a:pPr>
            <a:r>
              <a:rPr lang="en-US" sz="3100" b="1" dirty="0">
                <a:solidFill>
                  <a:srgbClr val="FFFFFF"/>
                </a:solidFill>
                <a:latin typeface="Noto Sans ExtraCondensed" pitchFamily="34" charset="0"/>
                <a:ea typeface="Noto Sans ExtraCondensed" pitchFamily="34" charset="-122"/>
                <a:cs typeface="Noto Sans ExtraCondensed" pitchFamily="34" charset="-120"/>
              </a:rPr>
              <a:t>RESTORATION AFTER</a:t>
            </a:r>
            <a:endParaRPr lang="en-US" sz="3100" dirty="0"/>
          </a:p>
          <a:p>
            <a:pPr indent="0" marL="0">
              <a:buNone/>
            </a:pPr>
            <a:r>
              <a:rPr lang="en-US" sz="3100" b="1" dirty="0">
                <a:solidFill>
                  <a:srgbClr val="FFFFFF"/>
                </a:solidFill>
                <a:latin typeface="Noto Sans ExtraCondensed" pitchFamily="34" charset="0"/>
                <a:ea typeface="Noto Sans ExtraCondensed" pitchFamily="34" charset="-122"/>
                <a:cs typeface="Noto Sans ExtraCondensed" pitchFamily="34" charset="-120"/>
              </a:rPr>
              <a:t>INFRASTRUCTURE DAMAGE</a:t>
            </a:r>
            <a:endParaRPr lang="en-US" sz="3100" dirty="0"/>
          </a:p>
        </p:txBody>
      </p:sp>
      <p:sp>
        <p:nvSpPr>
          <p:cNvPr id="7" name="Shape 4"/>
          <p:cNvSpPr/>
          <p:nvPr/>
        </p:nvSpPr>
        <p:spPr>
          <a:xfrm>
            <a:off x="804672" y="2404872"/>
            <a:ext cx="109728" cy="109728"/>
          </a:xfrm>
          <a:prstGeom prst="ellipse">
            <a:avLst/>
          </a:prstGeom>
          <a:solidFill>
            <a:srgbClr val="00A3E0"/>
          </a:solidFill>
          <a:ln w="12700">
            <a:solidFill>
              <a:srgbClr val="00A3E0"/>
            </a:solidFill>
            <a:prstDash val="solid"/>
          </a:ln>
        </p:spPr>
      </p:sp>
      <p:sp>
        <p:nvSpPr>
          <p:cNvPr id="8" name="Text 5"/>
          <p:cNvSpPr/>
          <p:nvPr/>
        </p:nvSpPr>
        <p:spPr>
          <a:xfrm>
            <a:off x="1005840" y="2286000"/>
            <a:ext cx="5239512" cy="667512"/>
          </a:xfrm>
          <a:prstGeom prst="rect">
            <a:avLst/>
          </a:prstGeom>
          <a:noFill/>
          <a:ln/>
        </p:spPr>
        <p:txBody>
          <a:bodyPr wrap="square" lIns="127" tIns="127" rIns="127" bIns="127" rtlCol="0" anchor="ctr"/>
          <a:lstStyle/>
          <a:p>
            <a:pPr indent="0" marL="0">
              <a:buNone/>
            </a:pPr>
            <a:r>
              <a:rPr lang="en-US" sz="1620" dirty="0">
                <a:solidFill>
                  <a:srgbClr val="FFFFFF"/>
                </a:solidFill>
                <a:latin typeface="Noto Sans SemiCondensed" pitchFamily="34" charset="0"/>
                <a:ea typeface="Noto Sans SemiCondensed" pitchFamily="34" charset="-122"/>
                <a:cs typeface="Noto Sans SemiCondensed" pitchFamily="34" charset="-120"/>
              </a:rPr>
              <a:t>02:30 in winter. A substation is damaged and a hospital circuit must be restored.</a:t>
            </a:r>
            <a:endParaRPr lang="en-US" sz="1620" dirty="0"/>
          </a:p>
        </p:txBody>
      </p:sp>
      <p:sp>
        <p:nvSpPr>
          <p:cNvPr id="9" name="Shape 6"/>
          <p:cNvSpPr/>
          <p:nvPr/>
        </p:nvSpPr>
        <p:spPr>
          <a:xfrm>
            <a:off x="804672" y="3108960"/>
            <a:ext cx="109728" cy="109728"/>
          </a:xfrm>
          <a:prstGeom prst="ellipse">
            <a:avLst/>
          </a:prstGeom>
          <a:solidFill>
            <a:srgbClr val="00A3E0"/>
          </a:solidFill>
          <a:ln w="12700">
            <a:solidFill>
              <a:srgbClr val="00A3E0"/>
            </a:solidFill>
            <a:prstDash val="solid"/>
          </a:ln>
        </p:spPr>
      </p:sp>
      <p:sp>
        <p:nvSpPr>
          <p:cNvPr id="10" name="Text 7"/>
          <p:cNvSpPr/>
          <p:nvPr/>
        </p:nvSpPr>
        <p:spPr>
          <a:xfrm>
            <a:off x="1005840" y="2990088"/>
            <a:ext cx="5239512" cy="667512"/>
          </a:xfrm>
          <a:prstGeom prst="rect">
            <a:avLst/>
          </a:prstGeom>
          <a:noFill/>
          <a:ln/>
        </p:spPr>
        <p:txBody>
          <a:bodyPr wrap="square" lIns="127" tIns="127" rIns="127" bIns="127" rtlCol="0" anchor="ctr"/>
          <a:lstStyle/>
          <a:p>
            <a:pPr indent="0" marL="0">
              <a:buNone/>
            </a:pPr>
            <a:r>
              <a:rPr lang="en-US" sz="1620" dirty="0">
                <a:solidFill>
                  <a:srgbClr val="FFFFFF"/>
                </a:solidFill>
                <a:latin typeface="Noto Sans SemiCondensed" pitchFamily="34" charset="0"/>
                <a:ea typeface="Noto Sans SemiCondensed" pitchFamily="34" charset="-122"/>
                <a:cs typeface="Noto Sans SemiCondensed" pitchFamily="34" charset="-120"/>
              </a:rPr>
              <a:t>The eight-person crew includes two new recruits, a woman technician, a veteran with hearing loss, a contractor and an experienced supervisor.</a:t>
            </a:r>
            <a:endParaRPr lang="en-US" sz="1620" dirty="0"/>
          </a:p>
        </p:txBody>
      </p:sp>
      <p:sp>
        <p:nvSpPr>
          <p:cNvPr id="11" name="Shape 8"/>
          <p:cNvSpPr/>
          <p:nvPr/>
        </p:nvSpPr>
        <p:spPr>
          <a:xfrm>
            <a:off x="804672" y="3813048"/>
            <a:ext cx="109728" cy="109728"/>
          </a:xfrm>
          <a:prstGeom prst="ellipse">
            <a:avLst/>
          </a:prstGeom>
          <a:solidFill>
            <a:srgbClr val="00A3E0"/>
          </a:solidFill>
          <a:ln w="12700">
            <a:solidFill>
              <a:srgbClr val="00A3E0"/>
            </a:solidFill>
            <a:prstDash val="solid"/>
          </a:ln>
        </p:spPr>
      </p:sp>
      <p:sp>
        <p:nvSpPr>
          <p:cNvPr id="12" name="Text 9"/>
          <p:cNvSpPr/>
          <p:nvPr/>
        </p:nvSpPr>
        <p:spPr>
          <a:xfrm>
            <a:off x="1005840" y="3694176"/>
            <a:ext cx="5239512" cy="667512"/>
          </a:xfrm>
          <a:prstGeom prst="rect">
            <a:avLst/>
          </a:prstGeom>
          <a:noFill/>
          <a:ln/>
        </p:spPr>
        <p:txBody>
          <a:bodyPr wrap="square" lIns="127" tIns="127" rIns="127" bIns="127" rtlCol="0" anchor="ctr"/>
          <a:lstStyle/>
          <a:p>
            <a:pPr indent="0" marL="0">
              <a:buNone/>
            </a:pPr>
            <a:r>
              <a:rPr lang="en-US" sz="1620" dirty="0">
                <a:solidFill>
                  <a:srgbClr val="FFFFFF"/>
                </a:solidFill>
                <a:latin typeface="Noto Sans SemiCondensed" pitchFamily="34" charset="0"/>
                <a:ea typeface="Noto Sans SemiCondensed" pitchFamily="34" charset="-122"/>
                <a:cs typeface="Noto Sans SemiCondensed" pitchFamily="34" charset="-120"/>
              </a:rPr>
              <a:t>Several workers have already been on duty for 12 hours. Mobile communication is intermittent.</a:t>
            </a:r>
            <a:endParaRPr lang="en-US" sz="1620" dirty="0"/>
          </a:p>
        </p:txBody>
      </p:sp>
      <p:sp>
        <p:nvSpPr>
          <p:cNvPr id="13" name="Shape 10"/>
          <p:cNvSpPr/>
          <p:nvPr/>
        </p:nvSpPr>
        <p:spPr>
          <a:xfrm>
            <a:off x="804672" y="4517136"/>
            <a:ext cx="109728" cy="109728"/>
          </a:xfrm>
          <a:prstGeom prst="ellipse">
            <a:avLst/>
          </a:prstGeom>
          <a:solidFill>
            <a:srgbClr val="00A3E0"/>
          </a:solidFill>
          <a:ln w="12700">
            <a:solidFill>
              <a:srgbClr val="00A3E0"/>
            </a:solidFill>
            <a:prstDash val="solid"/>
          </a:ln>
        </p:spPr>
      </p:sp>
      <p:sp>
        <p:nvSpPr>
          <p:cNvPr id="14" name="Text 11"/>
          <p:cNvSpPr/>
          <p:nvPr/>
        </p:nvSpPr>
        <p:spPr>
          <a:xfrm>
            <a:off x="1005840" y="4398264"/>
            <a:ext cx="5239512" cy="667512"/>
          </a:xfrm>
          <a:prstGeom prst="rect">
            <a:avLst/>
          </a:prstGeom>
          <a:noFill/>
          <a:ln/>
        </p:spPr>
        <p:txBody>
          <a:bodyPr wrap="square" lIns="127" tIns="127" rIns="127" bIns="127" rtlCol="0" anchor="ctr"/>
          <a:lstStyle/>
          <a:p>
            <a:pPr indent="0" marL="0">
              <a:buNone/>
            </a:pPr>
            <a:r>
              <a:rPr lang="en-US" sz="1620" dirty="0">
                <a:solidFill>
                  <a:srgbClr val="FFFFFF"/>
                </a:solidFill>
                <a:latin typeface="Noto Sans SemiCondensed" pitchFamily="34" charset="0"/>
                <a:ea typeface="Noto Sans SemiCondensed" pitchFamily="34" charset="-122"/>
                <a:cs typeface="Noto Sans SemiCondensed" pitchFamily="34" charset="-120"/>
              </a:rPr>
              <a:t>Unexploded-ordnance clearance is not fully documented. Only one fall-arrest harness is available in a smaller size.</a:t>
            </a:r>
            <a:endParaRPr lang="en-US" sz="1620" dirty="0"/>
          </a:p>
        </p:txBody>
      </p:sp>
      <p:sp>
        <p:nvSpPr>
          <p:cNvPr id="15" name="Shape 12"/>
          <p:cNvSpPr/>
          <p:nvPr/>
        </p:nvSpPr>
        <p:spPr>
          <a:xfrm>
            <a:off x="804672" y="5221224"/>
            <a:ext cx="109728" cy="109728"/>
          </a:xfrm>
          <a:prstGeom prst="ellipse">
            <a:avLst/>
          </a:prstGeom>
          <a:solidFill>
            <a:srgbClr val="00A3E0"/>
          </a:solidFill>
          <a:ln w="12700">
            <a:solidFill>
              <a:srgbClr val="00A3E0"/>
            </a:solidFill>
            <a:prstDash val="solid"/>
          </a:ln>
        </p:spPr>
      </p:sp>
      <p:sp>
        <p:nvSpPr>
          <p:cNvPr id="16" name="Text 13"/>
          <p:cNvSpPr/>
          <p:nvPr/>
        </p:nvSpPr>
        <p:spPr>
          <a:xfrm>
            <a:off x="1005840" y="5102352"/>
            <a:ext cx="5239512" cy="667512"/>
          </a:xfrm>
          <a:prstGeom prst="rect">
            <a:avLst/>
          </a:prstGeom>
          <a:noFill/>
          <a:ln/>
        </p:spPr>
        <p:txBody>
          <a:bodyPr wrap="square" lIns="127" tIns="127" rIns="127" bIns="127" rtlCol="0" anchor="ctr"/>
          <a:lstStyle/>
          <a:p>
            <a:pPr indent="0" marL="0">
              <a:buNone/>
            </a:pPr>
            <a:r>
              <a:rPr lang="en-US" sz="1620" dirty="0">
                <a:solidFill>
                  <a:srgbClr val="FFFFFF"/>
                </a:solidFill>
                <a:latin typeface="Noto Sans SemiCondensed" pitchFamily="34" charset="0"/>
                <a:ea typeface="Noto Sans SemiCondensed" pitchFamily="34" charset="-122"/>
                <a:cs typeface="Noto Sans SemiCondensed" pitchFamily="34" charset="-120"/>
              </a:rPr>
              <a:t>Management asks for restoration within 90 minutes.</a:t>
            </a:r>
            <a:endParaRPr lang="en-US" sz="1620" dirty="0"/>
          </a:p>
        </p:txBody>
      </p:sp>
      <p:sp>
        <p:nvSpPr>
          <p:cNvPr id="17" name="Shape 14"/>
          <p:cNvSpPr/>
          <p:nvPr/>
        </p:nvSpPr>
        <p:spPr>
          <a:xfrm>
            <a:off x="0" y="6729984"/>
            <a:ext cx="12191695" cy="128016"/>
          </a:xfrm>
          <a:prstGeom prst="rect">
            <a:avLst/>
          </a:prstGeom>
          <a:solidFill>
            <a:srgbClr val="00A3E0"/>
          </a:solidFill>
          <a:ln w="12700">
            <a:solidFill>
              <a:srgbClr val="00A3E0"/>
            </a:solidFill>
            <a:prstDash val="solid"/>
          </a:ln>
        </p:spPr>
      </p:sp>
      <p:sp>
        <p:nvSpPr>
          <p:cNvPr id="18" name="Text 15"/>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FFFFFF"/>
                </a:solidFill>
                <a:latin typeface="Noto Sans SemiCondensed" pitchFamily="34" charset="0"/>
                <a:ea typeface="Noto Sans SemiCondensed" pitchFamily="34" charset="-122"/>
                <a:cs typeface="Noto Sans SemiCondensed" pitchFamily="34" charset="-120"/>
              </a:rPr>
              <a:t>24</a:t>
            </a:r>
            <a:endParaRPr lang="en-US" sz="900" dirty="0"/>
          </a:p>
        </p:txBody>
      </p:sp>
      <p:sp>
        <p:nvSpPr>
          <p:cNvPr id="19" name="Text 16"/>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ITCILO</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CASE EXERCISE</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Group task</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25</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777240" y="1508760"/>
            <a:ext cx="2331720" cy="2331720"/>
          </a:xfrm>
          <a:prstGeom prst="ellipse">
            <a:avLst/>
          </a:prstGeom>
          <a:solidFill>
            <a:srgbClr val="284B96"/>
          </a:solidFill>
          <a:ln w="12700">
            <a:solidFill>
              <a:srgbClr val="284B96"/>
            </a:solidFill>
            <a:prstDash val="solid"/>
          </a:ln>
        </p:spPr>
      </p:sp>
      <p:sp>
        <p:nvSpPr>
          <p:cNvPr id="9" name="Text 7"/>
          <p:cNvSpPr/>
          <p:nvPr/>
        </p:nvSpPr>
        <p:spPr>
          <a:xfrm>
            <a:off x="1353312" y="1901952"/>
            <a:ext cx="1143000" cy="685800"/>
          </a:xfrm>
          <a:prstGeom prst="rect">
            <a:avLst/>
          </a:prstGeom>
          <a:noFill/>
          <a:ln/>
        </p:spPr>
        <p:txBody>
          <a:bodyPr wrap="square" lIns="0" tIns="0" rIns="0" bIns="0" rtlCol="0" anchor="ctr"/>
          <a:lstStyle/>
          <a:p>
            <a:pPr algn="ctr" indent="0" marL="0">
              <a:buNone/>
            </a:pPr>
            <a:r>
              <a:rPr lang="en-US" sz="5000" b="1" dirty="0">
                <a:solidFill>
                  <a:srgbClr val="FFFFFF"/>
                </a:solidFill>
                <a:latin typeface="Noto Sans ExtraCondensed" pitchFamily="34" charset="0"/>
                <a:ea typeface="Noto Sans ExtraCondensed" pitchFamily="34" charset="-122"/>
                <a:cs typeface="Noto Sans ExtraCondensed" pitchFamily="34" charset="-120"/>
              </a:rPr>
              <a:t>12</a:t>
            </a:r>
            <a:endParaRPr lang="en-US" sz="5000" dirty="0"/>
          </a:p>
        </p:txBody>
      </p:sp>
      <p:sp>
        <p:nvSpPr>
          <p:cNvPr id="10" name="Text 8"/>
          <p:cNvSpPr/>
          <p:nvPr/>
        </p:nvSpPr>
        <p:spPr>
          <a:xfrm>
            <a:off x="1307592" y="2697480"/>
            <a:ext cx="123444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Noto Sans SemiCondensed" pitchFamily="34" charset="0"/>
                <a:ea typeface="Noto Sans SemiCondensed" pitchFamily="34" charset="-122"/>
                <a:cs typeface="Noto Sans SemiCondensed" pitchFamily="34" charset="-120"/>
              </a:rPr>
              <a:t>MINUTES</a:t>
            </a:r>
            <a:endParaRPr lang="en-US" sz="1600" dirty="0"/>
          </a:p>
        </p:txBody>
      </p:sp>
      <p:sp>
        <p:nvSpPr>
          <p:cNvPr id="11" name="Text 9"/>
          <p:cNvSpPr/>
          <p:nvPr/>
        </p:nvSpPr>
        <p:spPr>
          <a:xfrm>
            <a:off x="713232" y="4160520"/>
            <a:ext cx="2468880" cy="777240"/>
          </a:xfrm>
          <a:prstGeom prst="rect">
            <a:avLst/>
          </a:prstGeom>
          <a:noFill/>
          <a:ln/>
        </p:spPr>
        <p:txBody>
          <a:bodyPr wrap="square" lIns="0" tIns="0" rIns="0" bIns="0" rtlCol="0" anchor="ctr"/>
          <a:lstStyle/>
          <a:p>
            <a:pPr algn="ctr" indent="0" marL="0">
              <a:buNone/>
            </a:pPr>
            <a:r>
              <a:rPr lang="en-US" sz="1700" dirty="0">
                <a:solidFill>
                  <a:srgbClr val="5B5B5B"/>
                </a:solidFill>
                <a:latin typeface="Noto Sans SemiCondensed" pitchFamily="34" charset="0"/>
                <a:ea typeface="Noto Sans SemiCondensed" pitchFamily="34" charset="-122"/>
                <a:cs typeface="Noto Sans SemiCondensed" pitchFamily="34" charset="-120"/>
              </a:rPr>
              <a:t>Assign a rapporteur and prepare a two-minute response.</a:t>
            </a:r>
            <a:endParaRPr lang="en-US" sz="1700" dirty="0"/>
          </a:p>
        </p:txBody>
      </p:sp>
      <p:sp>
        <p:nvSpPr>
          <p:cNvPr id="12" name="Shape 10"/>
          <p:cNvSpPr/>
          <p:nvPr/>
        </p:nvSpPr>
        <p:spPr>
          <a:xfrm>
            <a:off x="3657600" y="1444752"/>
            <a:ext cx="3429000" cy="1600200"/>
          </a:xfrm>
          <a:prstGeom prst="roundRect">
            <a:avLst/>
          </a:prstGeom>
          <a:solidFill>
            <a:srgbClr val="FFFFFF"/>
          </a:solidFill>
          <a:ln w="25400">
            <a:solidFill>
              <a:srgbClr val="C95B61"/>
            </a:solidFill>
            <a:prstDash val="solid"/>
          </a:ln>
        </p:spPr>
      </p:sp>
      <p:sp>
        <p:nvSpPr>
          <p:cNvPr id="13" name="Shape 11"/>
          <p:cNvSpPr/>
          <p:nvPr/>
        </p:nvSpPr>
        <p:spPr>
          <a:xfrm>
            <a:off x="3822192" y="1609344"/>
            <a:ext cx="502920" cy="502920"/>
          </a:xfrm>
          <a:prstGeom prst="ellipse">
            <a:avLst/>
          </a:prstGeom>
          <a:solidFill>
            <a:srgbClr val="C95B61"/>
          </a:solidFill>
          <a:ln w="12700">
            <a:solidFill>
              <a:srgbClr val="C95B61"/>
            </a:solidFill>
            <a:prstDash val="solid"/>
          </a:ln>
        </p:spPr>
      </p:sp>
      <p:sp>
        <p:nvSpPr>
          <p:cNvPr id="14" name="Text 12"/>
          <p:cNvSpPr/>
          <p:nvPr/>
        </p:nvSpPr>
        <p:spPr>
          <a:xfrm>
            <a:off x="3977640" y="1719072"/>
            <a:ext cx="182880" cy="210312"/>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1</a:t>
            </a:r>
            <a:endParaRPr lang="en-US" sz="1700" dirty="0"/>
          </a:p>
        </p:txBody>
      </p:sp>
      <p:sp>
        <p:nvSpPr>
          <p:cNvPr id="15" name="Text 13"/>
          <p:cNvSpPr/>
          <p:nvPr/>
        </p:nvSpPr>
        <p:spPr>
          <a:xfrm>
            <a:off x="4480560" y="1609344"/>
            <a:ext cx="2286000" cy="292608"/>
          </a:xfrm>
          <a:prstGeom prst="rect">
            <a:avLst/>
          </a:prstGeom>
          <a:noFill/>
          <a:ln/>
        </p:spPr>
        <p:txBody>
          <a:bodyPr wrap="square" lIns="0" tIns="0" rIns="0" bIns="0" rtlCol="0" anchor="ctr"/>
          <a:lstStyle/>
          <a:p>
            <a:pPr indent="0" marL="0">
              <a:buNone/>
            </a:pPr>
            <a:r>
              <a:rPr lang="en-US" sz="1800" b="1" dirty="0">
                <a:solidFill>
                  <a:srgbClr val="C95B61"/>
                </a:solidFill>
                <a:latin typeface="Noto Sans ExtraCondensed" pitchFamily="34" charset="0"/>
                <a:ea typeface="Noto Sans ExtraCondensed" pitchFamily="34" charset="-122"/>
                <a:cs typeface="Noto Sans ExtraCondensed" pitchFamily="34" charset="-120"/>
              </a:rPr>
              <a:t>STOP / GO</a:t>
            </a:r>
            <a:endParaRPr lang="en-US" sz="1800" dirty="0"/>
          </a:p>
        </p:txBody>
      </p:sp>
      <p:sp>
        <p:nvSpPr>
          <p:cNvPr id="16" name="Text 14"/>
          <p:cNvSpPr/>
          <p:nvPr/>
        </p:nvSpPr>
        <p:spPr>
          <a:xfrm>
            <a:off x="3913632" y="2194560"/>
            <a:ext cx="2926080" cy="566928"/>
          </a:xfrm>
          <a:prstGeom prst="rect">
            <a:avLst/>
          </a:prstGeom>
          <a:noFill/>
          <a:ln/>
        </p:spPr>
        <p:txBody>
          <a:bodyPr wrap="square" lIns="0" tIns="0" rIns="0" bIns="0" rtlCol="0" anchor="ctr"/>
          <a:lstStyle/>
          <a:p>
            <a:pPr algn="ct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What must be verified or controlled before work starts?</a:t>
            </a:r>
            <a:endParaRPr lang="en-US" sz="1450" dirty="0"/>
          </a:p>
        </p:txBody>
      </p:sp>
      <p:sp>
        <p:nvSpPr>
          <p:cNvPr id="17" name="Shape 15"/>
          <p:cNvSpPr/>
          <p:nvPr/>
        </p:nvSpPr>
        <p:spPr>
          <a:xfrm>
            <a:off x="7543800" y="1444752"/>
            <a:ext cx="3429000" cy="1600200"/>
          </a:xfrm>
          <a:prstGeom prst="roundRect">
            <a:avLst/>
          </a:prstGeom>
          <a:solidFill>
            <a:srgbClr val="FFFFFF"/>
          </a:solidFill>
          <a:ln w="25400">
            <a:solidFill>
              <a:srgbClr val="00A3E0"/>
            </a:solidFill>
            <a:prstDash val="solid"/>
          </a:ln>
        </p:spPr>
      </p:sp>
      <p:sp>
        <p:nvSpPr>
          <p:cNvPr id="18" name="Shape 16"/>
          <p:cNvSpPr/>
          <p:nvPr/>
        </p:nvSpPr>
        <p:spPr>
          <a:xfrm>
            <a:off x="7708392" y="1609344"/>
            <a:ext cx="502920" cy="502920"/>
          </a:xfrm>
          <a:prstGeom prst="ellipse">
            <a:avLst/>
          </a:prstGeom>
          <a:solidFill>
            <a:srgbClr val="00A3E0"/>
          </a:solidFill>
          <a:ln w="12700">
            <a:solidFill>
              <a:srgbClr val="00A3E0"/>
            </a:solidFill>
            <a:prstDash val="solid"/>
          </a:ln>
        </p:spPr>
      </p:sp>
      <p:sp>
        <p:nvSpPr>
          <p:cNvPr id="19" name="Text 17"/>
          <p:cNvSpPr/>
          <p:nvPr/>
        </p:nvSpPr>
        <p:spPr>
          <a:xfrm>
            <a:off x="7863840" y="1719072"/>
            <a:ext cx="182880" cy="210312"/>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2</a:t>
            </a:r>
            <a:endParaRPr lang="en-US" sz="1700" dirty="0"/>
          </a:p>
        </p:txBody>
      </p:sp>
      <p:sp>
        <p:nvSpPr>
          <p:cNvPr id="20" name="Text 18"/>
          <p:cNvSpPr/>
          <p:nvPr/>
        </p:nvSpPr>
        <p:spPr>
          <a:xfrm>
            <a:off x="8366760" y="1609344"/>
            <a:ext cx="2286000" cy="292608"/>
          </a:xfrm>
          <a:prstGeom prst="rect">
            <a:avLst/>
          </a:prstGeom>
          <a:noFill/>
          <a:ln/>
        </p:spPr>
        <p:txBody>
          <a:bodyPr wrap="square" lIns="0" tIns="0" rIns="0" bIns="0" rtlCol="0" anchor="ctr"/>
          <a:lstStyle/>
          <a:p>
            <a:pPr indent="0" marL="0">
              <a:buNone/>
            </a:pPr>
            <a:r>
              <a:rPr lang="en-US" sz="1800" b="1" dirty="0">
                <a:solidFill>
                  <a:srgbClr val="00A3E0"/>
                </a:solidFill>
                <a:latin typeface="Noto Sans ExtraCondensed" pitchFamily="34" charset="0"/>
                <a:ea typeface="Noto Sans ExtraCondensed" pitchFamily="34" charset="-122"/>
                <a:cs typeface="Noto Sans ExtraCondensed" pitchFamily="34" charset="-120"/>
              </a:rPr>
              <a:t>TASK ALLOCATION</a:t>
            </a:r>
            <a:endParaRPr lang="en-US" sz="1800" dirty="0"/>
          </a:p>
        </p:txBody>
      </p:sp>
      <p:sp>
        <p:nvSpPr>
          <p:cNvPr id="21" name="Text 19"/>
          <p:cNvSpPr/>
          <p:nvPr/>
        </p:nvSpPr>
        <p:spPr>
          <a:xfrm>
            <a:off x="7799832" y="2194560"/>
            <a:ext cx="2926080" cy="566928"/>
          </a:xfrm>
          <a:prstGeom prst="rect">
            <a:avLst/>
          </a:prstGeom>
          <a:noFill/>
          <a:ln/>
        </p:spPr>
        <p:txBody>
          <a:bodyPr wrap="square" lIns="0" tIns="0" rIns="0" bIns="0" rtlCol="0" anchor="ctr"/>
          <a:lstStyle/>
          <a:p>
            <a:pPr algn="ct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How will you assign work by competence without stereotypes or exclusion?</a:t>
            </a:r>
            <a:endParaRPr lang="en-US" sz="1450" dirty="0"/>
          </a:p>
        </p:txBody>
      </p:sp>
      <p:sp>
        <p:nvSpPr>
          <p:cNvPr id="22" name="Shape 20"/>
          <p:cNvSpPr/>
          <p:nvPr/>
        </p:nvSpPr>
        <p:spPr>
          <a:xfrm>
            <a:off x="3657600" y="3502152"/>
            <a:ext cx="3429000" cy="1600200"/>
          </a:xfrm>
          <a:prstGeom prst="roundRect">
            <a:avLst/>
          </a:prstGeom>
          <a:solidFill>
            <a:srgbClr val="FFFFFF"/>
          </a:solidFill>
          <a:ln w="25400">
            <a:solidFill>
              <a:srgbClr val="2E8B78"/>
            </a:solidFill>
            <a:prstDash val="solid"/>
          </a:ln>
        </p:spPr>
      </p:sp>
      <p:sp>
        <p:nvSpPr>
          <p:cNvPr id="23" name="Shape 21"/>
          <p:cNvSpPr/>
          <p:nvPr/>
        </p:nvSpPr>
        <p:spPr>
          <a:xfrm>
            <a:off x="3822192" y="3666744"/>
            <a:ext cx="502920" cy="502920"/>
          </a:xfrm>
          <a:prstGeom prst="ellipse">
            <a:avLst/>
          </a:prstGeom>
          <a:solidFill>
            <a:srgbClr val="2E8B78"/>
          </a:solidFill>
          <a:ln w="12700">
            <a:solidFill>
              <a:srgbClr val="2E8B78"/>
            </a:solidFill>
            <a:prstDash val="solid"/>
          </a:ln>
        </p:spPr>
      </p:sp>
      <p:sp>
        <p:nvSpPr>
          <p:cNvPr id="24" name="Text 22"/>
          <p:cNvSpPr/>
          <p:nvPr/>
        </p:nvSpPr>
        <p:spPr>
          <a:xfrm>
            <a:off x="3977640" y="3776472"/>
            <a:ext cx="182880" cy="210312"/>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3</a:t>
            </a:r>
            <a:endParaRPr lang="en-US" sz="1700" dirty="0"/>
          </a:p>
        </p:txBody>
      </p:sp>
      <p:sp>
        <p:nvSpPr>
          <p:cNvPr id="25" name="Text 23"/>
          <p:cNvSpPr/>
          <p:nvPr/>
        </p:nvSpPr>
        <p:spPr>
          <a:xfrm>
            <a:off x="4480560" y="3666744"/>
            <a:ext cx="2286000" cy="292608"/>
          </a:xfrm>
          <a:prstGeom prst="rect">
            <a:avLst/>
          </a:prstGeom>
          <a:noFill/>
          <a:ln/>
        </p:spPr>
        <p:txBody>
          <a:bodyPr wrap="square" lIns="0" tIns="0" rIns="0" bIns="0" rtlCol="0" anchor="ctr"/>
          <a:lstStyle/>
          <a:p>
            <a:pPr indent="0" marL="0">
              <a:buNone/>
            </a:pPr>
            <a:r>
              <a:rPr lang="en-US" sz="1800" b="1" dirty="0">
                <a:solidFill>
                  <a:srgbClr val="2E8B78"/>
                </a:solidFill>
                <a:latin typeface="Noto Sans ExtraCondensed" pitchFamily="34" charset="0"/>
                <a:ea typeface="Noto Sans ExtraCondensed" pitchFamily="34" charset="-122"/>
                <a:cs typeface="Noto Sans ExtraCondensed" pitchFamily="34" charset="-120"/>
              </a:rPr>
              <a:t>FIT AND ACCOMMODATION</a:t>
            </a:r>
            <a:endParaRPr lang="en-US" sz="1800" dirty="0"/>
          </a:p>
        </p:txBody>
      </p:sp>
      <p:sp>
        <p:nvSpPr>
          <p:cNvPr id="26" name="Text 24"/>
          <p:cNvSpPr/>
          <p:nvPr/>
        </p:nvSpPr>
        <p:spPr>
          <a:xfrm>
            <a:off x="3913632" y="4251960"/>
            <a:ext cx="2926080" cy="566928"/>
          </a:xfrm>
          <a:prstGeom prst="rect">
            <a:avLst/>
          </a:prstGeom>
          <a:noFill/>
          <a:ln/>
        </p:spPr>
        <p:txBody>
          <a:bodyPr wrap="square" lIns="0" tIns="0" rIns="0" bIns="0" rtlCol="0" anchor="ctr"/>
          <a:lstStyle/>
          <a:p>
            <a:pPr algn="ct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What PPE, communication and work-design adjustments are required?</a:t>
            </a:r>
            <a:endParaRPr lang="en-US" sz="1450" dirty="0"/>
          </a:p>
        </p:txBody>
      </p:sp>
      <p:sp>
        <p:nvSpPr>
          <p:cNvPr id="27" name="Shape 25"/>
          <p:cNvSpPr/>
          <p:nvPr/>
        </p:nvSpPr>
        <p:spPr>
          <a:xfrm>
            <a:off x="7543800" y="3502152"/>
            <a:ext cx="3429000" cy="1600200"/>
          </a:xfrm>
          <a:prstGeom prst="roundRect">
            <a:avLst/>
          </a:prstGeom>
          <a:solidFill>
            <a:srgbClr val="FFFFFF"/>
          </a:solidFill>
          <a:ln w="25400">
            <a:solidFill>
              <a:srgbClr val="6B5AA6"/>
            </a:solidFill>
            <a:prstDash val="solid"/>
          </a:ln>
        </p:spPr>
      </p:sp>
      <p:sp>
        <p:nvSpPr>
          <p:cNvPr id="28" name="Shape 26"/>
          <p:cNvSpPr/>
          <p:nvPr/>
        </p:nvSpPr>
        <p:spPr>
          <a:xfrm>
            <a:off x="7708392" y="3666744"/>
            <a:ext cx="502920" cy="502920"/>
          </a:xfrm>
          <a:prstGeom prst="ellipse">
            <a:avLst/>
          </a:prstGeom>
          <a:solidFill>
            <a:srgbClr val="6B5AA6"/>
          </a:solidFill>
          <a:ln w="12700">
            <a:solidFill>
              <a:srgbClr val="6B5AA6"/>
            </a:solidFill>
            <a:prstDash val="solid"/>
          </a:ln>
        </p:spPr>
      </p:sp>
      <p:sp>
        <p:nvSpPr>
          <p:cNvPr id="29" name="Text 27"/>
          <p:cNvSpPr/>
          <p:nvPr/>
        </p:nvSpPr>
        <p:spPr>
          <a:xfrm>
            <a:off x="7863840" y="3776472"/>
            <a:ext cx="182880" cy="210312"/>
          </a:xfrm>
          <a:prstGeom prst="rect">
            <a:avLst/>
          </a:prstGeom>
          <a:noFill/>
          <a:ln/>
        </p:spPr>
        <p:txBody>
          <a:bodyPr wrap="square" lIns="0" tIns="0" rIns="0" bIns="0" rtlCol="0" anchor="ctr"/>
          <a:lstStyle/>
          <a:p>
            <a:pPr algn="ct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4</a:t>
            </a:r>
            <a:endParaRPr lang="en-US" sz="1700" dirty="0"/>
          </a:p>
        </p:txBody>
      </p:sp>
      <p:sp>
        <p:nvSpPr>
          <p:cNvPr id="30" name="Text 28"/>
          <p:cNvSpPr/>
          <p:nvPr/>
        </p:nvSpPr>
        <p:spPr>
          <a:xfrm>
            <a:off x="8366760" y="3666744"/>
            <a:ext cx="2286000" cy="292608"/>
          </a:xfrm>
          <a:prstGeom prst="rect">
            <a:avLst/>
          </a:prstGeom>
          <a:noFill/>
          <a:ln/>
        </p:spPr>
        <p:txBody>
          <a:bodyPr wrap="square" lIns="0" tIns="0" rIns="0" bIns="0" rtlCol="0" anchor="ctr"/>
          <a:lstStyle/>
          <a:p>
            <a:pPr indent="0" marL="0">
              <a:buNone/>
            </a:pPr>
            <a:r>
              <a:rPr lang="en-US" sz="1800" b="1" dirty="0">
                <a:solidFill>
                  <a:srgbClr val="6B5AA6"/>
                </a:solidFill>
                <a:latin typeface="Noto Sans ExtraCondensed" pitchFamily="34" charset="0"/>
                <a:ea typeface="Noto Sans ExtraCondensed" pitchFamily="34" charset="-122"/>
                <a:cs typeface="Noto Sans ExtraCondensed" pitchFamily="34" charset="-120"/>
              </a:rPr>
              <a:t>PSYCHOSOCIAL AND LEARNING</a:t>
            </a:r>
            <a:endParaRPr lang="en-US" sz="1800" dirty="0"/>
          </a:p>
        </p:txBody>
      </p:sp>
      <p:sp>
        <p:nvSpPr>
          <p:cNvPr id="31" name="Text 29"/>
          <p:cNvSpPr/>
          <p:nvPr/>
        </p:nvSpPr>
        <p:spPr>
          <a:xfrm>
            <a:off x="7799832" y="4251960"/>
            <a:ext cx="2926080" cy="566928"/>
          </a:xfrm>
          <a:prstGeom prst="rect">
            <a:avLst/>
          </a:prstGeom>
          <a:noFill/>
          <a:ln/>
        </p:spPr>
        <p:txBody>
          <a:bodyPr wrap="square" lIns="0" tIns="0" rIns="0" bIns="0" rtlCol="0" anchor="ctr"/>
          <a:lstStyle/>
          <a:p>
            <a:pPr algn="ct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How will you manage fatigue, pressure, support and the post-job review?</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CASE EXERCISE</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Debrief: what good looks like</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26</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713232" y="1234440"/>
            <a:ext cx="1097280" cy="713232"/>
          </a:xfrm>
          <a:prstGeom prst="roundRect">
            <a:avLst/>
          </a:prstGeom>
          <a:solidFill>
            <a:srgbClr val="C95B61"/>
          </a:solidFill>
          <a:ln w="12700">
            <a:solidFill>
              <a:srgbClr val="C95B61"/>
            </a:solidFill>
            <a:prstDash val="solid"/>
          </a:ln>
        </p:spPr>
      </p:sp>
      <p:sp>
        <p:nvSpPr>
          <p:cNvPr id="9" name="Text 7"/>
          <p:cNvSpPr/>
          <p:nvPr/>
        </p:nvSpPr>
        <p:spPr>
          <a:xfrm>
            <a:off x="1024128" y="1380744"/>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ExtraCondensed" pitchFamily="34" charset="0"/>
                <a:ea typeface="Noto Sans ExtraCondensed" pitchFamily="34" charset="-122"/>
                <a:cs typeface="Noto Sans ExtraCondensed" pitchFamily="34" charset="-120"/>
              </a:rPr>
              <a:t>1</a:t>
            </a:r>
            <a:endParaRPr lang="en-US" sz="2600" dirty="0"/>
          </a:p>
        </p:txBody>
      </p:sp>
      <p:sp>
        <p:nvSpPr>
          <p:cNvPr id="10" name="Text 8"/>
          <p:cNvSpPr/>
          <p:nvPr/>
        </p:nvSpPr>
        <p:spPr>
          <a:xfrm>
            <a:off x="2148840" y="1307592"/>
            <a:ext cx="2880360" cy="292608"/>
          </a:xfrm>
          <a:prstGeom prst="rect">
            <a:avLst/>
          </a:prstGeom>
          <a:noFill/>
          <a:ln/>
        </p:spPr>
        <p:txBody>
          <a:bodyPr wrap="square" lIns="0" tIns="0" rIns="0" bIns="0" rtlCol="0" anchor="ctr"/>
          <a:lstStyle/>
          <a:p>
            <a:pPr indent="0" marL="0">
              <a:buNone/>
            </a:pPr>
            <a:r>
              <a:rPr lang="en-US" sz="2000" b="1" dirty="0">
                <a:solidFill>
                  <a:srgbClr val="C95B61"/>
                </a:solidFill>
                <a:latin typeface="Noto Sans ExtraCondensed" pitchFamily="34" charset="0"/>
                <a:ea typeface="Noto Sans ExtraCondensed" pitchFamily="34" charset="-122"/>
                <a:cs typeface="Noto Sans ExtraCondensed" pitchFamily="34" charset="-120"/>
              </a:rPr>
              <a:t>PAUSE AND VERIFY</a:t>
            </a:r>
            <a:endParaRPr lang="en-US" sz="2000" dirty="0"/>
          </a:p>
        </p:txBody>
      </p:sp>
      <p:sp>
        <p:nvSpPr>
          <p:cNvPr id="11" name="Text 9"/>
          <p:cNvSpPr/>
          <p:nvPr/>
        </p:nvSpPr>
        <p:spPr>
          <a:xfrm>
            <a:off x="4846320" y="1280160"/>
            <a:ext cx="6263640" cy="457200"/>
          </a:xfrm>
          <a:prstGeom prst="rect">
            <a:avLst/>
          </a:prstGeom>
          <a:noFill/>
          <a:ln/>
        </p:spPr>
        <p:txBody>
          <a:bodyPr wrap="square" lIns="0" tIns="0" rIns="0" bIns="0" rtlCol="0" anchor="ctr"/>
          <a:lstStyle/>
          <a:p>
            <a:pPr indent="0" marL="0">
              <a:buNone/>
            </a:pPr>
            <a:r>
              <a:rPr lang="en-US" sz="1570" dirty="0">
                <a:solidFill>
                  <a:srgbClr val="2B2A29"/>
                </a:solidFill>
                <a:latin typeface="Noto Sans SemiCondensed" pitchFamily="34" charset="0"/>
                <a:ea typeface="Noto Sans SemiCondensed" pitchFamily="34" charset="-122"/>
                <a:cs typeface="Noto Sans SemiCondensed" pitchFamily="34" charset="-120"/>
              </a:rPr>
              <a:t>Confirm clearance, isolation, structural stability, weather, communication and rescue arrangements.</a:t>
            </a:r>
            <a:endParaRPr lang="en-US" sz="1570" dirty="0"/>
          </a:p>
        </p:txBody>
      </p:sp>
      <p:sp>
        <p:nvSpPr>
          <p:cNvPr id="12" name="Shape 10"/>
          <p:cNvSpPr/>
          <p:nvPr/>
        </p:nvSpPr>
        <p:spPr>
          <a:xfrm>
            <a:off x="1261872" y="1984248"/>
            <a:ext cx="0" cy="182880"/>
          </a:xfrm>
          <a:prstGeom prst="line">
            <a:avLst/>
          </a:prstGeom>
          <a:noFill/>
          <a:ln w="17780">
            <a:solidFill>
              <a:srgbClr val="A4ABD4"/>
            </a:solidFill>
            <a:prstDash val="solid"/>
            <a:tailEnd type="triangle"/>
          </a:ln>
        </p:spPr>
      </p:sp>
      <p:sp>
        <p:nvSpPr>
          <p:cNvPr id="13" name="Shape 11"/>
          <p:cNvSpPr/>
          <p:nvPr/>
        </p:nvSpPr>
        <p:spPr>
          <a:xfrm>
            <a:off x="713232" y="2194560"/>
            <a:ext cx="1097280" cy="713232"/>
          </a:xfrm>
          <a:prstGeom prst="roundRect">
            <a:avLst/>
          </a:prstGeom>
          <a:solidFill>
            <a:srgbClr val="E7A33E"/>
          </a:solidFill>
          <a:ln w="12700">
            <a:solidFill>
              <a:srgbClr val="E7A33E"/>
            </a:solidFill>
            <a:prstDash val="solid"/>
          </a:ln>
        </p:spPr>
      </p:sp>
      <p:sp>
        <p:nvSpPr>
          <p:cNvPr id="14" name="Text 12"/>
          <p:cNvSpPr/>
          <p:nvPr/>
        </p:nvSpPr>
        <p:spPr>
          <a:xfrm>
            <a:off x="1024128" y="2340864"/>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ExtraCondensed" pitchFamily="34" charset="0"/>
                <a:ea typeface="Noto Sans ExtraCondensed" pitchFamily="34" charset="-122"/>
                <a:cs typeface="Noto Sans ExtraCondensed" pitchFamily="34" charset="-120"/>
              </a:rPr>
              <a:t>2</a:t>
            </a:r>
            <a:endParaRPr lang="en-US" sz="2600" dirty="0"/>
          </a:p>
        </p:txBody>
      </p:sp>
      <p:sp>
        <p:nvSpPr>
          <p:cNvPr id="15" name="Text 13"/>
          <p:cNvSpPr/>
          <p:nvPr/>
        </p:nvSpPr>
        <p:spPr>
          <a:xfrm>
            <a:off x="2148840" y="2267712"/>
            <a:ext cx="2880360" cy="292608"/>
          </a:xfrm>
          <a:prstGeom prst="rect">
            <a:avLst/>
          </a:prstGeom>
          <a:noFill/>
          <a:ln/>
        </p:spPr>
        <p:txBody>
          <a:bodyPr wrap="square" lIns="0" tIns="0" rIns="0" bIns="0" rtlCol="0" anchor="ctr"/>
          <a:lstStyle/>
          <a:p>
            <a:pPr indent="0" marL="0">
              <a:buNone/>
            </a:pPr>
            <a:r>
              <a:rPr lang="en-US" sz="2000" b="1" dirty="0">
                <a:solidFill>
                  <a:srgbClr val="E7A33E"/>
                </a:solidFill>
                <a:latin typeface="Noto Sans ExtraCondensed" pitchFamily="34" charset="0"/>
                <a:ea typeface="Noto Sans ExtraCondensed" pitchFamily="34" charset="-122"/>
                <a:cs typeface="Noto Sans ExtraCondensed" pitchFamily="34" charset="-120"/>
              </a:rPr>
              <a:t>RE-PLAN THE TASK</a:t>
            </a:r>
            <a:endParaRPr lang="en-US" sz="2000" dirty="0"/>
          </a:p>
        </p:txBody>
      </p:sp>
      <p:sp>
        <p:nvSpPr>
          <p:cNvPr id="16" name="Text 14"/>
          <p:cNvSpPr/>
          <p:nvPr/>
        </p:nvSpPr>
        <p:spPr>
          <a:xfrm>
            <a:off x="4846320" y="2240280"/>
            <a:ext cx="6263640" cy="457200"/>
          </a:xfrm>
          <a:prstGeom prst="rect">
            <a:avLst/>
          </a:prstGeom>
          <a:noFill/>
          <a:ln/>
        </p:spPr>
        <p:txBody>
          <a:bodyPr wrap="square" lIns="0" tIns="0" rIns="0" bIns="0" rtlCol="0" anchor="ctr"/>
          <a:lstStyle/>
          <a:p>
            <a:pPr indent="0" marL="0">
              <a:buNone/>
            </a:pPr>
            <a:r>
              <a:rPr lang="en-US" sz="1570" dirty="0">
                <a:solidFill>
                  <a:srgbClr val="2B2A29"/>
                </a:solidFill>
                <a:latin typeface="Noto Sans SemiCondensed" pitchFamily="34" charset="0"/>
                <a:ea typeface="Noto Sans SemiCondensed" pitchFamily="34" charset="-122"/>
                <a:cs typeface="Noto Sans SemiCondensed" pitchFamily="34" charset="-120"/>
              </a:rPr>
              <a:t>Set a realistic restoration sequence, adequate staffing and explicit stop-work authority.</a:t>
            </a:r>
            <a:endParaRPr lang="en-US" sz="1570" dirty="0"/>
          </a:p>
        </p:txBody>
      </p:sp>
      <p:sp>
        <p:nvSpPr>
          <p:cNvPr id="17" name="Shape 15"/>
          <p:cNvSpPr/>
          <p:nvPr/>
        </p:nvSpPr>
        <p:spPr>
          <a:xfrm>
            <a:off x="1261872" y="2944368"/>
            <a:ext cx="0" cy="182880"/>
          </a:xfrm>
          <a:prstGeom prst="line">
            <a:avLst/>
          </a:prstGeom>
          <a:noFill/>
          <a:ln w="17780">
            <a:solidFill>
              <a:srgbClr val="A4ABD4"/>
            </a:solidFill>
            <a:prstDash val="solid"/>
            <a:tailEnd type="triangle"/>
          </a:ln>
        </p:spPr>
      </p:sp>
      <p:sp>
        <p:nvSpPr>
          <p:cNvPr id="18" name="Shape 16"/>
          <p:cNvSpPr/>
          <p:nvPr/>
        </p:nvSpPr>
        <p:spPr>
          <a:xfrm>
            <a:off x="713232" y="3154680"/>
            <a:ext cx="1097280" cy="713232"/>
          </a:xfrm>
          <a:prstGeom prst="roundRect">
            <a:avLst/>
          </a:prstGeom>
          <a:solidFill>
            <a:srgbClr val="00A3E0"/>
          </a:solidFill>
          <a:ln w="12700">
            <a:solidFill>
              <a:srgbClr val="00A3E0"/>
            </a:solidFill>
            <a:prstDash val="solid"/>
          </a:ln>
        </p:spPr>
      </p:sp>
      <p:sp>
        <p:nvSpPr>
          <p:cNvPr id="19" name="Text 17"/>
          <p:cNvSpPr/>
          <p:nvPr/>
        </p:nvSpPr>
        <p:spPr>
          <a:xfrm>
            <a:off x="1024128" y="3300984"/>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ExtraCondensed" pitchFamily="34" charset="0"/>
                <a:ea typeface="Noto Sans ExtraCondensed" pitchFamily="34" charset="-122"/>
                <a:cs typeface="Noto Sans ExtraCondensed" pitchFamily="34" charset="-120"/>
              </a:rPr>
              <a:t>3</a:t>
            </a:r>
            <a:endParaRPr lang="en-US" sz="2600" dirty="0"/>
          </a:p>
        </p:txBody>
      </p:sp>
      <p:sp>
        <p:nvSpPr>
          <p:cNvPr id="20" name="Text 18"/>
          <p:cNvSpPr/>
          <p:nvPr/>
        </p:nvSpPr>
        <p:spPr>
          <a:xfrm>
            <a:off x="2148840" y="3227832"/>
            <a:ext cx="2880360" cy="292608"/>
          </a:xfrm>
          <a:prstGeom prst="rect">
            <a:avLst/>
          </a:prstGeom>
          <a:noFill/>
          <a:ln/>
        </p:spPr>
        <p:txBody>
          <a:bodyPr wrap="square" lIns="0" tIns="0" rIns="0" bIns="0" rtlCol="0" anchor="ctr"/>
          <a:lstStyle/>
          <a:p>
            <a:pPr indent="0" marL="0">
              <a:buNone/>
            </a:pPr>
            <a:r>
              <a:rPr lang="en-US" sz="2000" b="1" dirty="0">
                <a:solidFill>
                  <a:srgbClr val="00A3E0"/>
                </a:solidFill>
                <a:latin typeface="Noto Sans ExtraCondensed" pitchFamily="34" charset="0"/>
                <a:ea typeface="Noto Sans ExtraCondensed" pitchFamily="34" charset="-122"/>
                <a:cs typeface="Noto Sans ExtraCondensed" pitchFamily="34" charset="-120"/>
              </a:rPr>
              <a:t>MATCH COMPETENCE AND FIT</a:t>
            </a:r>
            <a:endParaRPr lang="en-US" sz="2000" dirty="0"/>
          </a:p>
        </p:txBody>
      </p:sp>
      <p:sp>
        <p:nvSpPr>
          <p:cNvPr id="21" name="Text 19"/>
          <p:cNvSpPr/>
          <p:nvPr/>
        </p:nvSpPr>
        <p:spPr>
          <a:xfrm>
            <a:off x="4846320" y="3200400"/>
            <a:ext cx="6263640" cy="457200"/>
          </a:xfrm>
          <a:prstGeom prst="rect">
            <a:avLst/>
          </a:prstGeom>
          <a:noFill/>
          <a:ln/>
        </p:spPr>
        <p:txBody>
          <a:bodyPr wrap="square" lIns="0" tIns="0" rIns="0" bIns="0" rtlCol="0" anchor="ctr"/>
          <a:lstStyle/>
          <a:p>
            <a:pPr indent="0" marL="0">
              <a:buNone/>
            </a:pPr>
            <a:r>
              <a:rPr lang="en-US" sz="1570" dirty="0">
                <a:solidFill>
                  <a:srgbClr val="2B2A29"/>
                </a:solidFill>
                <a:latin typeface="Noto Sans SemiCondensed" pitchFamily="34" charset="0"/>
                <a:ea typeface="Noto Sans SemiCondensed" pitchFamily="34" charset="-122"/>
                <a:cs typeface="Noto Sans SemiCondensed" pitchFamily="34" charset="-120"/>
              </a:rPr>
              <a:t>Allocate by verified competence; provide correct harness sizes and communication accommodation.</a:t>
            </a:r>
            <a:endParaRPr lang="en-US" sz="1570" dirty="0"/>
          </a:p>
        </p:txBody>
      </p:sp>
      <p:sp>
        <p:nvSpPr>
          <p:cNvPr id="22" name="Shape 20"/>
          <p:cNvSpPr/>
          <p:nvPr/>
        </p:nvSpPr>
        <p:spPr>
          <a:xfrm>
            <a:off x="1261872" y="3904488"/>
            <a:ext cx="0" cy="182880"/>
          </a:xfrm>
          <a:prstGeom prst="line">
            <a:avLst/>
          </a:prstGeom>
          <a:noFill/>
          <a:ln w="17780">
            <a:solidFill>
              <a:srgbClr val="A4ABD4"/>
            </a:solidFill>
            <a:prstDash val="solid"/>
            <a:tailEnd type="triangle"/>
          </a:ln>
        </p:spPr>
      </p:sp>
      <p:sp>
        <p:nvSpPr>
          <p:cNvPr id="23" name="Shape 21"/>
          <p:cNvSpPr/>
          <p:nvPr/>
        </p:nvSpPr>
        <p:spPr>
          <a:xfrm>
            <a:off x="713232" y="4114800"/>
            <a:ext cx="1097280" cy="713232"/>
          </a:xfrm>
          <a:prstGeom prst="roundRect">
            <a:avLst/>
          </a:prstGeom>
          <a:solidFill>
            <a:srgbClr val="2E8B78"/>
          </a:solidFill>
          <a:ln w="12700">
            <a:solidFill>
              <a:srgbClr val="2E8B78"/>
            </a:solidFill>
            <a:prstDash val="solid"/>
          </a:ln>
        </p:spPr>
      </p:sp>
      <p:sp>
        <p:nvSpPr>
          <p:cNvPr id="24" name="Text 22"/>
          <p:cNvSpPr/>
          <p:nvPr/>
        </p:nvSpPr>
        <p:spPr>
          <a:xfrm>
            <a:off x="1024128" y="4261104"/>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ExtraCondensed" pitchFamily="34" charset="0"/>
                <a:ea typeface="Noto Sans ExtraCondensed" pitchFamily="34" charset="-122"/>
                <a:cs typeface="Noto Sans ExtraCondensed" pitchFamily="34" charset="-120"/>
              </a:rPr>
              <a:t>4</a:t>
            </a:r>
            <a:endParaRPr lang="en-US" sz="2600" dirty="0"/>
          </a:p>
        </p:txBody>
      </p:sp>
      <p:sp>
        <p:nvSpPr>
          <p:cNvPr id="25" name="Text 23"/>
          <p:cNvSpPr/>
          <p:nvPr/>
        </p:nvSpPr>
        <p:spPr>
          <a:xfrm>
            <a:off x="2148840" y="4187952"/>
            <a:ext cx="2880360" cy="292608"/>
          </a:xfrm>
          <a:prstGeom prst="rect">
            <a:avLst/>
          </a:prstGeom>
          <a:noFill/>
          <a:ln/>
        </p:spPr>
        <p:txBody>
          <a:bodyPr wrap="square" lIns="0" tIns="0" rIns="0" bIns="0" rtlCol="0" anchor="ctr"/>
          <a:lstStyle/>
          <a:p>
            <a:pPr indent="0" marL="0">
              <a:buNone/>
            </a:pPr>
            <a:r>
              <a:rPr lang="en-US" sz="2000" b="1" dirty="0">
                <a:solidFill>
                  <a:srgbClr val="2E8B78"/>
                </a:solidFill>
                <a:latin typeface="Noto Sans ExtraCondensed" pitchFamily="34" charset="0"/>
                <a:ea typeface="Noto Sans ExtraCondensed" pitchFamily="34" charset="-122"/>
                <a:cs typeface="Noto Sans ExtraCondensed" pitchFamily="34" charset="-120"/>
              </a:rPr>
              <a:t>CONTROL FATIGUE AND PRESSURE</a:t>
            </a:r>
            <a:endParaRPr lang="en-US" sz="2000" dirty="0"/>
          </a:p>
        </p:txBody>
      </p:sp>
      <p:sp>
        <p:nvSpPr>
          <p:cNvPr id="26" name="Text 24"/>
          <p:cNvSpPr/>
          <p:nvPr/>
        </p:nvSpPr>
        <p:spPr>
          <a:xfrm>
            <a:off x="4846320" y="4160520"/>
            <a:ext cx="6263640" cy="457200"/>
          </a:xfrm>
          <a:prstGeom prst="rect">
            <a:avLst/>
          </a:prstGeom>
          <a:noFill/>
          <a:ln/>
        </p:spPr>
        <p:txBody>
          <a:bodyPr wrap="square" lIns="0" tIns="0" rIns="0" bIns="0" rtlCol="0" anchor="ctr"/>
          <a:lstStyle/>
          <a:p>
            <a:pPr indent="0" marL="0">
              <a:buNone/>
            </a:pPr>
            <a:r>
              <a:rPr lang="en-US" sz="1570" dirty="0">
                <a:solidFill>
                  <a:srgbClr val="2B2A29"/>
                </a:solidFill>
                <a:latin typeface="Noto Sans SemiCondensed" pitchFamily="34" charset="0"/>
                <a:ea typeface="Noto Sans SemiCondensed" pitchFamily="34" charset="-122"/>
                <a:cs typeface="Noto Sans SemiCondensed" pitchFamily="34" charset="-120"/>
              </a:rPr>
              <a:t>Rotate, rest or replace fatigued workers; communicate priorities without unsafe deadlines.</a:t>
            </a:r>
            <a:endParaRPr lang="en-US" sz="1570" dirty="0"/>
          </a:p>
        </p:txBody>
      </p:sp>
      <p:sp>
        <p:nvSpPr>
          <p:cNvPr id="27" name="Shape 25"/>
          <p:cNvSpPr/>
          <p:nvPr/>
        </p:nvSpPr>
        <p:spPr>
          <a:xfrm>
            <a:off x="1261872" y="4864608"/>
            <a:ext cx="0" cy="182880"/>
          </a:xfrm>
          <a:prstGeom prst="line">
            <a:avLst/>
          </a:prstGeom>
          <a:noFill/>
          <a:ln w="17780">
            <a:solidFill>
              <a:srgbClr val="A4ABD4"/>
            </a:solidFill>
            <a:prstDash val="solid"/>
            <a:tailEnd type="triangle"/>
          </a:ln>
        </p:spPr>
      </p:sp>
      <p:sp>
        <p:nvSpPr>
          <p:cNvPr id="28" name="Shape 26"/>
          <p:cNvSpPr/>
          <p:nvPr/>
        </p:nvSpPr>
        <p:spPr>
          <a:xfrm>
            <a:off x="713232" y="5074920"/>
            <a:ext cx="1097280" cy="713232"/>
          </a:xfrm>
          <a:prstGeom prst="roundRect">
            <a:avLst/>
          </a:prstGeom>
          <a:solidFill>
            <a:srgbClr val="6B5AA6"/>
          </a:solidFill>
          <a:ln w="12700">
            <a:solidFill>
              <a:srgbClr val="6B5AA6"/>
            </a:solidFill>
            <a:prstDash val="solid"/>
          </a:ln>
        </p:spPr>
      </p:sp>
      <p:sp>
        <p:nvSpPr>
          <p:cNvPr id="29" name="Text 27"/>
          <p:cNvSpPr/>
          <p:nvPr/>
        </p:nvSpPr>
        <p:spPr>
          <a:xfrm>
            <a:off x="1024128" y="5221224"/>
            <a:ext cx="457200" cy="32004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ExtraCondensed" pitchFamily="34" charset="0"/>
                <a:ea typeface="Noto Sans ExtraCondensed" pitchFamily="34" charset="-122"/>
                <a:cs typeface="Noto Sans ExtraCondensed" pitchFamily="34" charset="-120"/>
              </a:rPr>
              <a:t>5</a:t>
            </a:r>
            <a:endParaRPr lang="en-US" sz="2600" dirty="0"/>
          </a:p>
        </p:txBody>
      </p:sp>
      <p:sp>
        <p:nvSpPr>
          <p:cNvPr id="30" name="Text 28"/>
          <p:cNvSpPr/>
          <p:nvPr/>
        </p:nvSpPr>
        <p:spPr>
          <a:xfrm>
            <a:off x="2148840" y="5148072"/>
            <a:ext cx="2880360" cy="292608"/>
          </a:xfrm>
          <a:prstGeom prst="rect">
            <a:avLst/>
          </a:prstGeom>
          <a:noFill/>
          <a:ln/>
        </p:spPr>
        <p:txBody>
          <a:bodyPr wrap="square" lIns="0" tIns="0" rIns="0" bIns="0" rtlCol="0" anchor="ctr"/>
          <a:lstStyle/>
          <a:p>
            <a:pPr indent="0" marL="0">
              <a:buNone/>
            </a:pPr>
            <a:r>
              <a:rPr lang="en-US" sz="2000" b="1" dirty="0">
                <a:solidFill>
                  <a:srgbClr val="6B5AA6"/>
                </a:solidFill>
                <a:latin typeface="Noto Sans ExtraCondensed" pitchFamily="34" charset="0"/>
                <a:ea typeface="Noto Sans ExtraCondensed" pitchFamily="34" charset="-122"/>
                <a:cs typeface="Noto Sans ExtraCondensed" pitchFamily="34" charset="-120"/>
              </a:rPr>
              <a:t>SUPPORT AND LEARN</a:t>
            </a:r>
            <a:endParaRPr lang="en-US" sz="2000" dirty="0"/>
          </a:p>
        </p:txBody>
      </p:sp>
      <p:sp>
        <p:nvSpPr>
          <p:cNvPr id="31" name="Text 29"/>
          <p:cNvSpPr/>
          <p:nvPr/>
        </p:nvSpPr>
        <p:spPr>
          <a:xfrm>
            <a:off x="4846320" y="5120640"/>
            <a:ext cx="6263640" cy="457200"/>
          </a:xfrm>
          <a:prstGeom prst="rect">
            <a:avLst/>
          </a:prstGeom>
          <a:noFill/>
          <a:ln/>
        </p:spPr>
        <p:txBody>
          <a:bodyPr wrap="square" lIns="0" tIns="0" rIns="0" bIns="0" rtlCol="0" anchor="ctr"/>
          <a:lstStyle/>
          <a:p>
            <a:pPr indent="0" marL="0">
              <a:buNone/>
            </a:pPr>
            <a:r>
              <a:rPr lang="en-US" sz="1570" dirty="0">
                <a:solidFill>
                  <a:srgbClr val="2B2A29"/>
                </a:solidFill>
                <a:latin typeface="Noto Sans SemiCondensed" pitchFamily="34" charset="0"/>
                <a:ea typeface="Noto Sans SemiCondensed" pitchFamily="34" charset="-122"/>
                <a:cs typeface="Noto Sans SemiCondensed" pitchFamily="34" charset="-120"/>
              </a:rPr>
              <a:t>Brief, check in, debrief after work, record near misses and improve protocols and procurement.</a:t>
            </a:r>
            <a:endParaRPr lang="en-US" sz="1570" dirty="0"/>
          </a:p>
        </p:txBody>
      </p:sp>
      <p:sp>
        <p:nvSpPr>
          <p:cNvPr id="32" name="Shape 30"/>
          <p:cNvSpPr/>
          <p:nvPr/>
        </p:nvSpPr>
        <p:spPr>
          <a:xfrm>
            <a:off x="1143000" y="6126480"/>
            <a:ext cx="9875520" cy="338328"/>
          </a:xfrm>
          <a:prstGeom prst="roundRect">
            <a:avLst/>
          </a:prstGeom>
          <a:solidFill>
            <a:srgbClr val="D1D5EB"/>
          </a:solidFill>
          <a:ln w="12700">
            <a:solidFill>
              <a:srgbClr val="D1D5EB"/>
            </a:solidFill>
            <a:prstDash val="solid"/>
          </a:ln>
        </p:spPr>
      </p:sp>
      <p:sp>
        <p:nvSpPr>
          <p:cNvPr id="33" name="Text 31"/>
          <p:cNvSpPr/>
          <p:nvPr/>
        </p:nvSpPr>
        <p:spPr>
          <a:xfrm>
            <a:off x="1371600" y="6181344"/>
            <a:ext cx="9418320" cy="210312"/>
          </a:xfrm>
          <a:prstGeom prst="rect">
            <a:avLst/>
          </a:prstGeom>
          <a:noFill/>
          <a:ln/>
        </p:spPr>
        <p:txBody>
          <a:bodyPr wrap="square" lIns="0" tIns="0" rIns="0" bIns="0" rtlCol="0" anchor="ctr"/>
          <a:lstStyle/>
          <a:p>
            <a:pPr algn="ctr" indent="0" marL="0">
              <a:buNone/>
            </a:pPr>
            <a:r>
              <a:rPr lang="en-US" sz="1650" b="1" dirty="0">
                <a:solidFill>
                  <a:srgbClr val="284B96"/>
                </a:solidFill>
                <a:latin typeface="Noto Sans SemiCondensed" pitchFamily="34" charset="0"/>
                <a:ea typeface="Noto Sans SemiCondensed" pitchFamily="34" charset="-122"/>
                <a:cs typeface="Noto Sans SemiCondensed" pitchFamily="34" charset="-120"/>
              </a:rPr>
              <a:t>The fastest safe restoration is the one that prevents a second emergency.</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IMPLEMENTATION</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From diagnosis to action: the enterprise cycle</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27</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4754880" y="1234440"/>
            <a:ext cx="2743200" cy="1143000"/>
          </a:xfrm>
          <a:prstGeom prst="ellipse">
            <a:avLst/>
          </a:prstGeom>
          <a:solidFill>
            <a:srgbClr val="FFFFFF"/>
          </a:solidFill>
          <a:ln w="27940">
            <a:solidFill>
              <a:srgbClr val="C95B61"/>
            </a:solidFill>
            <a:prstDash val="solid"/>
          </a:ln>
        </p:spPr>
      </p:sp>
      <p:sp>
        <p:nvSpPr>
          <p:cNvPr id="9" name="Text 7"/>
          <p:cNvSpPr/>
          <p:nvPr/>
        </p:nvSpPr>
        <p:spPr>
          <a:xfrm>
            <a:off x="4956048" y="1399032"/>
            <a:ext cx="411480" cy="274320"/>
          </a:xfrm>
          <a:prstGeom prst="rect">
            <a:avLst/>
          </a:prstGeom>
          <a:noFill/>
          <a:ln/>
        </p:spPr>
        <p:txBody>
          <a:bodyPr wrap="square" lIns="0" tIns="0" rIns="0" bIns="0" rtlCol="0" anchor="ctr"/>
          <a:lstStyle/>
          <a:p>
            <a:pPr algn="ctr" indent="0" marL="0">
              <a:buNone/>
            </a:pPr>
            <a:r>
              <a:rPr lang="en-US" sz="2200" b="1" dirty="0">
                <a:solidFill>
                  <a:srgbClr val="C95B61"/>
                </a:solidFill>
                <a:latin typeface="Noto Sans ExtraCondensed" pitchFamily="34" charset="0"/>
                <a:ea typeface="Noto Sans ExtraCondensed" pitchFamily="34" charset="-122"/>
                <a:cs typeface="Noto Sans ExtraCondensed" pitchFamily="34" charset="-120"/>
              </a:rPr>
              <a:t>1</a:t>
            </a:r>
            <a:endParaRPr lang="en-US" sz="2200" dirty="0"/>
          </a:p>
        </p:txBody>
      </p:sp>
      <p:sp>
        <p:nvSpPr>
          <p:cNvPr id="10" name="Text 8"/>
          <p:cNvSpPr/>
          <p:nvPr/>
        </p:nvSpPr>
        <p:spPr>
          <a:xfrm>
            <a:off x="5376672" y="1371600"/>
            <a:ext cx="1874520" cy="292608"/>
          </a:xfrm>
          <a:prstGeom prst="rect">
            <a:avLst/>
          </a:prstGeom>
          <a:noFill/>
          <a:ln/>
        </p:spPr>
        <p:txBody>
          <a:bodyPr wrap="square" lIns="0" tIns="0" rIns="0" bIns="0" rtlCol="0" anchor="ctr"/>
          <a:lstStyle/>
          <a:p>
            <a:pPr algn="ctr" indent="0" marL="0">
              <a:buNone/>
            </a:pPr>
            <a:r>
              <a:rPr lang="en-US" sz="1800" b="1" dirty="0">
                <a:solidFill>
                  <a:srgbClr val="C95B61"/>
                </a:solidFill>
                <a:latin typeface="Noto Sans ExtraCondensed" pitchFamily="34" charset="0"/>
                <a:ea typeface="Noto Sans ExtraCondensed" pitchFamily="34" charset="-122"/>
                <a:cs typeface="Noto Sans ExtraCondensed" pitchFamily="34" charset="-120"/>
              </a:rPr>
              <a:t>DIAGNOSE</a:t>
            </a:r>
            <a:endParaRPr lang="en-US" sz="1800" dirty="0"/>
          </a:p>
        </p:txBody>
      </p:sp>
      <p:sp>
        <p:nvSpPr>
          <p:cNvPr id="11" name="Text 9"/>
          <p:cNvSpPr/>
          <p:nvPr/>
        </p:nvSpPr>
        <p:spPr>
          <a:xfrm>
            <a:off x="4983480" y="1801368"/>
            <a:ext cx="2286000" cy="384048"/>
          </a:xfrm>
          <a:prstGeom prst="rect">
            <a:avLst/>
          </a:prstGeom>
          <a:noFill/>
          <a:ln/>
        </p:spPr>
        <p:txBody>
          <a:bodyPr wrap="square" lIns="0" tIns="0" rIns="0" bIns="0" rtlCol="0" anchor="ctr"/>
          <a:lstStyle/>
          <a:p>
            <a:pPr algn="ctr" indent="0" marL="0">
              <a:buNone/>
            </a:pPr>
            <a:r>
              <a:rPr lang="en-US" sz="1280" dirty="0">
                <a:solidFill>
                  <a:srgbClr val="2B2A29"/>
                </a:solidFill>
                <a:latin typeface="Noto Sans SemiCondensed" pitchFamily="34" charset="0"/>
                <a:ea typeface="Noto Sans SemiCondensed" pitchFamily="34" charset="-122"/>
                <a:cs typeface="Noto Sans SemiCondensed" pitchFamily="34" charset="-120"/>
              </a:rPr>
              <a:t>Map tasks, people, hazards and unequal exposure.</a:t>
            </a:r>
            <a:endParaRPr lang="en-US" sz="1280" dirty="0"/>
          </a:p>
        </p:txBody>
      </p:sp>
      <p:sp>
        <p:nvSpPr>
          <p:cNvPr id="12" name="Shape 10"/>
          <p:cNvSpPr/>
          <p:nvPr/>
        </p:nvSpPr>
        <p:spPr>
          <a:xfrm>
            <a:off x="7955280" y="1965960"/>
            <a:ext cx="2743200" cy="1143000"/>
          </a:xfrm>
          <a:prstGeom prst="ellipse">
            <a:avLst/>
          </a:prstGeom>
          <a:solidFill>
            <a:srgbClr val="FFFFFF"/>
          </a:solidFill>
          <a:ln w="27940">
            <a:solidFill>
              <a:srgbClr val="00A3E0"/>
            </a:solidFill>
            <a:prstDash val="solid"/>
          </a:ln>
        </p:spPr>
      </p:sp>
      <p:sp>
        <p:nvSpPr>
          <p:cNvPr id="13" name="Text 11"/>
          <p:cNvSpPr/>
          <p:nvPr/>
        </p:nvSpPr>
        <p:spPr>
          <a:xfrm>
            <a:off x="8156448" y="2130552"/>
            <a:ext cx="411480" cy="274320"/>
          </a:xfrm>
          <a:prstGeom prst="rect">
            <a:avLst/>
          </a:prstGeom>
          <a:noFill/>
          <a:ln/>
        </p:spPr>
        <p:txBody>
          <a:bodyPr wrap="square" lIns="0" tIns="0" rIns="0" bIns="0" rtlCol="0" anchor="ctr"/>
          <a:lstStyle/>
          <a:p>
            <a:pPr algn="ctr" indent="0" marL="0">
              <a:buNone/>
            </a:pPr>
            <a:r>
              <a:rPr lang="en-US" sz="2200" b="1" dirty="0">
                <a:solidFill>
                  <a:srgbClr val="00A3E0"/>
                </a:solidFill>
                <a:latin typeface="Noto Sans ExtraCondensed" pitchFamily="34" charset="0"/>
                <a:ea typeface="Noto Sans ExtraCondensed" pitchFamily="34" charset="-122"/>
                <a:cs typeface="Noto Sans ExtraCondensed" pitchFamily="34" charset="-120"/>
              </a:rPr>
              <a:t>2</a:t>
            </a:r>
            <a:endParaRPr lang="en-US" sz="2200" dirty="0"/>
          </a:p>
        </p:txBody>
      </p:sp>
      <p:sp>
        <p:nvSpPr>
          <p:cNvPr id="14" name="Text 12"/>
          <p:cNvSpPr/>
          <p:nvPr/>
        </p:nvSpPr>
        <p:spPr>
          <a:xfrm>
            <a:off x="8577072" y="2103120"/>
            <a:ext cx="1874520" cy="292608"/>
          </a:xfrm>
          <a:prstGeom prst="rect">
            <a:avLst/>
          </a:prstGeom>
          <a:noFill/>
          <a:ln/>
        </p:spPr>
        <p:txBody>
          <a:bodyPr wrap="square" lIns="0" tIns="0" rIns="0" bIns="0" rtlCol="0" anchor="ctr"/>
          <a:lstStyle/>
          <a:p>
            <a:pPr algn="ctr" indent="0" marL="0">
              <a:buNone/>
            </a:pPr>
            <a:r>
              <a:rPr lang="en-US" sz="1800" b="1" dirty="0">
                <a:solidFill>
                  <a:srgbClr val="00A3E0"/>
                </a:solidFill>
                <a:latin typeface="Noto Sans ExtraCondensed" pitchFamily="34" charset="0"/>
                <a:ea typeface="Noto Sans ExtraCondensed" pitchFamily="34" charset="-122"/>
                <a:cs typeface="Noto Sans ExtraCondensed" pitchFamily="34" charset="-120"/>
              </a:rPr>
              <a:t>CONSULT</a:t>
            </a:r>
            <a:endParaRPr lang="en-US" sz="1800" dirty="0"/>
          </a:p>
        </p:txBody>
      </p:sp>
      <p:sp>
        <p:nvSpPr>
          <p:cNvPr id="15" name="Text 13"/>
          <p:cNvSpPr/>
          <p:nvPr/>
        </p:nvSpPr>
        <p:spPr>
          <a:xfrm>
            <a:off x="8183880" y="2532888"/>
            <a:ext cx="2286000" cy="384048"/>
          </a:xfrm>
          <a:prstGeom prst="rect">
            <a:avLst/>
          </a:prstGeom>
          <a:noFill/>
          <a:ln/>
        </p:spPr>
        <p:txBody>
          <a:bodyPr wrap="square" lIns="0" tIns="0" rIns="0" bIns="0" rtlCol="0" anchor="ctr"/>
          <a:lstStyle/>
          <a:p>
            <a:pPr algn="ctr" indent="0" marL="0">
              <a:buNone/>
            </a:pPr>
            <a:r>
              <a:rPr lang="en-US" sz="1280" dirty="0">
                <a:solidFill>
                  <a:srgbClr val="2B2A29"/>
                </a:solidFill>
                <a:latin typeface="Noto Sans SemiCondensed" pitchFamily="34" charset="0"/>
                <a:ea typeface="Noto Sans SemiCondensed" pitchFamily="34" charset="-122"/>
                <a:cs typeface="Noto Sans SemiCondensed" pitchFamily="34" charset="-120"/>
              </a:rPr>
              <a:t>Engage workers, unions, supervisors and occupational health.</a:t>
            </a:r>
            <a:endParaRPr lang="en-US" sz="1280" dirty="0"/>
          </a:p>
        </p:txBody>
      </p:sp>
      <p:sp>
        <p:nvSpPr>
          <p:cNvPr id="16" name="Shape 14"/>
          <p:cNvSpPr/>
          <p:nvPr/>
        </p:nvSpPr>
        <p:spPr>
          <a:xfrm>
            <a:off x="7955280" y="4251960"/>
            <a:ext cx="2743200" cy="1143000"/>
          </a:xfrm>
          <a:prstGeom prst="ellipse">
            <a:avLst/>
          </a:prstGeom>
          <a:solidFill>
            <a:srgbClr val="FFFFFF"/>
          </a:solidFill>
          <a:ln w="27940">
            <a:solidFill>
              <a:srgbClr val="2E8B78"/>
            </a:solidFill>
            <a:prstDash val="solid"/>
          </a:ln>
        </p:spPr>
      </p:sp>
      <p:sp>
        <p:nvSpPr>
          <p:cNvPr id="17" name="Text 15"/>
          <p:cNvSpPr/>
          <p:nvPr/>
        </p:nvSpPr>
        <p:spPr>
          <a:xfrm>
            <a:off x="8156448" y="4416552"/>
            <a:ext cx="411480" cy="274320"/>
          </a:xfrm>
          <a:prstGeom prst="rect">
            <a:avLst/>
          </a:prstGeom>
          <a:noFill/>
          <a:ln/>
        </p:spPr>
        <p:txBody>
          <a:bodyPr wrap="square" lIns="0" tIns="0" rIns="0" bIns="0" rtlCol="0" anchor="ctr"/>
          <a:lstStyle/>
          <a:p>
            <a:pPr algn="ctr" indent="0" marL="0">
              <a:buNone/>
            </a:pPr>
            <a:r>
              <a:rPr lang="en-US" sz="2200" b="1" dirty="0">
                <a:solidFill>
                  <a:srgbClr val="2E8B78"/>
                </a:solidFill>
                <a:latin typeface="Noto Sans ExtraCondensed" pitchFamily="34" charset="0"/>
                <a:ea typeface="Noto Sans ExtraCondensed" pitchFamily="34" charset="-122"/>
                <a:cs typeface="Noto Sans ExtraCondensed" pitchFamily="34" charset="-120"/>
              </a:rPr>
              <a:t>3</a:t>
            </a:r>
            <a:endParaRPr lang="en-US" sz="2200" dirty="0"/>
          </a:p>
        </p:txBody>
      </p:sp>
      <p:sp>
        <p:nvSpPr>
          <p:cNvPr id="18" name="Text 16"/>
          <p:cNvSpPr/>
          <p:nvPr/>
        </p:nvSpPr>
        <p:spPr>
          <a:xfrm>
            <a:off x="8577072" y="4389120"/>
            <a:ext cx="1874520" cy="292608"/>
          </a:xfrm>
          <a:prstGeom prst="rect">
            <a:avLst/>
          </a:prstGeom>
          <a:noFill/>
          <a:ln/>
        </p:spPr>
        <p:txBody>
          <a:bodyPr wrap="square" lIns="0" tIns="0" rIns="0" bIns="0" rtlCol="0" anchor="ctr"/>
          <a:lstStyle/>
          <a:p>
            <a:pPr algn="ctr" indent="0" marL="0">
              <a:buNone/>
            </a:pPr>
            <a:r>
              <a:rPr lang="en-US" sz="1800" b="1" dirty="0">
                <a:solidFill>
                  <a:srgbClr val="2E8B78"/>
                </a:solidFill>
                <a:latin typeface="Noto Sans ExtraCondensed" pitchFamily="34" charset="0"/>
                <a:ea typeface="Noto Sans ExtraCondensed" pitchFamily="34" charset="-122"/>
                <a:cs typeface="Noto Sans ExtraCondensed" pitchFamily="34" charset="-120"/>
              </a:rPr>
              <a:t>CONTROL</a:t>
            </a:r>
            <a:endParaRPr lang="en-US" sz="1800" dirty="0"/>
          </a:p>
        </p:txBody>
      </p:sp>
      <p:sp>
        <p:nvSpPr>
          <p:cNvPr id="19" name="Text 17"/>
          <p:cNvSpPr/>
          <p:nvPr/>
        </p:nvSpPr>
        <p:spPr>
          <a:xfrm>
            <a:off x="8183880" y="4818888"/>
            <a:ext cx="2286000" cy="384048"/>
          </a:xfrm>
          <a:prstGeom prst="rect">
            <a:avLst/>
          </a:prstGeom>
          <a:noFill/>
          <a:ln/>
        </p:spPr>
        <p:txBody>
          <a:bodyPr wrap="square" lIns="0" tIns="0" rIns="0" bIns="0" rtlCol="0" anchor="ctr"/>
          <a:lstStyle/>
          <a:p>
            <a:pPr algn="ctr" indent="0" marL="0">
              <a:buNone/>
            </a:pPr>
            <a:r>
              <a:rPr lang="en-US" sz="1280" dirty="0">
                <a:solidFill>
                  <a:srgbClr val="2B2A29"/>
                </a:solidFill>
                <a:latin typeface="Noto Sans SemiCondensed" pitchFamily="34" charset="0"/>
                <a:ea typeface="Noto Sans SemiCondensed" pitchFamily="34" charset="-122"/>
                <a:cs typeface="Noto Sans SemiCondensed" pitchFamily="34" charset="-120"/>
              </a:rPr>
              <a:t>Prioritize elimination, substitution and engineering controls.</a:t>
            </a:r>
            <a:endParaRPr lang="en-US" sz="1280" dirty="0"/>
          </a:p>
        </p:txBody>
      </p:sp>
      <p:sp>
        <p:nvSpPr>
          <p:cNvPr id="20" name="Shape 18"/>
          <p:cNvSpPr/>
          <p:nvPr/>
        </p:nvSpPr>
        <p:spPr>
          <a:xfrm>
            <a:off x="4754880" y="4983480"/>
            <a:ext cx="2743200" cy="1143000"/>
          </a:xfrm>
          <a:prstGeom prst="ellipse">
            <a:avLst/>
          </a:prstGeom>
          <a:solidFill>
            <a:srgbClr val="FFFFFF"/>
          </a:solidFill>
          <a:ln w="27940">
            <a:solidFill>
              <a:srgbClr val="E7A33E"/>
            </a:solidFill>
            <a:prstDash val="solid"/>
          </a:ln>
        </p:spPr>
      </p:sp>
      <p:sp>
        <p:nvSpPr>
          <p:cNvPr id="21" name="Text 19"/>
          <p:cNvSpPr/>
          <p:nvPr/>
        </p:nvSpPr>
        <p:spPr>
          <a:xfrm>
            <a:off x="4956048" y="5148072"/>
            <a:ext cx="411480" cy="274320"/>
          </a:xfrm>
          <a:prstGeom prst="rect">
            <a:avLst/>
          </a:prstGeom>
          <a:noFill/>
          <a:ln/>
        </p:spPr>
        <p:txBody>
          <a:bodyPr wrap="square" lIns="0" tIns="0" rIns="0" bIns="0" rtlCol="0" anchor="ctr"/>
          <a:lstStyle/>
          <a:p>
            <a:pPr algn="ctr" indent="0" marL="0">
              <a:buNone/>
            </a:pPr>
            <a:r>
              <a:rPr lang="en-US" sz="2200" b="1" dirty="0">
                <a:solidFill>
                  <a:srgbClr val="E7A33E"/>
                </a:solidFill>
                <a:latin typeface="Noto Sans ExtraCondensed" pitchFamily="34" charset="0"/>
                <a:ea typeface="Noto Sans ExtraCondensed" pitchFamily="34" charset="-122"/>
                <a:cs typeface="Noto Sans ExtraCondensed" pitchFamily="34" charset="-120"/>
              </a:rPr>
              <a:t>4</a:t>
            </a:r>
            <a:endParaRPr lang="en-US" sz="2200" dirty="0"/>
          </a:p>
        </p:txBody>
      </p:sp>
      <p:sp>
        <p:nvSpPr>
          <p:cNvPr id="22" name="Text 20"/>
          <p:cNvSpPr/>
          <p:nvPr/>
        </p:nvSpPr>
        <p:spPr>
          <a:xfrm>
            <a:off x="5376672" y="5120640"/>
            <a:ext cx="1874520" cy="292608"/>
          </a:xfrm>
          <a:prstGeom prst="rect">
            <a:avLst/>
          </a:prstGeom>
          <a:noFill/>
          <a:ln/>
        </p:spPr>
        <p:txBody>
          <a:bodyPr wrap="square" lIns="0" tIns="0" rIns="0" bIns="0" rtlCol="0" anchor="ctr"/>
          <a:lstStyle/>
          <a:p>
            <a:pPr algn="ctr" indent="0" marL="0">
              <a:buNone/>
            </a:pPr>
            <a:r>
              <a:rPr lang="en-US" sz="1800" b="1" dirty="0">
                <a:solidFill>
                  <a:srgbClr val="E7A33E"/>
                </a:solidFill>
                <a:latin typeface="Noto Sans ExtraCondensed" pitchFamily="34" charset="0"/>
                <a:ea typeface="Noto Sans ExtraCondensed" pitchFamily="34" charset="-122"/>
                <a:cs typeface="Noto Sans ExtraCondensed" pitchFamily="34" charset="-120"/>
              </a:rPr>
              <a:t>EQUIP AND TRAIN</a:t>
            </a:r>
            <a:endParaRPr lang="en-US" sz="1800" dirty="0"/>
          </a:p>
        </p:txBody>
      </p:sp>
      <p:sp>
        <p:nvSpPr>
          <p:cNvPr id="23" name="Text 21"/>
          <p:cNvSpPr/>
          <p:nvPr/>
        </p:nvSpPr>
        <p:spPr>
          <a:xfrm>
            <a:off x="4983480" y="5550408"/>
            <a:ext cx="2286000" cy="384048"/>
          </a:xfrm>
          <a:prstGeom prst="rect">
            <a:avLst/>
          </a:prstGeom>
          <a:noFill/>
          <a:ln/>
        </p:spPr>
        <p:txBody>
          <a:bodyPr wrap="square" lIns="0" tIns="0" rIns="0" bIns="0" rtlCol="0" anchor="ctr"/>
          <a:lstStyle/>
          <a:p>
            <a:pPr algn="ctr" indent="0" marL="0">
              <a:buNone/>
            </a:pPr>
            <a:r>
              <a:rPr lang="en-US" sz="1280" dirty="0">
                <a:solidFill>
                  <a:srgbClr val="2B2A29"/>
                </a:solidFill>
                <a:latin typeface="Noto Sans SemiCondensed" pitchFamily="34" charset="0"/>
                <a:ea typeface="Noto Sans SemiCondensed" pitchFamily="34" charset="-122"/>
                <a:cs typeface="Noto Sans SemiCondensed" pitchFamily="34" charset="-120"/>
              </a:rPr>
              <a:t>Fit PPE, tools, facilities and competency development.</a:t>
            </a:r>
            <a:endParaRPr lang="en-US" sz="1280" dirty="0"/>
          </a:p>
        </p:txBody>
      </p:sp>
      <p:sp>
        <p:nvSpPr>
          <p:cNvPr id="24" name="Shape 22"/>
          <p:cNvSpPr/>
          <p:nvPr/>
        </p:nvSpPr>
        <p:spPr>
          <a:xfrm>
            <a:off x="1554480" y="4251960"/>
            <a:ext cx="2743200" cy="1143000"/>
          </a:xfrm>
          <a:prstGeom prst="ellipse">
            <a:avLst/>
          </a:prstGeom>
          <a:solidFill>
            <a:srgbClr val="FFFFFF"/>
          </a:solidFill>
          <a:ln w="27940">
            <a:solidFill>
              <a:srgbClr val="6B5AA6"/>
            </a:solidFill>
            <a:prstDash val="solid"/>
          </a:ln>
        </p:spPr>
      </p:sp>
      <p:sp>
        <p:nvSpPr>
          <p:cNvPr id="25" name="Text 23"/>
          <p:cNvSpPr/>
          <p:nvPr/>
        </p:nvSpPr>
        <p:spPr>
          <a:xfrm>
            <a:off x="1755648" y="4416552"/>
            <a:ext cx="411480" cy="274320"/>
          </a:xfrm>
          <a:prstGeom prst="rect">
            <a:avLst/>
          </a:prstGeom>
          <a:noFill/>
          <a:ln/>
        </p:spPr>
        <p:txBody>
          <a:bodyPr wrap="square" lIns="0" tIns="0" rIns="0" bIns="0" rtlCol="0" anchor="ctr"/>
          <a:lstStyle/>
          <a:p>
            <a:pPr algn="ctr" indent="0" marL="0">
              <a:buNone/>
            </a:pPr>
            <a:r>
              <a:rPr lang="en-US" sz="2200" b="1" dirty="0">
                <a:solidFill>
                  <a:srgbClr val="6B5AA6"/>
                </a:solidFill>
                <a:latin typeface="Noto Sans ExtraCondensed" pitchFamily="34" charset="0"/>
                <a:ea typeface="Noto Sans ExtraCondensed" pitchFamily="34" charset="-122"/>
                <a:cs typeface="Noto Sans ExtraCondensed" pitchFamily="34" charset="-120"/>
              </a:rPr>
              <a:t>5</a:t>
            </a:r>
            <a:endParaRPr lang="en-US" sz="2200" dirty="0"/>
          </a:p>
        </p:txBody>
      </p:sp>
      <p:sp>
        <p:nvSpPr>
          <p:cNvPr id="26" name="Text 24"/>
          <p:cNvSpPr/>
          <p:nvPr/>
        </p:nvSpPr>
        <p:spPr>
          <a:xfrm>
            <a:off x="2176272" y="4389120"/>
            <a:ext cx="1874520" cy="292608"/>
          </a:xfrm>
          <a:prstGeom prst="rect">
            <a:avLst/>
          </a:prstGeom>
          <a:noFill/>
          <a:ln/>
        </p:spPr>
        <p:txBody>
          <a:bodyPr wrap="square" lIns="0" tIns="0" rIns="0" bIns="0" rtlCol="0" anchor="ctr"/>
          <a:lstStyle/>
          <a:p>
            <a:pPr algn="ctr" indent="0" marL="0">
              <a:buNone/>
            </a:pPr>
            <a:r>
              <a:rPr lang="en-US" sz="1800" b="1" dirty="0">
                <a:solidFill>
                  <a:srgbClr val="6B5AA6"/>
                </a:solidFill>
                <a:latin typeface="Noto Sans ExtraCondensed" pitchFamily="34" charset="0"/>
                <a:ea typeface="Noto Sans ExtraCondensed" pitchFamily="34" charset="-122"/>
                <a:cs typeface="Noto Sans ExtraCondensed" pitchFamily="34" charset="-120"/>
              </a:rPr>
              <a:t>SUPPORT</a:t>
            </a:r>
            <a:endParaRPr lang="en-US" sz="1800" dirty="0"/>
          </a:p>
        </p:txBody>
      </p:sp>
      <p:sp>
        <p:nvSpPr>
          <p:cNvPr id="27" name="Text 25"/>
          <p:cNvSpPr/>
          <p:nvPr/>
        </p:nvSpPr>
        <p:spPr>
          <a:xfrm>
            <a:off x="1783080" y="4818888"/>
            <a:ext cx="2286000" cy="384048"/>
          </a:xfrm>
          <a:prstGeom prst="rect">
            <a:avLst/>
          </a:prstGeom>
          <a:noFill/>
          <a:ln/>
        </p:spPr>
        <p:txBody>
          <a:bodyPr wrap="square" lIns="0" tIns="0" rIns="0" bIns="0" rtlCol="0" anchor="ctr"/>
          <a:lstStyle/>
          <a:p>
            <a:pPr algn="ctr" indent="0" marL="0">
              <a:buNone/>
            </a:pPr>
            <a:r>
              <a:rPr lang="en-US" sz="1280" dirty="0">
                <a:solidFill>
                  <a:srgbClr val="2B2A29"/>
                </a:solidFill>
                <a:latin typeface="Noto Sans SemiCondensed" pitchFamily="34" charset="0"/>
                <a:ea typeface="Noto Sans SemiCondensed" pitchFamily="34" charset="-122"/>
                <a:cs typeface="Noto Sans SemiCondensed" pitchFamily="34" charset="-120"/>
              </a:rPr>
              <a:t>Working time, psychosocial support and reasonable accommodation.</a:t>
            </a:r>
            <a:endParaRPr lang="en-US" sz="1280" dirty="0"/>
          </a:p>
        </p:txBody>
      </p:sp>
      <p:sp>
        <p:nvSpPr>
          <p:cNvPr id="28" name="Shape 26"/>
          <p:cNvSpPr/>
          <p:nvPr/>
        </p:nvSpPr>
        <p:spPr>
          <a:xfrm>
            <a:off x="1554480" y="1965960"/>
            <a:ext cx="2743200" cy="1143000"/>
          </a:xfrm>
          <a:prstGeom prst="ellipse">
            <a:avLst/>
          </a:prstGeom>
          <a:solidFill>
            <a:srgbClr val="FFFFFF"/>
          </a:solidFill>
          <a:ln w="27940">
            <a:solidFill>
              <a:srgbClr val="284B96"/>
            </a:solidFill>
            <a:prstDash val="solid"/>
          </a:ln>
        </p:spPr>
      </p:sp>
      <p:sp>
        <p:nvSpPr>
          <p:cNvPr id="29" name="Text 27"/>
          <p:cNvSpPr/>
          <p:nvPr/>
        </p:nvSpPr>
        <p:spPr>
          <a:xfrm>
            <a:off x="1755648" y="2130552"/>
            <a:ext cx="411480" cy="274320"/>
          </a:xfrm>
          <a:prstGeom prst="rect">
            <a:avLst/>
          </a:prstGeom>
          <a:noFill/>
          <a:ln/>
        </p:spPr>
        <p:txBody>
          <a:bodyPr wrap="square" lIns="0" tIns="0" rIns="0" bIns="0" rtlCol="0" anchor="ctr"/>
          <a:lstStyle/>
          <a:p>
            <a:pPr algn="ctr" indent="0" marL="0">
              <a:buNone/>
            </a:pPr>
            <a:r>
              <a:rPr lang="en-US" sz="2200" b="1" dirty="0">
                <a:solidFill>
                  <a:srgbClr val="284B96"/>
                </a:solidFill>
                <a:latin typeface="Noto Sans ExtraCondensed" pitchFamily="34" charset="0"/>
                <a:ea typeface="Noto Sans ExtraCondensed" pitchFamily="34" charset="-122"/>
                <a:cs typeface="Noto Sans ExtraCondensed" pitchFamily="34" charset="-120"/>
              </a:rPr>
              <a:t>6</a:t>
            </a:r>
            <a:endParaRPr lang="en-US" sz="2200" dirty="0"/>
          </a:p>
        </p:txBody>
      </p:sp>
      <p:sp>
        <p:nvSpPr>
          <p:cNvPr id="30" name="Text 28"/>
          <p:cNvSpPr/>
          <p:nvPr/>
        </p:nvSpPr>
        <p:spPr>
          <a:xfrm>
            <a:off x="2176272" y="2103120"/>
            <a:ext cx="1874520" cy="292608"/>
          </a:xfrm>
          <a:prstGeom prst="rect">
            <a:avLst/>
          </a:prstGeom>
          <a:noFill/>
          <a:ln/>
        </p:spPr>
        <p:txBody>
          <a:bodyPr wrap="square" lIns="0" tIns="0" rIns="0" bIns="0" rtlCol="0" anchor="ctr"/>
          <a:lstStyle/>
          <a:p>
            <a:pPr algn="ctr" indent="0" marL="0">
              <a:buNone/>
            </a:pPr>
            <a:r>
              <a:rPr lang="en-US" sz="1800" b="1" dirty="0">
                <a:solidFill>
                  <a:srgbClr val="284B96"/>
                </a:solidFill>
                <a:latin typeface="Noto Sans ExtraCondensed" pitchFamily="34" charset="0"/>
                <a:ea typeface="Noto Sans ExtraCondensed" pitchFamily="34" charset="-122"/>
                <a:cs typeface="Noto Sans ExtraCondensed" pitchFamily="34" charset="-120"/>
              </a:rPr>
              <a:t>MONITOR AND LEARN</a:t>
            </a:r>
            <a:endParaRPr lang="en-US" sz="1800" dirty="0"/>
          </a:p>
        </p:txBody>
      </p:sp>
      <p:sp>
        <p:nvSpPr>
          <p:cNvPr id="31" name="Text 29"/>
          <p:cNvSpPr/>
          <p:nvPr/>
        </p:nvSpPr>
        <p:spPr>
          <a:xfrm>
            <a:off x="1783080" y="2532888"/>
            <a:ext cx="2286000" cy="384048"/>
          </a:xfrm>
          <a:prstGeom prst="rect">
            <a:avLst/>
          </a:prstGeom>
          <a:noFill/>
          <a:ln/>
        </p:spPr>
        <p:txBody>
          <a:bodyPr wrap="square" lIns="0" tIns="0" rIns="0" bIns="0" rtlCol="0" anchor="ctr"/>
          <a:lstStyle/>
          <a:p>
            <a:pPr algn="ctr" indent="0" marL="0">
              <a:buNone/>
            </a:pPr>
            <a:r>
              <a:rPr lang="en-US" sz="1280" dirty="0">
                <a:solidFill>
                  <a:srgbClr val="2B2A29"/>
                </a:solidFill>
                <a:latin typeface="Noto Sans SemiCondensed" pitchFamily="34" charset="0"/>
                <a:ea typeface="Noto Sans SemiCondensed" pitchFamily="34" charset="-122"/>
                <a:cs typeface="Noto Sans SemiCondensed" pitchFamily="34" charset="-120"/>
              </a:rPr>
              <a:t>Use data, near misses, worker feedback and periodic review.</a:t>
            </a:r>
            <a:endParaRPr lang="en-US" sz="1280" dirty="0"/>
          </a:p>
        </p:txBody>
      </p:sp>
      <p:sp>
        <p:nvSpPr>
          <p:cNvPr id="32" name="Shape 30"/>
          <p:cNvSpPr/>
          <p:nvPr/>
        </p:nvSpPr>
        <p:spPr>
          <a:xfrm>
            <a:off x="6126480" y="1801368"/>
            <a:ext cx="3200400" cy="731520"/>
          </a:xfrm>
          <a:prstGeom prst="line">
            <a:avLst/>
          </a:prstGeom>
          <a:noFill/>
          <a:ln w="21590">
            <a:solidFill>
              <a:srgbClr val="A4ABD4"/>
            </a:solidFill>
            <a:prstDash val="solid"/>
            <a:tailEnd type="triangle"/>
          </a:ln>
        </p:spPr>
      </p:sp>
      <p:sp>
        <p:nvSpPr>
          <p:cNvPr id="33" name="Shape 31"/>
          <p:cNvSpPr/>
          <p:nvPr/>
        </p:nvSpPr>
        <p:spPr>
          <a:xfrm>
            <a:off x="9326880" y="2532888"/>
            <a:ext cx="0" cy="2286000"/>
          </a:xfrm>
          <a:prstGeom prst="line">
            <a:avLst/>
          </a:prstGeom>
          <a:noFill/>
          <a:ln w="21590">
            <a:solidFill>
              <a:srgbClr val="A4ABD4"/>
            </a:solidFill>
            <a:prstDash val="solid"/>
            <a:tailEnd type="triangle"/>
          </a:ln>
        </p:spPr>
      </p:sp>
      <p:sp>
        <p:nvSpPr>
          <p:cNvPr id="34" name="Shape 32"/>
          <p:cNvSpPr/>
          <p:nvPr/>
        </p:nvSpPr>
        <p:spPr>
          <a:xfrm>
            <a:off x="9326880" y="4818888"/>
            <a:ext cx="-3200400" cy="731520"/>
          </a:xfrm>
          <a:prstGeom prst="line">
            <a:avLst/>
          </a:prstGeom>
          <a:noFill/>
          <a:ln w="21590">
            <a:solidFill>
              <a:srgbClr val="A4ABD4"/>
            </a:solidFill>
            <a:prstDash val="solid"/>
            <a:tailEnd type="triangle"/>
          </a:ln>
        </p:spPr>
      </p:sp>
      <p:sp>
        <p:nvSpPr>
          <p:cNvPr id="35" name="Shape 33"/>
          <p:cNvSpPr/>
          <p:nvPr/>
        </p:nvSpPr>
        <p:spPr>
          <a:xfrm>
            <a:off x="6126480" y="5550408"/>
            <a:ext cx="-3200400" cy="-731520"/>
          </a:xfrm>
          <a:prstGeom prst="line">
            <a:avLst/>
          </a:prstGeom>
          <a:noFill/>
          <a:ln w="21590">
            <a:solidFill>
              <a:srgbClr val="A4ABD4"/>
            </a:solidFill>
            <a:prstDash val="solid"/>
            <a:tailEnd type="triangle"/>
          </a:ln>
        </p:spPr>
      </p:sp>
      <p:sp>
        <p:nvSpPr>
          <p:cNvPr id="36" name="Shape 34"/>
          <p:cNvSpPr/>
          <p:nvPr/>
        </p:nvSpPr>
        <p:spPr>
          <a:xfrm>
            <a:off x="2926080" y="4818888"/>
            <a:ext cx="0" cy="-2286000"/>
          </a:xfrm>
          <a:prstGeom prst="line">
            <a:avLst/>
          </a:prstGeom>
          <a:noFill/>
          <a:ln w="21590">
            <a:solidFill>
              <a:srgbClr val="A4ABD4"/>
            </a:solidFill>
            <a:prstDash val="solid"/>
            <a:tailEnd type="triangle"/>
          </a:ln>
        </p:spPr>
      </p:sp>
      <p:sp>
        <p:nvSpPr>
          <p:cNvPr id="37" name="Shape 35"/>
          <p:cNvSpPr/>
          <p:nvPr/>
        </p:nvSpPr>
        <p:spPr>
          <a:xfrm>
            <a:off x="2926080" y="2532888"/>
            <a:ext cx="3200400" cy="-731520"/>
          </a:xfrm>
          <a:prstGeom prst="line">
            <a:avLst/>
          </a:prstGeom>
          <a:noFill/>
          <a:ln w="21590">
            <a:solidFill>
              <a:srgbClr val="A4ABD4"/>
            </a:solidFill>
            <a:prstDash val="solid"/>
            <a:tailEnd type="triangle"/>
          </a:ln>
        </p:spPr>
      </p:sp>
      <p:sp>
        <p:nvSpPr>
          <p:cNvPr id="38" name="Shape 36"/>
          <p:cNvSpPr/>
          <p:nvPr/>
        </p:nvSpPr>
        <p:spPr>
          <a:xfrm>
            <a:off x="4965192" y="2788920"/>
            <a:ext cx="2286000" cy="1280160"/>
          </a:xfrm>
          <a:prstGeom prst="ellipse">
            <a:avLst/>
          </a:prstGeom>
          <a:solidFill>
            <a:srgbClr val="284B96"/>
          </a:solidFill>
          <a:ln w="12700">
            <a:solidFill>
              <a:srgbClr val="284B96"/>
            </a:solidFill>
            <a:prstDash val="solid"/>
          </a:ln>
        </p:spPr>
      </p:sp>
      <p:sp>
        <p:nvSpPr>
          <p:cNvPr id="39" name="Text 37"/>
          <p:cNvSpPr/>
          <p:nvPr/>
        </p:nvSpPr>
        <p:spPr>
          <a:xfrm>
            <a:off x="5285232" y="3127248"/>
            <a:ext cx="16459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ExtraCondensed" pitchFamily="34" charset="0"/>
                <a:ea typeface="Noto Sans ExtraCondensed" pitchFamily="34" charset="-122"/>
                <a:cs typeface="Noto Sans ExtraCondensed" pitchFamily="34" charset="-120"/>
              </a:rPr>
              <a:t>GENDER-RESPONSIVE</a:t>
            </a:r>
            <a:endParaRPr lang="en-US" sz="1800" dirty="0"/>
          </a:p>
          <a:p>
            <a:pPr algn="ctr" indent="0" marL="0">
              <a:buNone/>
            </a:pPr>
            <a:r>
              <a:rPr lang="en-US" sz="1800" b="1" dirty="0">
                <a:solidFill>
                  <a:srgbClr val="FFFFFF"/>
                </a:solidFill>
                <a:latin typeface="Noto Sans ExtraCondensed" pitchFamily="34" charset="0"/>
                <a:ea typeface="Noto Sans ExtraCondensed" pitchFamily="34" charset="-122"/>
                <a:cs typeface="Noto Sans ExtraCondensed" pitchFamily="34" charset="-120"/>
              </a:rPr>
              <a:t>OSH MANAGEMENT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MONITORING</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What to measure: a minimum dashboard</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28</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685800" y="1261872"/>
            <a:ext cx="109728" cy="512064"/>
          </a:xfrm>
          <a:prstGeom prst="rect">
            <a:avLst/>
          </a:prstGeom>
          <a:solidFill>
            <a:srgbClr val="284B96"/>
          </a:solidFill>
          <a:ln w="12700">
            <a:solidFill>
              <a:srgbClr val="284B96"/>
            </a:solidFill>
            <a:prstDash val="solid"/>
          </a:ln>
        </p:spPr>
      </p:sp>
      <p:sp>
        <p:nvSpPr>
          <p:cNvPr id="9" name="Text 7"/>
          <p:cNvSpPr/>
          <p:nvPr/>
        </p:nvSpPr>
        <p:spPr>
          <a:xfrm>
            <a:off x="960120" y="1289304"/>
            <a:ext cx="1600200" cy="256032"/>
          </a:xfrm>
          <a:prstGeom prst="rect">
            <a:avLst/>
          </a:prstGeom>
          <a:noFill/>
          <a:ln/>
        </p:spPr>
        <p:txBody>
          <a:bodyPr wrap="square" lIns="0" tIns="0" rIns="0" bIns="0" rtlCol="0" anchor="ctr"/>
          <a:lstStyle/>
          <a:p>
            <a:pPr indent="0" marL="0">
              <a:buNone/>
            </a:pPr>
            <a:r>
              <a:rPr lang="en-US" sz="1800" b="1" dirty="0">
                <a:solidFill>
                  <a:srgbClr val="284B96"/>
                </a:solidFill>
                <a:latin typeface="Noto Sans ExtraCondensed" pitchFamily="34" charset="0"/>
                <a:ea typeface="Noto Sans ExtraCondensed" pitchFamily="34" charset="-122"/>
                <a:cs typeface="Noto Sans ExtraCondensed" pitchFamily="34" charset="-120"/>
              </a:rPr>
              <a:t>WORKFORCE</a:t>
            </a:r>
            <a:endParaRPr lang="en-US" sz="1800" dirty="0"/>
          </a:p>
        </p:txBody>
      </p:sp>
      <p:sp>
        <p:nvSpPr>
          <p:cNvPr id="10" name="Text 8"/>
          <p:cNvSpPr/>
          <p:nvPr/>
        </p:nvSpPr>
        <p:spPr>
          <a:xfrm>
            <a:off x="2606040" y="1261872"/>
            <a:ext cx="7772400" cy="438912"/>
          </a:xfrm>
          <a:prstGeom prst="rect">
            <a:avLst/>
          </a:prstGeom>
          <a:noFill/>
          <a:ln/>
        </p:spPr>
        <p:txBody>
          <a:bodyPr wrap="square" lIns="0" tIns="0" rIns="0" bIns="0" rtlCol="0" anchor="ctr"/>
          <a:lstStyle/>
          <a:p>
            <a:pPr indent="0" marL="0">
              <a:buNone/>
            </a:pPr>
            <a:r>
              <a:rPr lang="en-US" sz="1580" dirty="0">
                <a:solidFill>
                  <a:srgbClr val="2B2A29"/>
                </a:solidFill>
                <a:latin typeface="Noto Sans SemiCondensed" pitchFamily="34" charset="0"/>
                <a:ea typeface="Noto Sans SemiCondensed" pitchFamily="34" charset="-122"/>
                <a:cs typeface="Noto Sans SemiCondensed" pitchFamily="34" charset="-120"/>
              </a:rPr>
              <a:t>Participation, recruitment, retention and promotion by sex, age, disability, contract and location</a:t>
            </a:r>
            <a:endParaRPr lang="en-US" sz="1580" dirty="0"/>
          </a:p>
        </p:txBody>
      </p:sp>
      <p:sp>
        <p:nvSpPr>
          <p:cNvPr id="11" name="Shape 9"/>
          <p:cNvSpPr/>
          <p:nvPr/>
        </p:nvSpPr>
        <p:spPr>
          <a:xfrm>
            <a:off x="685800" y="2011680"/>
            <a:ext cx="109728" cy="512064"/>
          </a:xfrm>
          <a:prstGeom prst="rect">
            <a:avLst/>
          </a:prstGeom>
          <a:solidFill>
            <a:srgbClr val="C95B61"/>
          </a:solidFill>
          <a:ln w="12700">
            <a:solidFill>
              <a:srgbClr val="C95B61"/>
            </a:solidFill>
            <a:prstDash val="solid"/>
          </a:ln>
        </p:spPr>
      </p:sp>
      <p:sp>
        <p:nvSpPr>
          <p:cNvPr id="12" name="Text 10"/>
          <p:cNvSpPr/>
          <p:nvPr/>
        </p:nvSpPr>
        <p:spPr>
          <a:xfrm>
            <a:off x="960120" y="2039112"/>
            <a:ext cx="1600200" cy="256032"/>
          </a:xfrm>
          <a:prstGeom prst="rect">
            <a:avLst/>
          </a:prstGeom>
          <a:noFill/>
          <a:ln/>
        </p:spPr>
        <p:txBody>
          <a:bodyPr wrap="square" lIns="0" tIns="0" rIns="0" bIns="0" rtlCol="0" anchor="ctr"/>
          <a:lstStyle/>
          <a:p>
            <a:pPr indent="0" marL="0">
              <a:buNone/>
            </a:pPr>
            <a:r>
              <a:rPr lang="en-US" sz="1800" b="1" dirty="0">
                <a:solidFill>
                  <a:srgbClr val="C95B61"/>
                </a:solidFill>
                <a:latin typeface="Noto Sans ExtraCondensed" pitchFamily="34" charset="0"/>
                <a:ea typeface="Noto Sans ExtraCondensed" pitchFamily="34" charset="-122"/>
                <a:cs typeface="Noto Sans ExtraCondensed" pitchFamily="34" charset="-120"/>
              </a:rPr>
              <a:t>EXPOSURE</a:t>
            </a:r>
            <a:endParaRPr lang="en-US" sz="1800" dirty="0"/>
          </a:p>
        </p:txBody>
      </p:sp>
      <p:sp>
        <p:nvSpPr>
          <p:cNvPr id="13" name="Text 11"/>
          <p:cNvSpPr/>
          <p:nvPr/>
        </p:nvSpPr>
        <p:spPr>
          <a:xfrm>
            <a:off x="2606040" y="2011680"/>
            <a:ext cx="7772400" cy="438912"/>
          </a:xfrm>
          <a:prstGeom prst="rect">
            <a:avLst/>
          </a:prstGeom>
          <a:noFill/>
          <a:ln/>
        </p:spPr>
        <p:txBody>
          <a:bodyPr wrap="square" lIns="0" tIns="0" rIns="0" bIns="0" rtlCol="0" anchor="ctr"/>
          <a:lstStyle/>
          <a:p>
            <a:pPr indent="0" marL="0">
              <a:buNone/>
            </a:pPr>
            <a:r>
              <a:rPr lang="en-US" sz="1580" dirty="0">
                <a:solidFill>
                  <a:srgbClr val="2B2A29"/>
                </a:solidFill>
                <a:latin typeface="Noto Sans SemiCondensed" pitchFamily="34" charset="0"/>
                <a:ea typeface="Noto Sans SemiCondensed" pitchFamily="34" charset="-122"/>
                <a:cs typeface="Noto Sans SemiCondensed" pitchFamily="34" charset="-120"/>
              </a:rPr>
              <a:t>High-risk tasks, shift patterns, emergency call-outs and contractor exposure</a:t>
            </a:r>
            <a:endParaRPr lang="en-US" sz="1580" dirty="0"/>
          </a:p>
        </p:txBody>
      </p:sp>
      <p:sp>
        <p:nvSpPr>
          <p:cNvPr id="14" name="Shape 12"/>
          <p:cNvSpPr/>
          <p:nvPr/>
        </p:nvSpPr>
        <p:spPr>
          <a:xfrm>
            <a:off x="685800" y="2761488"/>
            <a:ext cx="109728" cy="512064"/>
          </a:xfrm>
          <a:prstGeom prst="rect">
            <a:avLst/>
          </a:prstGeom>
          <a:solidFill>
            <a:srgbClr val="E7A33E"/>
          </a:solidFill>
          <a:ln w="12700">
            <a:solidFill>
              <a:srgbClr val="E7A33E"/>
            </a:solidFill>
            <a:prstDash val="solid"/>
          </a:ln>
        </p:spPr>
      </p:sp>
      <p:sp>
        <p:nvSpPr>
          <p:cNvPr id="15" name="Text 13"/>
          <p:cNvSpPr/>
          <p:nvPr/>
        </p:nvSpPr>
        <p:spPr>
          <a:xfrm>
            <a:off x="960120" y="2788920"/>
            <a:ext cx="1600200" cy="256032"/>
          </a:xfrm>
          <a:prstGeom prst="rect">
            <a:avLst/>
          </a:prstGeom>
          <a:noFill/>
          <a:ln/>
        </p:spPr>
        <p:txBody>
          <a:bodyPr wrap="square" lIns="0" tIns="0" rIns="0" bIns="0" rtlCol="0" anchor="ctr"/>
          <a:lstStyle/>
          <a:p>
            <a:pPr indent="0" marL="0">
              <a:buNone/>
            </a:pPr>
            <a:r>
              <a:rPr lang="en-US" sz="1800" b="1" dirty="0">
                <a:solidFill>
                  <a:srgbClr val="E7A33E"/>
                </a:solidFill>
                <a:latin typeface="Noto Sans ExtraCondensed" pitchFamily="34" charset="0"/>
                <a:ea typeface="Noto Sans ExtraCondensed" pitchFamily="34" charset="-122"/>
                <a:cs typeface="Noto Sans ExtraCondensed" pitchFamily="34" charset="-120"/>
              </a:rPr>
              <a:t>OSH OUTCOMES</a:t>
            </a:r>
            <a:endParaRPr lang="en-US" sz="1800" dirty="0"/>
          </a:p>
        </p:txBody>
      </p:sp>
      <p:sp>
        <p:nvSpPr>
          <p:cNvPr id="16" name="Text 14"/>
          <p:cNvSpPr/>
          <p:nvPr/>
        </p:nvSpPr>
        <p:spPr>
          <a:xfrm>
            <a:off x="2606040" y="2761488"/>
            <a:ext cx="7772400" cy="438912"/>
          </a:xfrm>
          <a:prstGeom prst="rect">
            <a:avLst/>
          </a:prstGeom>
          <a:noFill/>
          <a:ln/>
        </p:spPr>
        <p:txBody>
          <a:bodyPr wrap="square" lIns="0" tIns="0" rIns="0" bIns="0" rtlCol="0" anchor="ctr"/>
          <a:lstStyle/>
          <a:p>
            <a:pPr indent="0" marL="0">
              <a:buNone/>
            </a:pPr>
            <a:r>
              <a:rPr lang="en-US" sz="1580" dirty="0">
                <a:solidFill>
                  <a:srgbClr val="2B2A29"/>
                </a:solidFill>
                <a:latin typeface="Noto Sans SemiCondensed" pitchFamily="34" charset="0"/>
                <a:ea typeface="Noto Sans SemiCondensed" pitchFamily="34" charset="-122"/>
                <a:cs typeface="Noto Sans SemiCondensed" pitchFamily="34" charset="-120"/>
              </a:rPr>
              <a:t>Incidents, near misses, occupational disease, fatigue and psychosocial indicators by task</a:t>
            </a:r>
            <a:endParaRPr lang="en-US" sz="1580" dirty="0"/>
          </a:p>
        </p:txBody>
      </p:sp>
      <p:sp>
        <p:nvSpPr>
          <p:cNvPr id="17" name="Shape 15"/>
          <p:cNvSpPr/>
          <p:nvPr/>
        </p:nvSpPr>
        <p:spPr>
          <a:xfrm>
            <a:off x="685800" y="3511296"/>
            <a:ext cx="109728" cy="512064"/>
          </a:xfrm>
          <a:prstGeom prst="rect">
            <a:avLst/>
          </a:prstGeom>
          <a:solidFill>
            <a:srgbClr val="00A3E0"/>
          </a:solidFill>
          <a:ln w="12700">
            <a:solidFill>
              <a:srgbClr val="00A3E0"/>
            </a:solidFill>
            <a:prstDash val="solid"/>
          </a:ln>
        </p:spPr>
      </p:sp>
      <p:sp>
        <p:nvSpPr>
          <p:cNvPr id="18" name="Text 16"/>
          <p:cNvSpPr/>
          <p:nvPr/>
        </p:nvSpPr>
        <p:spPr>
          <a:xfrm>
            <a:off x="960120" y="3538728"/>
            <a:ext cx="1600200" cy="256032"/>
          </a:xfrm>
          <a:prstGeom prst="rect">
            <a:avLst/>
          </a:prstGeom>
          <a:noFill/>
          <a:ln/>
        </p:spPr>
        <p:txBody>
          <a:bodyPr wrap="square" lIns="0" tIns="0" rIns="0" bIns="0" rtlCol="0" anchor="ctr"/>
          <a:lstStyle/>
          <a:p>
            <a:pPr indent="0" marL="0">
              <a:buNone/>
            </a:pPr>
            <a:r>
              <a:rPr lang="en-US" sz="1800" b="1" dirty="0">
                <a:solidFill>
                  <a:srgbClr val="00A3E0"/>
                </a:solidFill>
                <a:latin typeface="Noto Sans ExtraCondensed" pitchFamily="34" charset="0"/>
                <a:ea typeface="Noto Sans ExtraCondensed" pitchFamily="34" charset="-122"/>
                <a:cs typeface="Noto Sans ExtraCondensed" pitchFamily="34" charset="-120"/>
              </a:rPr>
              <a:t>FIT AND ACCESS</a:t>
            </a:r>
            <a:endParaRPr lang="en-US" sz="1800" dirty="0"/>
          </a:p>
        </p:txBody>
      </p:sp>
      <p:sp>
        <p:nvSpPr>
          <p:cNvPr id="19" name="Text 17"/>
          <p:cNvSpPr/>
          <p:nvPr/>
        </p:nvSpPr>
        <p:spPr>
          <a:xfrm>
            <a:off x="2606040" y="3511296"/>
            <a:ext cx="7772400" cy="438912"/>
          </a:xfrm>
          <a:prstGeom prst="rect">
            <a:avLst/>
          </a:prstGeom>
          <a:noFill/>
          <a:ln/>
        </p:spPr>
        <p:txBody>
          <a:bodyPr wrap="square" lIns="0" tIns="0" rIns="0" bIns="0" rtlCol="0" anchor="ctr"/>
          <a:lstStyle/>
          <a:p>
            <a:pPr indent="0" marL="0">
              <a:buNone/>
            </a:pPr>
            <a:r>
              <a:rPr lang="en-US" sz="1580" dirty="0">
                <a:solidFill>
                  <a:srgbClr val="2B2A29"/>
                </a:solidFill>
                <a:latin typeface="Noto Sans SemiCondensed" pitchFamily="34" charset="0"/>
                <a:ea typeface="Noto Sans SemiCondensed" pitchFamily="34" charset="-122"/>
                <a:cs typeface="Noto Sans SemiCondensed" pitchFamily="34" charset="-120"/>
              </a:rPr>
              <a:t>PPE fit, facilities, reasonable adjustments, accessible training and equipment trials</a:t>
            </a:r>
            <a:endParaRPr lang="en-US" sz="1580" dirty="0"/>
          </a:p>
        </p:txBody>
      </p:sp>
      <p:sp>
        <p:nvSpPr>
          <p:cNvPr id="20" name="Shape 18"/>
          <p:cNvSpPr/>
          <p:nvPr/>
        </p:nvSpPr>
        <p:spPr>
          <a:xfrm>
            <a:off x="685800" y="4261104"/>
            <a:ext cx="109728" cy="512064"/>
          </a:xfrm>
          <a:prstGeom prst="rect">
            <a:avLst/>
          </a:prstGeom>
          <a:solidFill>
            <a:srgbClr val="2E8B78"/>
          </a:solidFill>
          <a:ln w="12700">
            <a:solidFill>
              <a:srgbClr val="2E8B78"/>
            </a:solidFill>
            <a:prstDash val="solid"/>
          </a:ln>
        </p:spPr>
      </p:sp>
      <p:sp>
        <p:nvSpPr>
          <p:cNvPr id="21" name="Text 19"/>
          <p:cNvSpPr/>
          <p:nvPr/>
        </p:nvSpPr>
        <p:spPr>
          <a:xfrm>
            <a:off x="960120" y="4288536"/>
            <a:ext cx="1600200" cy="256032"/>
          </a:xfrm>
          <a:prstGeom prst="rect">
            <a:avLst/>
          </a:prstGeom>
          <a:noFill/>
          <a:ln/>
        </p:spPr>
        <p:txBody>
          <a:bodyPr wrap="square" lIns="0" tIns="0" rIns="0" bIns="0" rtlCol="0" anchor="ctr"/>
          <a:lstStyle/>
          <a:p>
            <a:pPr indent="0" marL="0">
              <a:buNone/>
            </a:pPr>
            <a:r>
              <a:rPr lang="en-US" sz="1800" b="1" dirty="0">
                <a:solidFill>
                  <a:srgbClr val="2E8B78"/>
                </a:solidFill>
                <a:latin typeface="Noto Sans ExtraCondensed" pitchFamily="34" charset="0"/>
                <a:ea typeface="Noto Sans ExtraCondensed" pitchFamily="34" charset="-122"/>
                <a:cs typeface="Noto Sans ExtraCondensed" pitchFamily="34" charset="-120"/>
              </a:rPr>
              <a:t>CAPABILITY</a:t>
            </a:r>
            <a:endParaRPr lang="en-US" sz="1800" dirty="0"/>
          </a:p>
        </p:txBody>
      </p:sp>
      <p:sp>
        <p:nvSpPr>
          <p:cNvPr id="22" name="Text 20"/>
          <p:cNvSpPr/>
          <p:nvPr/>
        </p:nvSpPr>
        <p:spPr>
          <a:xfrm>
            <a:off x="2606040" y="4261104"/>
            <a:ext cx="7772400" cy="438912"/>
          </a:xfrm>
          <a:prstGeom prst="rect">
            <a:avLst/>
          </a:prstGeom>
          <a:noFill/>
          <a:ln/>
        </p:spPr>
        <p:txBody>
          <a:bodyPr wrap="square" lIns="0" tIns="0" rIns="0" bIns="0" rtlCol="0" anchor="ctr"/>
          <a:lstStyle/>
          <a:p>
            <a:pPr indent="0" marL="0">
              <a:buNone/>
            </a:pPr>
            <a:r>
              <a:rPr lang="en-US" sz="1580" dirty="0">
                <a:solidFill>
                  <a:srgbClr val="2B2A29"/>
                </a:solidFill>
                <a:latin typeface="Noto Sans SemiCondensed" pitchFamily="34" charset="0"/>
                <a:ea typeface="Noto Sans SemiCondensed" pitchFamily="34" charset="-122"/>
                <a:cs typeface="Noto Sans SemiCondensed" pitchFamily="34" charset="-120"/>
              </a:rPr>
              <a:t>Certification, skills pathways, mentoring and access to technical and leadership development</a:t>
            </a:r>
            <a:endParaRPr lang="en-US" sz="1580" dirty="0"/>
          </a:p>
        </p:txBody>
      </p:sp>
      <p:sp>
        <p:nvSpPr>
          <p:cNvPr id="23" name="Shape 21"/>
          <p:cNvSpPr/>
          <p:nvPr/>
        </p:nvSpPr>
        <p:spPr>
          <a:xfrm>
            <a:off x="685800" y="5010912"/>
            <a:ext cx="109728" cy="512064"/>
          </a:xfrm>
          <a:prstGeom prst="rect">
            <a:avLst/>
          </a:prstGeom>
          <a:solidFill>
            <a:srgbClr val="6B5AA6"/>
          </a:solidFill>
          <a:ln w="12700">
            <a:solidFill>
              <a:srgbClr val="6B5AA6"/>
            </a:solidFill>
            <a:prstDash val="solid"/>
          </a:ln>
        </p:spPr>
      </p:sp>
      <p:sp>
        <p:nvSpPr>
          <p:cNvPr id="24" name="Text 22"/>
          <p:cNvSpPr/>
          <p:nvPr/>
        </p:nvSpPr>
        <p:spPr>
          <a:xfrm>
            <a:off x="960120" y="5038344"/>
            <a:ext cx="1600200" cy="256032"/>
          </a:xfrm>
          <a:prstGeom prst="rect">
            <a:avLst/>
          </a:prstGeom>
          <a:noFill/>
          <a:ln/>
        </p:spPr>
        <p:txBody>
          <a:bodyPr wrap="square" lIns="0" tIns="0" rIns="0" bIns="0" rtlCol="0" anchor="ctr"/>
          <a:lstStyle/>
          <a:p>
            <a:pPr indent="0" marL="0">
              <a:buNone/>
            </a:pPr>
            <a:r>
              <a:rPr lang="en-US" sz="1800" b="1" dirty="0">
                <a:solidFill>
                  <a:srgbClr val="6B5AA6"/>
                </a:solidFill>
                <a:latin typeface="Noto Sans ExtraCondensed" pitchFamily="34" charset="0"/>
                <a:ea typeface="Noto Sans ExtraCondensed" pitchFamily="34" charset="-122"/>
                <a:cs typeface="Noto Sans ExtraCondensed" pitchFamily="34" charset="-120"/>
              </a:rPr>
              <a:t>WORKER VOICE</a:t>
            </a:r>
            <a:endParaRPr lang="en-US" sz="1800" dirty="0"/>
          </a:p>
        </p:txBody>
      </p:sp>
      <p:sp>
        <p:nvSpPr>
          <p:cNvPr id="25" name="Text 23"/>
          <p:cNvSpPr/>
          <p:nvPr/>
        </p:nvSpPr>
        <p:spPr>
          <a:xfrm>
            <a:off x="2606040" y="5010912"/>
            <a:ext cx="7772400" cy="438912"/>
          </a:xfrm>
          <a:prstGeom prst="rect">
            <a:avLst/>
          </a:prstGeom>
          <a:noFill/>
          <a:ln/>
        </p:spPr>
        <p:txBody>
          <a:bodyPr wrap="square" lIns="0" tIns="0" rIns="0" bIns="0" rtlCol="0" anchor="ctr"/>
          <a:lstStyle/>
          <a:p>
            <a:pPr indent="0" marL="0">
              <a:buNone/>
            </a:pPr>
            <a:r>
              <a:rPr lang="en-US" sz="1580" dirty="0">
                <a:solidFill>
                  <a:srgbClr val="2B2A29"/>
                </a:solidFill>
                <a:latin typeface="Noto Sans SemiCondensed" pitchFamily="34" charset="0"/>
                <a:ea typeface="Noto Sans SemiCondensed" pitchFamily="34" charset="-122"/>
                <a:cs typeface="Noto Sans SemiCondensed" pitchFamily="34" charset="-120"/>
              </a:rPr>
              <a:t>Concerns raised, response time, closure of actions, stop-work use and participation quality</a:t>
            </a:r>
            <a:endParaRPr lang="en-US" sz="1580" dirty="0"/>
          </a:p>
        </p:txBody>
      </p:sp>
      <p:sp>
        <p:nvSpPr>
          <p:cNvPr id="26" name="Shape 24"/>
          <p:cNvSpPr/>
          <p:nvPr/>
        </p:nvSpPr>
        <p:spPr>
          <a:xfrm>
            <a:off x="8887968" y="1417320"/>
            <a:ext cx="2423160" cy="4251960"/>
          </a:xfrm>
          <a:prstGeom prst="roundRect">
            <a:avLst/>
          </a:prstGeom>
          <a:solidFill>
            <a:srgbClr val="F5F7FB"/>
          </a:solidFill>
          <a:ln w="12700">
            <a:solidFill>
              <a:srgbClr val="D1D5EB"/>
            </a:solidFill>
            <a:prstDash val="solid"/>
          </a:ln>
        </p:spPr>
      </p:sp>
      <p:sp>
        <p:nvSpPr>
          <p:cNvPr id="27" name="Text 25"/>
          <p:cNvSpPr/>
          <p:nvPr/>
        </p:nvSpPr>
        <p:spPr>
          <a:xfrm>
            <a:off x="9189720" y="1737360"/>
            <a:ext cx="1828800" cy="292608"/>
          </a:xfrm>
          <a:prstGeom prst="rect">
            <a:avLst/>
          </a:prstGeom>
          <a:noFill/>
          <a:ln/>
        </p:spPr>
        <p:txBody>
          <a:bodyPr wrap="square" lIns="0" tIns="0" rIns="0" bIns="0" rtlCol="0" anchor="ctr"/>
          <a:lstStyle/>
          <a:p>
            <a:pPr algn="ctr" indent="0" marL="0">
              <a:buNone/>
            </a:pPr>
            <a:r>
              <a:rPr lang="en-US" sz="2000" b="1" dirty="0">
                <a:solidFill>
                  <a:srgbClr val="284B96"/>
                </a:solidFill>
                <a:latin typeface="Noto Sans ExtraCondensed" pitchFamily="34" charset="0"/>
                <a:ea typeface="Noto Sans ExtraCondensed" pitchFamily="34" charset="-122"/>
                <a:cs typeface="Noto Sans ExtraCondensed" pitchFamily="34" charset="-120"/>
              </a:rPr>
              <a:t>DATA SAFEGUARDS</a:t>
            </a:r>
            <a:endParaRPr lang="en-US" sz="2000" dirty="0"/>
          </a:p>
        </p:txBody>
      </p:sp>
      <p:sp>
        <p:nvSpPr>
          <p:cNvPr id="28" name="Shape 26"/>
          <p:cNvSpPr/>
          <p:nvPr/>
        </p:nvSpPr>
        <p:spPr>
          <a:xfrm>
            <a:off x="9171432" y="2450592"/>
            <a:ext cx="109728" cy="109728"/>
          </a:xfrm>
          <a:prstGeom prst="ellipse">
            <a:avLst/>
          </a:prstGeom>
          <a:solidFill>
            <a:srgbClr val="00A3E0"/>
          </a:solidFill>
          <a:ln w="12700">
            <a:solidFill>
              <a:srgbClr val="00A3E0"/>
            </a:solidFill>
            <a:prstDash val="solid"/>
          </a:ln>
        </p:spPr>
      </p:sp>
      <p:sp>
        <p:nvSpPr>
          <p:cNvPr id="29" name="Text 27"/>
          <p:cNvSpPr/>
          <p:nvPr/>
        </p:nvSpPr>
        <p:spPr>
          <a:xfrm>
            <a:off x="9372600" y="2331720"/>
            <a:ext cx="1673352" cy="539496"/>
          </a:xfrm>
          <a:prstGeom prst="rect">
            <a:avLst/>
          </a:prstGeom>
          <a:noFill/>
          <a:ln/>
        </p:spPr>
        <p:txBody>
          <a:bodyPr wrap="square" lIns="127" tIns="127" rIns="127" bIns="127" rtlCol="0" anchor="ctr"/>
          <a:lstStyle/>
          <a:p>
            <a:pP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Protect confidentiality</a:t>
            </a:r>
            <a:endParaRPr lang="en-US" sz="1450" dirty="0"/>
          </a:p>
        </p:txBody>
      </p:sp>
      <p:sp>
        <p:nvSpPr>
          <p:cNvPr id="30" name="Shape 28"/>
          <p:cNvSpPr/>
          <p:nvPr/>
        </p:nvSpPr>
        <p:spPr>
          <a:xfrm>
            <a:off x="9171432" y="3026664"/>
            <a:ext cx="109728" cy="109728"/>
          </a:xfrm>
          <a:prstGeom prst="ellipse">
            <a:avLst/>
          </a:prstGeom>
          <a:solidFill>
            <a:srgbClr val="00A3E0"/>
          </a:solidFill>
          <a:ln w="12700">
            <a:solidFill>
              <a:srgbClr val="00A3E0"/>
            </a:solidFill>
            <a:prstDash val="solid"/>
          </a:ln>
        </p:spPr>
      </p:sp>
      <p:sp>
        <p:nvSpPr>
          <p:cNvPr id="31" name="Text 29"/>
          <p:cNvSpPr/>
          <p:nvPr/>
        </p:nvSpPr>
        <p:spPr>
          <a:xfrm>
            <a:off x="9372600" y="2907792"/>
            <a:ext cx="1673352" cy="539496"/>
          </a:xfrm>
          <a:prstGeom prst="rect">
            <a:avLst/>
          </a:prstGeom>
          <a:noFill/>
          <a:ln/>
        </p:spPr>
        <p:txBody>
          <a:bodyPr wrap="square" lIns="127" tIns="127" rIns="127" bIns="127" rtlCol="0" anchor="ctr"/>
          <a:lstStyle/>
          <a:p>
            <a:pP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Avoid identifying small groups</a:t>
            </a:r>
            <a:endParaRPr lang="en-US" sz="1450" dirty="0"/>
          </a:p>
        </p:txBody>
      </p:sp>
      <p:sp>
        <p:nvSpPr>
          <p:cNvPr id="32" name="Shape 30"/>
          <p:cNvSpPr/>
          <p:nvPr/>
        </p:nvSpPr>
        <p:spPr>
          <a:xfrm>
            <a:off x="9171432" y="3602736"/>
            <a:ext cx="109728" cy="109728"/>
          </a:xfrm>
          <a:prstGeom prst="ellipse">
            <a:avLst/>
          </a:prstGeom>
          <a:solidFill>
            <a:srgbClr val="00A3E0"/>
          </a:solidFill>
          <a:ln w="12700">
            <a:solidFill>
              <a:srgbClr val="00A3E0"/>
            </a:solidFill>
            <a:prstDash val="solid"/>
          </a:ln>
        </p:spPr>
      </p:sp>
      <p:sp>
        <p:nvSpPr>
          <p:cNvPr id="33" name="Text 31"/>
          <p:cNvSpPr/>
          <p:nvPr/>
        </p:nvSpPr>
        <p:spPr>
          <a:xfrm>
            <a:off x="9372600" y="3483864"/>
            <a:ext cx="1673352" cy="539496"/>
          </a:xfrm>
          <a:prstGeom prst="rect">
            <a:avLst/>
          </a:prstGeom>
          <a:noFill/>
          <a:ln/>
        </p:spPr>
        <p:txBody>
          <a:bodyPr wrap="square" lIns="127" tIns="127" rIns="127" bIns="127" rtlCol="0" anchor="ctr"/>
          <a:lstStyle/>
          <a:p>
            <a:pP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Explain why data are collected</a:t>
            </a:r>
            <a:endParaRPr lang="en-US" sz="1450" dirty="0"/>
          </a:p>
        </p:txBody>
      </p:sp>
      <p:sp>
        <p:nvSpPr>
          <p:cNvPr id="34" name="Shape 32"/>
          <p:cNvSpPr/>
          <p:nvPr/>
        </p:nvSpPr>
        <p:spPr>
          <a:xfrm>
            <a:off x="9171432" y="4178808"/>
            <a:ext cx="109728" cy="109728"/>
          </a:xfrm>
          <a:prstGeom prst="ellipse">
            <a:avLst/>
          </a:prstGeom>
          <a:solidFill>
            <a:srgbClr val="00A3E0"/>
          </a:solidFill>
          <a:ln w="12700">
            <a:solidFill>
              <a:srgbClr val="00A3E0"/>
            </a:solidFill>
            <a:prstDash val="solid"/>
          </a:ln>
        </p:spPr>
      </p:sp>
      <p:sp>
        <p:nvSpPr>
          <p:cNvPr id="35" name="Text 33"/>
          <p:cNvSpPr/>
          <p:nvPr/>
        </p:nvSpPr>
        <p:spPr>
          <a:xfrm>
            <a:off x="9372600" y="4059936"/>
            <a:ext cx="1673352" cy="539496"/>
          </a:xfrm>
          <a:prstGeom prst="rect">
            <a:avLst/>
          </a:prstGeom>
          <a:noFill/>
          <a:ln/>
        </p:spPr>
        <p:txBody>
          <a:bodyPr wrap="square" lIns="127" tIns="127" rIns="127" bIns="127" rtlCol="0" anchor="ctr"/>
          <a:lstStyle/>
          <a:p>
            <a:pP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Separate prevention from punitive monitoring</a:t>
            </a:r>
            <a:endParaRPr lang="en-US" sz="1450" dirty="0"/>
          </a:p>
        </p:txBody>
      </p:sp>
      <p:sp>
        <p:nvSpPr>
          <p:cNvPr id="36" name="Shape 34"/>
          <p:cNvSpPr/>
          <p:nvPr/>
        </p:nvSpPr>
        <p:spPr>
          <a:xfrm>
            <a:off x="9171432" y="4754880"/>
            <a:ext cx="109728" cy="109728"/>
          </a:xfrm>
          <a:prstGeom prst="ellipse">
            <a:avLst/>
          </a:prstGeom>
          <a:solidFill>
            <a:srgbClr val="00A3E0"/>
          </a:solidFill>
          <a:ln w="12700">
            <a:solidFill>
              <a:srgbClr val="00A3E0"/>
            </a:solidFill>
            <a:prstDash val="solid"/>
          </a:ln>
        </p:spPr>
      </p:sp>
      <p:sp>
        <p:nvSpPr>
          <p:cNvPr id="37" name="Text 35"/>
          <p:cNvSpPr/>
          <p:nvPr/>
        </p:nvSpPr>
        <p:spPr>
          <a:xfrm>
            <a:off x="9372600" y="4636008"/>
            <a:ext cx="1673352" cy="539496"/>
          </a:xfrm>
          <a:prstGeom prst="rect">
            <a:avLst/>
          </a:prstGeom>
          <a:noFill/>
          <a:ln/>
        </p:spPr>
        <p:txBody>
          <a:bodyPr wrap="square" lIns="127" tIns="127" rIns="127" bIns="127" rtlCol="0" anchor="ctr"/>
          <a:lstStyle/>
          <a:p>
            <a:pPr indent="0" marL="0">
              <a:buNone/>
            </a:pPr>
            <a:r>
              <a:rPr lang="en-US" sz="1450" dirty="0">
                <a:solidFill>
                  <a:srgbClr val="2B2A29"/>
                </a:solidFill>
                <a:latin typeface="Noto Sans SemiCondensed" pitchFamily="34" charset="0"/>
                <a:ea typeface="Noto Sans SemiCondensed" pitchFamily="34" charset="-122"/>
                <a:cs typeface="Noto Sans SemiCondensed" pitchFamily="34" charset="-120"/>
              </a:rPr>
              <a:t>Combine numbers with worker experience</a:t>
            </a:r>
            <a:endParaRPr lang="en-US" sz="1450" dirty="0"/>
          </a:p>
        </p:txBody>
      </p:sp>
      <p:sp>
        <p:nvSpPr>
          <p:cNvPr id="38" name="Text 36"/>
          <p:cNvSpPr/>
          <p:nvPr/>
        </p:nvSpPr>
        <p:spPr>
          <a:xfrm>
            <a:off x="960120" y="5989320"/>
            <a:ext cx="7452360" cy="310896"/>
          </a:xfrm>
          <a:prstGeom prst="rect">
            <a:avLst/>
          </a:prstGeom>
          <a:noFill/>
          <a:ln/>
        </p:spPr>
        <p:txBody>
          <a:bodyPr wrap="square" lIns="0" tIns="0" rIns="0" bIns="0" rtlCol="0" anchor="ctr"/>
          <a:lstStyle/>
          <a:p>
            <a:pPr indent="0" marL="0">
              <a:buNone/>
            </a:pPr>
            <a:r>
              <a:rPr lang="en-US" sz="1900" b="1" dirty="0">
                <a:solidFill>
                  <a:srgbClr val="284B96"/>
                </a:solidFill>
                <a:latin typeface="Noto Sans SemiCondensed" pitchFamily="34" charset="0"/>
                <a:ea typeface="Noto Sans SemiCondensed" pitchFamily="34" charset="-122"/>
                <a:cs typeface="Noto Sans SemiCondensed" pitchFamily="34" charset="-120"/>
              </a:rPr>
              <a:t>Measure change - not only activity.</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NEXT STEPS</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A practical 30-60-90 day agenda</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29</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Shape 6"/>
          <p:cNvSpPr/>
          <p:nvPr/>
        </p:nvSpPr>
        <p:spPr>
          <a:xfrm>
            <a:off x="640080" y="1325880"/>
            <a:ext cx="3429000" cy="4526280"/>
          </a:xfrm>
          <a:prstGeom prst="roundRect">
            <a:avLst/>
          </a:prstGeom>
          <a:solidFill>
            <a:srgbClr val="FFFFFF"/>
          </a:solidFill>
          <a:ln w="27940">
            <a:solidFill>
              <a:srgbClr val="00A3E0"/>
            </a:solidFill>
            <a:prstDash val="solid"/>
          </a:ln>
        </p:spPr>
      </p:sp>
      <p:sp>
        <p:nvSpPr>
          <p:cNvPr id="9" name="Text 7"/>
          <p:cNvSpPr/>
          <p:nvPr/>
        </p:nvSpPr>
        <p:spPr>
          <a:xfrm>
            <a:off x="987552" y="1627632"/>
            <a:ext cx="1143000" cy="713232"/>
          </a:xfrm>
          <a:prstGeom prst="rect">
            <a:avLst/>
          </a:prstGeom>
          <a:noFill/>
          <a:ln/>
        </p:spPr>
        <p:txBody>
          <a:bodyPr wrap="square" lIns="0" tIns="0" rIns="0" bIns="0" rtlCol="0" anchor="ctr"/>
          <a:lstStyle/>
          <a:p>
            <a:pPr algn="ctr" indent="0" marL="0">
              <a:buNone/>
            </a:pPr>
            <a:r>
              <a:rPr lang="en-US" sz="4800" b="1" dirty="0">
                <a:solidFill>
                  <a:srgbClr val="00A3E0"/>
                </a:solidFill>
                <a:latin typeface="Noto Sans ExtraCondensed" pitchFamily="34" charset="0"/>
                <a:ea typeface="Noto Sans ExtraCondensed" pitchFamily="34" charset="-122"/>
                <a:cs typeface="Noto Sans ExtraCondensed" pitchFamily="34" charset="-120"/>
              </a:rPr>
              <a:t>30</a:t>
            </a:r>
            <a:endParaRPr lang="en-US" sz="4800" dirty="0"/>
          </a:p>
        </p:txBody>
      </p:sp>
      <p:sp>
        <p:nvSpPr>
          <p:cNvPr id="10" name="Text 8"/>
          <p:cNvSpPr/>
          <p:nvPr/>
        </p:nvSpPr>
        <p:spPr>
          <a:xfrm>
            <a:off x="2057400" y="1874520"/>
            <a:ext cx="1325880" cy="310896"/>
          </a:xfrm>
          <a:prstGeom prst="rect">
            <a:avLst/>
          </a:prstGeom>
          <a:noFill/>
          <a:ln/>
        </p:spPr>
        <p:txBody>
          <a:bodyPr wrap="square" lIns="0" tIns="0" rIns="0" bIns="0" rtlCol="0" anchor="ctr"/>
          <a:lstStyle/>
          <a:p>
            <a:pPr indent="0" marL="0">
              <a:buNone/>
            </a:pPr>
            <a:r>
              <a:rPr lang="en-US" sz="2200" b="1" dirty="0">
                <a:solidFill>
                  <a:srgbClr val="00A3E0"/>
                </a:solidFill>
                <a:latin typeface="Noto Sans ExtraCondensed" pitchFamily="34" charset="0"/>
                <a:ea typeface="Noto Sans ExtraCondensed" pitchFamily="34" charset="-122"/>
                <a:cs typeface="Noto Sans ExtraCondensed" pitchFamily="34" charset="-120"/>
              </a:rPr>
              <a:t>DAYS</a:t>
            </a:r>
            <a:endParaRPr lang="en-US" sz="2200" dirty="0"/>
          </a:p>
        </p:txBody>
      </p:sp>
      <p:sp>
        <p:nvSpPr>
          <p:cNvPr id="11" name="Shape 9"/>
          <p:cNvSpPr/>
          <p:nvPr/>
        </p:nvSpPr>
        <p:spPr>
          <a:xfrm>
            <a:off x="1024128" y="2487168"/>
            <a:ext cx="2651760" cy="0"/>
          </a:xfrm>
          <a:prstGeom prst="line">
            <a:avLst/>
          </a:prstGeom>
          <a:noFill/>
          <a:ln w="25400">
            <a:solidFill>
              <a:srgbClr val="00A3E0"/>
            </a:solidFill>
            <a:prstDash val="solid"/>
          </a:ln>
        </p:spPr>
      </p:sp>
      <p:sp>
        <p:nvSpPr>
          <p:cNvPr id="12" name="Shape 10"/>
          <p:cNvSpPr/>
          <p:nvPr/>
        </p:nvSpPr>
        <p:spPr>
          <a:xfrm>
            <a:off x="1024128" y="2907792"/>
            <a:ext cx="109728" cy="109728"/>
          </a:xfrm>
          <a:prstGeom prst="ellipse">
            <a:avLst/>
          </a:prstGeom>
          <a:solidFill>
            <a:srgbClr val="00A3E0"/>
          </a:solidFill>
          <a:ln w="12700">
            <a:solidFill>
              <a:srgbClr val="00A3E0"/>
            </a:solidFill>
            <a:prstDash val="solid"/>
          </a:ln>
        </p:spPr>
      </p:sp>
      <p:sp>
        <p:nvSpPr>
          <p:cNvPr id="13" name="Text 11"/>
          <p:cNvSpPr/>
          <p:nvPr/>
        </p:nvSpPr>
        <p:spPr>
          <a:xfrm>
            <a:off x="1225296" y="2788920"/>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Map high-risk tasks and workforce groups</a:t>
            </a:r>
            <a:endParaRPr lang="en-US" sz="1500" dirty="0"/>
          </a:p>
        </p:txBody>
      </p:sp>
      <p:sp>
        <p:nvSpPr>
          <p:cNvPr id="14" name="Shape 12"/>
          <p:cNvSpPr/>
          <p:nvPr/>
        </p:nvSpPr>
        <p:spPr>
          <a:xfrm>
            <a:off x="1024128" y="3566160"/>
            <a:ext cx="109728" cy="109728"/>
          </a:xfrm>
          <a:prstGeom prst="ellipse">
            <a:avLst/>
          </a:prstGeom>
          <a:solidFill>
            <a:srgbClr val="00A3E0"/>
          </a:solidFill>
          <a:ln w="12700">
            <a:solidFill>
              <a:srgbClr val="00A3E0"/>
            </a:solidFill>
            <a:prstDash val="solid"/>
          </a:ln>
        </p:spPr>
      </p:sp>
      <p:sp>
        <p:nvSpPr>
          <p:cNvPr id="15" name="Text 13"/>
          <p:cNvSpPr/>
          <p:nvPr/>
        </p:nvSpPr>
        <p:spPr>
          <a:xfrm>
            <a:off x="1225296" y="3447288"/>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Consult workers and representatives</a:t>
            </a:r>
            <a:endParaRPr lang="en-US" sz="1500" dirty="0"/>
          </a:p>
        </p:txBody>
      </p:sp>
      <p:sp>
        <p:nvSpPr>
          <p:cNvPr id="16" name="Shape 14"/>
          <p:cNvSpPr/>
          <p:nvPr/>
        </p:nvSpPr>
        <p:spPr>
          <a:xfrm>
            <a:off x="1024128" y="4224528"/>
            <a:ext cx="109728" cy="109728"/>
          </a:xfrm>
          <a:prstGeom prst="ellipse">
            <a:avLst/>
          </a:prstGeom>
          <a:solidFill>
            <a:srgbClr val="00A3E0"/>
          </a:solidFill>
          <a:ln w="12700">
            <a:solidFill>
              <a:srgbClr val="00A3E0"/>
            </a:solidFill>
            <a:prstDash val="solid"/>
          </a:ln>
        </p:spPr>
      </p:sp>
      <p:sp>
        <p:nvSpPr>
          <p:cNvPr id="17" name="Text 15"/>
          <p:cNvSpPr/>
          <p:nvPr/>
        </p:nvSpPr>
        <p:spPr>
          <a:xfrm>
            <a:off x="1225296" y="4105656"/>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Audit PPE, facilities and current data</a:t>
            </a:r>
            <a:endParaRPr lang="en-US" sz="1500" dirty="0"/>
          </a:p>
        </p:txBody>
      </p:sp>
      <p:sp>
        <p:nvSpPr>
          <p:cNvPr id="18" name="Shape 16"/>
          <p:cNvSpPr/>
          <p:nvPr/>
        </p:nvSpPr>
        <p:spPr>
          <a:xfrm>
            <a:off x="1024128" y="4882896"/>
            <a:ext cx="109728" cy="109728"/>
          </a:xfrm>
          <a:prstGeom prst="ellipse">
            <a:avLst/>
          </a:prstGeom>
          <a:solidFill>
            <a:srgbClr val="00A3E0"/>
          </a:solidFill>
          <a:ln w="12700">
            <a:solidFill>
              <a:srgbClr val="00A3E0"/>
            </a:solidFill>
            <a:prstDash val="solid"/>
          </a:ln>
        </p:spPr>
      </p:sp>
      <p:sp>
        <p:nvSpPr>
          <p:cNvPr id="19" name="Text 17"/>
          <p:cNvSpPr/>
          <p:nvPr/>
        </p:nvSpPr>
        <p:spPr>
          <a:xfrm>
            <a:off x="1225296" y="4764024"/>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Identify one urgent psychosocial risk</a:t>
            </a:r>
            <a:endParaRPr lang="en-US" sz="1500" dirty="0"/>
          </a:p>
        </p:txBody>
      </p:sp>
      <p:sp>
        <p:nvSpPr>
          <p:cNvPr id="20" name="Shape 18"/>
          <p:cNvSpPr/>
          <p:nvPr/>
        </p:nvSpPr>
        <p:spPr>
          <a:xfrm>
            <a:off x="4462272" y="1325880"/>
            <a:ext cx="3429000" cy="4526280"/>
          </a:xfrm>
          <a:prstGeom prst="roundRect">
            <a:avLst/>
          </a:prstGeom>
          <a:solidFill>
            <a:srgbClr val="FFFFFF"/>
          </a:solidFill>
          <a:ln w="27940">
            <a:solidFill>
              <a:srgbClr val="2E8B78"/>
            </a:solidFill>
            <a:prstDash val="solid"/>
          </a:ln>
        </p:spPr>
      </p:sp>
      <p:sp>
        <p:nvSpPr>
          <p:cNvPr id="21" name="Text 19"/>
          <p:cNvSpPr/>
          <p:nvPr/>
        </p:nvSpPr>
        <p:spPr>
          <a:xfrm>
            <a:off x="4809744" y="1627632"/>
            <a:ext cx="1143000" cy="713232"/>
          </a:xfrm>
          <a:prstGeom prst="rect">
            <a:avLst/>
          </a:prstGeom>
          <a:noFill/>
          <a:ln/>
        </p:spPr>
        <p:txBody>
          <a:bodyPr wrap="square" lIns="0" tIns="0" rIns="0" bIns="0" rtlCol="0" anchor="ctr"/>
          <a:lstStyle/>
          <a:p>
            <a:pPr algn="ctr" indent="0" marL="0">
              <a:buNone/>
            </a:pPr>
            <a:r>
              <a:rPr lang="en-US" sz="4800" b="1" dirty="0">
                <a:solidFill>
                  <a:srgbClr val="2E8B78"/>
                </a:solidFill>
                <a:latin typeface="Noto Sans ExtraCondensed" pitchFamily="34" charset="0"/>
                <a:ea typeface="Noto Sans ExtraCondensed" pitchFamily="34" charset="-122"/>
                <a:cs typeface="Noto Sans ExtraCondensed" pitchFamily="34" charset="-120"/>
              </a:rPr>
              <a:t>60</a:t>
            </a:r>
            <a:endParaRPr lang="en-US" sz="4800" dirty="0"/>
          </a:p>
        </p:txBody>
      </p:sp>
      <p:sp>
        <p:nvSpPr>
          <p:cNvPr id="22" name="Text 20"/>
          <p:cNvSpPr/>
          <p:nvPr/>
        </p:nvSpPr>
        <p:spPr>
          <a:xfrm>
            <a:off x="5879592" y="1874520"/>
            <a:ext cx="1325880" cy="310896"/>
          </a:xfrm>
          <a:prstGeom prst="rect">
            <a:avLst/>
          </a:prstGeom>
          <a:noFill/>
          <a:ln/>
        </p:spPr>
        <p:txBody>
          <a:bodyPr wrap="square" lIns="0" tIns="0" rIns="0" bIns="0" rtlCol="0" anchor="ctr"/>
          <a:lstStyle/>
          <a:p>
            <a:pPr indent="0" marL="0">
              <a:buNone/>
            </a:pPr>
            <a:r>
              <a:rPr lang="en-US" sz="2200" b="1" dirty="0">
                <a:solidFill>
                  <a:srgbClr val="2E8B78"/>
                </a:solidFill>
                <a:latin typeface="Noto Sans ExtraCondensed" pitchFamily="34" charset="0"/>
                <a:ea typeface="Noto Sans ExtraCondensed" pitchFamily="34" charset="-122"/>
                <a:cs typeface="Noto Sans ExtraCondensed" pitchFamily="34" charset="-120"/>
              </a:rPr>
              <a:t>DAYS</a:t>
            </a:r>
            <a:endParaRPr lang="en-US" sz="2200" dirty="0"/>
          </a:p>
        </p:txBody>
      </p:sp>
      <p:sp>
        <p:nvSpPr>
          <p:cNvPr id="23" name="Shape 21"/>
          <p:cNvSpPr/>
          <p:nvPr/>
        </p:nvSpPr>
        <p:spPr>
          <a:xfrm>
            <a:off x="4846320" y="2487168"/>
            <a:ext cx="2651760" cy="0"/>
          </a:xfrm>
          <a:prstGeom prst="line">
            <a:avLst/>
          </a:prstGeom>
          <a:noFill/>
          <a:ln w="25400">
            <a:solidFill>
              <a:srgbClr val="2E8B78"/>
            </a:solidFill>
            <a:prstDash val="solid"/>
          </a:ln>
        </p:spPr>
      </p:sp>
      <p:sp>
        <p:nvSpPr>
          <p:cNvPr id="24" name="Shape 22"/>
          <p:cNvSpPr/>
          <p:nvPr/>
        </p:nvSpPr>
        <p:spPr>
          <a:xfrm>
            <a:off x="4846320" y="2907792"/>
            <a:ext cx="109728" cy="109728"/>
          </a:xfrm>
          <a:prstGeom prst="ellipse">
            <a:avLst/>
          </a:prstGeom>
          <a:solidFill>
            <a:srgbClr val="2E8B78"/>
          </a:solidFill>
          <a:ln w="12700">
            <a:solidFill>
              <a:srgbClr val="2E8B78"/>
            </a:solidFill>
            <a:prstDash val="solid"/>
          </a:ln>
        </p:spPr>
      </p:sp>
      <p:sp>
        <p:nvSpPr>
          <p:cNvPr id="25" name="Text 23"/>
          <p:cNvSpPr/>
          <p:nvPr/>
        </p:nvSpPr>
        <p:spPr>
          <a:xfrm>
            <a:off x="5047488" y="2788920"/>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Pilot corrected PPE or work design</a:t>
            </a:r>
            <a:endParaRPr lang="en-US" sz="1500" dirty="0"/>
          </a:p>
        </p:txBody>
      </p:sp>
      <p:sp>
        <p:nvSpPr>
          <p:cNvPr id="26" name="Shape 24"/>
          <p:cNvSpPr/>
          <p:nvPr/>
        </p:nvSpPr>
        <p:spPr>
          <a:xfrm>
            <a:off x="4846320" y="3566160"/>
            <a:ext cx="109728" cy="109728"/>
          </a:xfrm>
          <a:prstGeom prst="ellipse">
            <a:avLst/>
          </a:prstGeom>
          <a:solidFill>
            <a:srgbClr val="2E8B78"/>
          </a:solidFill>
          <a:ln w="12700">
            <a:solidFill>
              <a:srgbClr val="2E8B78"/>
            </a:solidFill>
            <a:prstDash val="solid"/>
          </a:ln>
        </p:spPr>
      </p:sp>
      <p:sp>
        <p:nvSpPr>
          <p:cNvPr id="27" name="Text 25"/>
          <p:cNvSpPr/>
          <p:nvPr/>
        </p:nvSpPr>
        <p:spPr>
          <a:xfrm>
            <a:off x="5047488" y="3447288"/>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Update fatigue and emergency protocols</a:t>
            </a:r>
            <a:endParaRPr lang="en-US" sz="1500" dirty="0"/>
          </a:p>
        </p:txBody>
      </p:sp>
      <p:sp>
        <p:nvSpPr>
          <p:cNvPr id="28" name="Shape 26"/>
          <p:cNvSpPr/>
          <p:nvPr/>
        </p:nvSpPr>
        <p:spPr>
          <a:xfrm>
            <a:off x="4846320" y="4224528"/>
            <a:ext cx="109728" cy="109728"/>
          </a:xfrm>
          <a:prstGeom prst="ellipse">
            <a:avLst/>
          </a:prstGeom>
          <a:solidFill>
            <a:srgbClr val="2E8B78"/>
          </a:solidFill>
          <a:ln w="12700">
            <a:solidFill>
              <a:srgbClr val="2E8B78"/>
            </a:solidFill>
            <a:prstDash val="solid"/>
          </a:ln>
        </p:spPr>
      </p:sp>
      <p:sp>
        <p:nvSpPr>
          <p:cNvPr id="29" name="Text 27"/>
          <p:cNvSpPr/>
          <p:nvPr/>
        </p:nvSpPr>
        <p:spPr>
          <a:xfrm>
            <a:off x="5047488" y="4105656"/>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Launch targeted skills or mentoring pathways</a:t>
            </a:r>
            <a:endParaRPr lang="en-US" sz="1500" dirty="0"/>
          </a:p>
        </p:txBody>
      </p:sp>
      <p:sp>
        <p:nvSpPr>
          <p:cNvPr id="30" name="Shape 28"/>
          <p:cNvSpPr/>
          <p:nvPr/>
        </p:nvSpPr>
        <p:spPr>
          <a:xfrm>
            <a:off x="4846320" y="4882896"/>
            <a:ext cx="109728" cy="109728"/>
          </a:xfrm>
          <a:prstGeom prst="ellipse">
            <a:avLst/>
          </a:prstGeom>
          <a:solidFill>
            <a:srgbClr val="2E8B78"/>
          </a:solidFill>
          <a:ln w="12700">
            <a:solidFill>
              <a:srgbClr val="2E8B78"/>
            </a:solidFill>
            <a:prstDash val="solid"/>
          </a:ln>
        </p:spPr>
      </p:sp>
      <p:sp>
        <p:nvSpPr>
          <p:cNvPr id="31" name="Text 29"/>
          <p:cNvSpPr/>
          <p:nvPr/>
        </p:nvSpPr>
        <p:spPr>
          <a:xfrm>
            <a:off x="5047488" y="4764024"/>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Define reporting and support routes</a:t>
            </a:r>
            <a:endParaRPr lang="en-US" sz="1500" dirty="0"/>
          </a:p>
        </p:txBody>
      </p:sp>
      <p:sp>
        <p:nvSpPr>
          <p:cNvPr id="32" name="Shape 30"/>
          <p:cNvSpPr/>
          <p:nvPr/>
        </p:nvSpPr>
        <p:spPr>
          <a:xfrm>
            <a:off x="8284464" y="1325880"/>
            <a:ext cx="3429000" cy="4526280"/>
          </a:xfrm>
          <a:prstGeom prst="roundRect">
            <a:avLst/>
          </a:prstGeom>
          <a:solidFill>
            <a:srgbClr val="FFFFFF"/>
          </a:solidFill>
          <a:ln w="27940">
            <a:solidFill>
              <a:srgbClr val="E7A33E"/>
            </a:solidFill>
            <a:prstDash val="solid"/>
          </a:ln>
        </p:spPr>
      </p:sp>
      <p:sp>
        <p:nvSpPr>
          <p:cNvPr id="33" name="Text 31"/>
          <p:cNvSpPr/>
          <p:nvPr/>
        </p:nvSpPr>
        <p:spPr>
          <a:xfrm>
            <a:off x="8631936" y="1627632"/>
            <a:ext cx="1143000" cy="713232"/>
          </a:xfrm>
          <a:prstGeom prst="rect">
            <a:avLst/>
          </a:prstGeom>
          <a:noFill/>
          <a:ln/>
        </p:spPr>
        <p:txBody>
          <a:bodyPr wrap="square" lIns="0" tIns="0" rIns="0" bIns="0" rtlCol="0" anchor="ctr"/>
          <a:lstStyle/>
          <a:p>
            <a:pPr algn="ctr" indent="0" marL="0">
              <a:buNone/>
            </a:pPr>
            <a:r>
              <a:rPr lang="en-US" sz="4800" b="1" dirty="0">
                <a:solidFill>
                  <a:srgbClr val="E7A33E"/>
                </a:solidFill>
                <a:latin typeface="Noto Sans ExtraCondensed" pitchFamily="34" charset="0"/>
                <a:ea typeface="Noto Sans ExtraCondensed" pitchFamily="34" charset="-122"/>
                <a:cs typeface="Noto Sans ExtraCondensed" pitchFamily="34" charset="-120"/>
              </a:rPr>
              <a:t>90</a:t>
            </a:r>
            <a:endParaRPr lang="en-US" sz="4800" dirty="0"/>
          </a:p>
        </p:txBody>
      </p:sp>
      <p:sp>
        <p:nvSpPr>
          <p:cNvPr id="34" name="Text 32"/>
          <p:cNvSpPr/>
          <p:nvPr/>
        </p:nvSpPr>
        <p:spPr>
          <a:xfrm>
            <a:off x="9701784" y="1874520"/>
            <a:ext cx="1325880" cy="310896"/>
          </a:xfrm>
          <a:prstGeom prst="rect">
            <a:avLst/>
          </a:prstGeom>
          <a:noFill/>
          <a:ln/>
        </p:spPr>
        <p:txBody>
          <a:bodyPr wrap="square" lIns="0" tIns="0" rIns="0" bIns="0" rtlCol="0" anchor="ctr"/>
          <a:lstStyle/>
          <a:p>
            <a:pPr indent="0" marL="0">
              <a:buNone/>
            </a:pPr>
            <a:r>
              <a:rPr lang="en-US" sz="2200" b="1" dirty="0">
                <a:solidFill>
                  <a:srgbClr val="E7A33E"/>
                </a:solidFill>
                <a:latin typeface="Noto Sans ExtraCondensed" pitchFamily="34" charset="0"/>
                <a:ea typeface="Noto Sans ExtraCondensed" pitchFamily="34" charset="-122"/>
                <a:cs typeface="Noto Sans ExtraCondensed" pitchFamily="34" charset="-120"/>
              </a:rPr>
              <a:t>DAYS</a:t>
            </a:r>
            <a:endParaRPr lang="en-US" sz="2200" dirty="0"/>
          </a:p>
        </p:txBody>
      </p:sp>
      <p:sp>
        <p:nvSpPr>
          <p:cNvPr id="35" name="Shape 33"/>
          <p:cNvSpPr/>
          <p:nvPr/>
        </p:nvSpPr>
        <p:spPr>
          <a:xfrm>
            <a:off x="8668512" y="2487168"/>
            <a:ext cx="2651760" cy="0"/>
          </a:xfrm>
          <a:prstGeom prst="line">
            <a:avLst/>
          </a:prstGeom>
          <a:noFill/>
          <a:ln w="25400">
            <a:solidFill>
              <a:srgbClr val="E7A33E"/>
            </a:solidFill>
            <a:prstDash val="solid"/>
          </a:ln>
        </p:spPr>
      </p:sp>
      <p:sp>
        <p:nvSpPr>
          <p:cNvPr id="36" name="Shape 34"/>
          <p:cNvSpPr/>
          <p:nvPr/>
        </p:nvSpPr>
        <p:spPr>
          <a:xfrm>
            <a:off x="8668512" y="2907792"/>
            <a:ext cx="109728" cy="109728"/>
          </a:xfrm>
          <a:prstGeom prst="ellipse">
            <a:avLst/>
          </a:prstGeom>
          <a:solidFill>
            <a:srgbClr val="E7A33E"/>
          </a:solidFill>
          <a:ln w="12700">
            <a:solidFill>
              <a:srgbClr val="E7A33E"/>
            </a:solidFill>
            <a:prstDash val="solid"/>
          </a:ln>
        </p:spPr>
      </p:sp>
      <p:sp>
        <p:nvSpPr>
          <p:cNvPr id="37" name="Text 35"/>
          <p:cNvSpPr/>
          <p:nvPr/>
        </p:nvSpPr>
        <p:spPr>
          <a:xfrm>
            <a:off x="8869680" y="2788920"/>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Integrate actions into the OSH management system</a:t>
            </a:r>
            <a:endParaRPr lang="en-US" sz="1500" dirty="0"/>
          </a:p>
        </p:txBody>
      </p:sp>
      <p:sp>
        <p:nvSpPr>
          <p:cNvPr id="38" name="Shape 36"/>
          <p:cNvSpPr/>
          <p:nvPr/>
        </p:nvSpPr>
        <p:spPr>
          <a:xfrm>
            <a:off x="8668512" y="3566160"/>
            <a:ext cx="109728" cy="109728"/>
          </a:xfrm>
          <a:prstGeom prst="ellipse">
            <a:avLst/>
          </a:prstGeom>
          <a:solidFill>
            <a:srgbClr val="E7A33E"/>
          </a:solidFill>
          <a:ln w="12700">
            <a:solidFill>
              <a:srgbClr val="E7A33E"/>
            </a:solidFill>
            <a:prstDash val="solid"/>
          </a:ln>
        </p:spPr>
      </p:sp>
      <p:sp>
        <p:nvSpPr>
          <p:cNvPr id="39" name="Text 37"/>
          <p:cNvSpPr/>
          <p:nvPr/>
        </p:nvSpPr>
        <p:spPr>
          <a:xfrm>
            <a:off x="8869680" y="3447288"/>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Assign owners, resources and indicators</a:t>
            </a:r>
            <a:endParaRPr lang="en-US" sz="1500" dirty="0"/>
          </a:p>
        </p:txBody>
      </p:sp>
      <p:sp>
        <p:nvSpPr>
          <p:cNvPr id="40" name="Shape 38"/>
          <p:cNvSpPr/>
          <p:nvPr/>
        </p:nvSpPr>
        <p:spPr>
          <a:xfrm>
            <a:off x="8668512" y="4224528"/>
            <a:ext cx="109728" cy="109728"/>
          </a:xfrm>
          <a:prstGeom prst="ellipse">
            <a:avLst/>
          </a:prstGeom>
          <a:solidFill>
            <a:srgbClr val="E7A33E"/>
          </a:solidFill>
          <a:ln w="12700">
            <a:solidFill>
              <a:srgbClr val="E7A33E"/>
            </a:solidFill>
            <a:prstDash val="solid"/>
          </a:ln>
        </p:spPr>
      </p:sp>
      <p:sp>
        <p:nvSpPr>
          <p:cNvPr id="41" name="Text 39"/>
          <p:cNvSpPr/>
          <p:nvPr/>
        </p:nvSpPr>
        <p:spPr>
          <a:xfrm>
            <a:off x="8869680" y="4105656"/>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Embed requirements in procurement and contractor management</a:t>
            </a:r>
            <a:endParaRPr lang="en-US" sz="1500" dirty="0"/>
          </a:p>
        </p:txBody>
      </p:sp>
      <p:sp>
        <p:nvSpPr>
          <p:cNvPr id="42" name="Shape 40"/>
          <p:cNvSpPr/>
          <p:nvPr/>
        </p:nvSpPr>
        <p:spPr>
          <a:xfrm>
            <a:off x="8668512" y="4882896"/>
            <a:ext cx="109728" cy="109728"/>
          </a:xfrm>
          <a:prstGeom prst="ellipse">
            <a:avLst/>
          </a:prstGeom>
          <a:solidFill>
            <a:srgbClr val="E7A33E"/>
          </a:solidFill>
          <a:ln w="12700">
            <a:solidFill>
              <a:srgbClr val="E7A33E"/>
            </a:solidFill>
            <a:prstDash val="solid"/>
          </a:ln>
        </p:spPr>
      </p:sp>
      <p:sp>
        <p:nvSpPr>
          <p:cNvPr id="43" name="Text 41"/>
          <p:cNvSpPr/>
          <p:nvPr/>
        </p:nvSpPr>
        <p:spPr>
          <a:xfrm>
            <a:off x="8869680" y="4764024"/>
            <a:ext cx="2496312" cy="621792"/>
          </a:xfrm>
          <a:prstGeom prst="rect">
            <a:avLst/>
          </a:prstGeom>
          <a:noFill/>
          <a:ln/>
        </p:spPr>
        <p:txBody>
          <a:bodyPr wrap="square" lIns="127" tIns="127" rIns="127" bIns="127" rtlCol="0" anchor="ctr"/>
          <a:lstStyle/>
          <a:p>
            <a:pPr indent="0" marL="0">
              <a:buNone/>
            </a:pPr>
            <a:r>
              <a:rPr lang="en-US" sz="1500" dirty="0">
                <a:solidFill>
                  <a:srgbClr val="2B2A29"/>
                </a:solidFill>
                <a:latin typeface="Noto Sans SemiCondensed" pitchFamily="34" charset="0"/>
                <a:ea typeface="Noto Sans SemiCondensed" pitchFamily="34" charset="-122"/>
                <a:cs typeface="Noto Sans SemiCondensed" pitchFamily="34" charset="-120"/>
              </a:rPr>
              <a:t>Review results through social dialogue</a:t>
            </a:r>
            <a:endParaRPr lang="en-US" sz="1500" dirty="0"/>
          </a:p>
        </p:txBody>
      </p:sp>
      <p:sp>
        <p:nvSpPr>
          <p:cNvPr id="44" name="Text 42"/>
          <p:cNvSpPr/>
          <p:nvPr/>
        </p:nvSpPr>
        <p:spPr>
          <a:xfrm>
            <a:off x="1097280" y="6126480"/>
            <a:ext cx="10012680" cy="292608"/>
          </a:xfrm>
          <a:prstGeom prst="rect">
            <a:avLst/>
          </a:prstGeom>
          <a:noFill/>
          <a:ln/>
        </p:spPr>
        <p:txBody>
          <a:bodyPr wrap="square" lIns="0" tIns="0" rIns="0" bIns="0" rtlCol="0" anchor="ctr"/>
          <a:lstStyle/>
          <a:p>
            <a:pPr algn="ctr" indent="0" marL="0">
              <a:buNone/>
            </a:pPr>
            <a:r>
              <a:rPr lang="en-US" sz="1900" b="1" dirty="0">
                <a:solidFill>
                  <a:srgbClr val="284B96"/>
                </a:solidFill>
                <a:latin typeface="Noto Sans SemiCondensed" pitchFamily="34" charset="0"/>
                <a:ea typeface="Noto Sans SemiCondensed" pitchFamily="34" charset="-122"/>
                <a:cs typeface="Noto Sans SemiCondensed" pitchFamily="34" charset="-120"/>
              </a:rPr>
              <a:t>Choose one action with a named owner before the session ends.</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84B96"/>
        </a:solidFill>
      </p:bgPr>
    </p:bg>
    <p:spTree>
      <p:nvGrpSpPr>
        <p:cNvPr id="1" name=""/>
        <p:cNvGrpSpPr/>
        <p:nvPr/>
      </p:nvGrpSpPr>
      <p:grpSpPr>
        <a:xfrm>
          <a:off x="0" y="0"/>
          <a:ext cx="0" cy="0"/>
          <a:chOff x="0" y="0"/>
          <a:chExt cx="0" cy="0"/>
        </a:xfrm>
      </p:grpSpPr>
      <p:sp>
        <p:nvSpPr>
          <p:cNvPr id="2" name="Text 0"/>
          <p:cNvSpPr/>
          <p:nvPr/>
        </p:nvSpPr>
        <p:spPr>
          <a:xfrm>
            <a:off x="822960" y="1188720"/>
            <a:ext cx="4526280" cy="658368"/>
          </a:xfrm>
          <a:prstGeom prst="rect">
            <a:avLst/>
          </a:prstGeom>
          <a:noFill/>
          <a:ln/>
        </p:spPr>
        <p:txBody>
          <a:bodyPr wrap="square" lIns="0" tIns="0" rIns="0" bIns="0" rtlCol="0" anchor="ctr"/>
          <a:lstStyle/>
          <a:p>
            <a:pPr algn="ctr" indent="0" marL="0">
              <a:buNone/>
            </a:pPr>
            <a:r>
              <a:rPr lang="en-US" sz="3900" b="1" dirty="0">
                <a:solidFill>
                  <a:srgbClr val="C95B61"/>
                </a:solidFill>
                <a:latin typeface="Noto Sans ExtraCondensed" pitchFamily="34" charset="0"/>
                <a:ea typeface="Noto Sans ExtraCondensed" pitchFamily="34" charset="-122"/>
                <a:cs typeface="Noto Sans ExtraCondensed" pitchFamily="34" charset="-120"/>
              </a:rPr>
              <a:t>SAFE</a:t>
            </a:r>
            <a:endParaRPr lang="en-US" sz="3900" dirty="0"/>
          </a:p>
        </p:txBody>
      </p:sp>
      <p:sp>
        <p:nvSpPr>
          <p:cNvPr id="3" name="Text 1"/>
          <p:cNvSpPr/>
          <p:nvPr/>
        </p:nvSpPr>
        <p:spPr>
          <a:xfrm>
            <a:off x="6812280" y="1188720"/>
            <a:ext cx="4526280" cy="658368"/>
          </a:xfrm>
          <a:prstGeom prst="rect">
            <a:avLst/>
          </a:prstGeom>
          <a:noFill/>
          <a:ln/>
        </p:spPr>
        <p:txBody>
          <a:bodyPr wrap="square" lIns="0" tIns="0" rIns="0" bIns="0" rtlCol="0" anchor="ctr"/>
          <a:lstStyle/>
          <a:p>
            <a:pPr algn="ctr" indent="0" marL="0">
              <a:buNone/>
            </a:pPr>
            <a:r>
              <a:rPr lang="en-US" sz="3900" b="1" dirty="0">
                <a:solidFill>
                  <a:srgbClr val="00A3E0"/>
                </a:solidFill>
                <a:latin typeface="Noto Sans ExtraCondensed" pitchFamily="34" charset="0"/>
                <a:ea typeface="Noto Sans ExtraCondensed" pitchFamily="34" charset="-122"/>
                <a:cs typeface="Noto Sans ExtraCondensed" pitchFamily="34" charset="-120"/>
              </a:rPr>
              <a:t>INCLUSIVE</a:t>
            </a:r>
            <a:endParaRPr lang="en-US" sz="3900" dirty="0"/>
          </a:p>
        </p:txBody>
      </p:sp>
      <p:sp>
        <p:nvSpPr>
          <p:cNvPr id="4" name="Text 2"/>
          <p:cNvSpPr/>
          <p:nvPr/>
        </p:nvSpPr>
        <p:spPr>
          <a:xfrm>
            <a:off x="822960" y="2907792"/>
            <a:ext cx="4526280" cy="658368"/>
          </a:xfrm>
          <a:prstGeom prst="rect">
            <a:avLst/>
          </a:prstGeom>
          <a:noFill/>
          <a:ln/>
        </p:spPr>
        <p:txBody>
          <a:bodyPr wrap="square" lIns="0" tIns="0" rIns="0" bIns="0" rtlCol="0" anchor="ctr"/>
          <a:lstStyle/>
          <a:p>
            <a:pPr algn="ctr" indent="0" marL="0">
              <a:buNone/>
            </a:pPr>
            <a:r>
              <a:rPr lang="en-US" sz="3900" b="1" dirty="0">
                <a:solidFill>
                  <a:srgbClr val="2E8B78"/>
                </a:solidFill>
                <a:latin typeface="Noto Sans ExtraCondensed" pitchFamily="34" charset="0"/>
                <a:ea typeface="Noto Sans ExtraCondensed" pitchFamily="34" charset="-122"/>
                <a:cs typeface="Noto Sans ExtraCondensed" pitchFamily="34" charset="-120"/>
              </a:rPr>
              <a:t>SKILLED</a:t>
            </a:r>
            <a:endParaRPr lang="en-US" sz="3900" dirty="0"/>
          </a:p>
        </p:txBody>
      </p:sp>
      <p:sp>
        <p:nvSpPr>
          <p:cNvPr id="5" name="Text 3"/>
          <p:cNvSpPr/>
          <p:nvPr/>
        </p:nvSpPr>
        <p:spPr>
          <a:xfrm>
            <a:off x="6812280" y="2907792"/>
            <a:ext cx="4526280" cy="658368"/>
          </a:xfrm>
          <a:prstGeom prst="rect">
            <a:avLst/>
          </a:prstGeom>
          <a:noFill/>
          <a:ln/>
        </p:spPr>
        <p:txBody>
          <a:bodyPr wrap="square" lIns="0" tIns="0" rIns="0" bIns="0" rtlCol="0" anchor="ctr"/>
          <a:lstStyle/>
          <a:p>
            <a:pPr algn="ctr" indent="0" marL="0">
              <a:buNone/>
            </a:pPr>
            <a:r>
              <a:rPr lang="en-US" sz="3900" b="1" dirty="0">
                <a:solidFill>
                  <a:srgbClr val="E7A33E"/>
                </a:solidFill>
                <a:latin typeface="Noto Sans ExtraCondensed" pitchFamily="34" charset="0"/>
                <a:ea typeface="Noto Sans ExtraCondensed" pitchFamily="34" charset="-122"/>
                <a:cs typeface="Noto Sans ExtraCondensed" pitchFamily="34" charset="-120"/>
              </a:rPr>
              <a:t>PARTICIPATORY</a:t>
            </a:r>
            <a:endParaRPr lang="en-US" sz="3900" dirty="0"/>
          </a:p>
        </p:txBody>
      </p:sp>
      <p:sp>
        <p:nvSpPr>
          <p:cNvPr id="6" name="Shape 4"/>
          <p:cNvSpPr/>
          <p:nvPr/>
        </p:nvSpPr>
        <p:spPr>
          <a:xfrm>
            <a:off x="1097280" y="4754880"/>
            <a:ext cx="10012680" cy="0"/>
          </a:xfrm>
          <a:prstGeom prst="line">
            <a:avLst/>
          </a:prstGeom>
          <a:noFill/>
          <a:ln w="19050">
            <a:solidFill>
              <a:srgbClr val="FFFFFF">
                <a:alpha val="45000"/>
              </a:srgbClr>
            </a:solidFill>
            <a:prstDash val="solid"/>
          </a:ln>
        </p:spPr>
      </p:sp>
      <p:sp>
        <p:nvSpPr>
          <p:cNvPr id="7" name="Text 5"/>
          <p:cNvSpPr/>
          <p:nvPr/>
        </p:nvSpPr>
        <p:spPr>
          <a:xfrm>
            <a:off x="1051560" y="5074920"/>
            <a:ext cx="1010412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Noto Sans SemiCondensed" pitchFamily="34" charset="0"/>
                <a:ea typeface="Noto Sans SemiCondensed" pitchFamily="34" charset="-122"/>
                <a:cs typeface="Noto Sans SemiCondensed" pitchFamily="34" charset="-120"/>
              </a:rPr>
              <a:t>The future of energy work is not only cleaner and smarter.</a:t>
            </a:r>
            <a:endParaRPr lang="en-US" sz="2400" dirty="0"/>
          </a:p>
          <a:p>
            <a:pPr algn="ctr" indent="0" marL="0">
              <a:buNone/>
            </a:pPr>
            <a:r>
              <a:rPr lang="en-US" sz="2400" b="1" dirty="0">
                <a:solidFill>
                  <a:srgbClr val="FFFFFF"/>
                </a:solidFill>
                <a:latin typeface="Noto Sans SemiCondensed" pitchFamily="34" charset="0"/>
                <a:ea typeface="Noto Sans SemiCondensed" pitchFamily="34" charset="-122"/>
                <a:cs typeface="Noto Sans SemiCondensed" pitchFamily="34" charset="-120"/>
              </a:rPr>
              <a:t>It must be safer and fairer.</a:t>
            </a:r>
            <a:endParaRPr lang="en-US" sz="2400" dirty="0"/>
          </a:p>
        </p:txBody>
      </p:sp>
      <p:sp>
        <p:nvSpPr>
          <p:cNvPr id="8" name="Text 6"/>
          <p:cNvSpPr/>
          <p:nvPr/>
        </p:nvSpPr>
        <p:spPr>
          <a:xfrm>
            <a:off x="4251960" y="5989320"/>
            <a:ext cx="3703320" cy="320040"/>
          </a:xfrm>
          <a:prstGeom prst="rect">
            <a:avLst/>
          </a:prstGeom>
          <a:noFill/>
          <a:ln/>
        </p:spPr>
        <p:txBody>
          <a:bodyPr wrap="square" lIns="0" tIns="0" rIns="0" bIns="0" rtlCol="0" anchor="ctr"/>
          <a:lstStyle/>
          <a:p>
            <a:pPr algn="ctr" indent="0" marL="0">
              <a:buNone/>
            </a:pPr>
            <a:r>
              <a:rPr lang="en-US" sz="1800" i="1" dirty="0">
                <a:solidFill>
                  <a:srgbClr val="D1D5EB"/>
                </a:solidFill>
                <a:latin typeface="Noto Sans SemiCondensed" pitchFamily="34" charset="0"/>
                <a:ea typeface="Noto Sans SemiCondensed" pitchFamily="34" charset="-122"/>
                <a:cs typeface="Noto Sans SemiCondensed" pitchFamily="34" charset="-120"/>
              </a:rPr>
              <a:t>What will you change first?</a:t>
            </a:r>
            <a:endParaRPr lang="en-US" sz="1800" dirty="0"/>
          </a:p>
        </p:txBody>
      </p:sp>
      <p:sp>
        <p:nvSpPr>
          <p:cNvPr id="9" name="Shape 7"/>
          <p:cNvSpPr/>
          <p:nvPr/>
        </p:nvSpPr>
        <p:spPr>
          <a:xfrm>
            <a:off x="0" y="6729984"/>
            <a:ext cx="12191695" cy="128016"/>
          </a:xfrm>
          <a:prstGeom prst="rect">
            <a:avLst/>
          </a:prstGeom>
          <a:solidFill>
            <a:srgbClr val="00A3E0"/>
          </a:solidFill>
          <a:ln w="12700">
            <a:solidFill>
              <a:srgbClr val="00A3E0"/>
            </a:solidFill>
            <a:prstDash val="solid"/>
          </a:ln>
        </p:spPr>
      </p:sp>
      <p:sp>
        <p:nvSpPr>
          <p:cNvPr id="10" name="Text 8"/>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FFFFFF"/>
                </a:solidFill>
                <a:latin typeface="Noto Sans SemiCondensed" pitchFamily="34" charset="0"/>
                <a:ea typeface="Noto Sans SemiCondensed" pitchFamily="34" charset="-122"/>
                <a:cs typeface="Noto Sans SemiCondensed" pitchFamily="34" charset="-120"/>
              </a:rPr>
              <a:t>30</a:t>
            </a:r>
            <a:endParaRPr lang="en-US" sz="900" dirty="0"/>
          </a:p>
        </p:txBody>
      </p:sp>
      <p:sp>
        <p:nvSpPr>
          <p:cNvPr id="11" name="Text 9"/>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FFFFFF"/>
                </a:solidFill>
                <a:latin typeface="Noto Sans ExtraCondensed" pitchFamily="34" charset="0"/>
                <a:ea typeface="Noto Sans ExtraCondensed" pitchFamily="34" charset="-122"/>
                <a:cs typeface="Noto Sans ExtraCondensed" pitchFamily="34" charset="-120"/>
              </a:rPr>
              <a:t>ITCILO</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228600"/>
            <a:ext cx="3200400" cy="201168"/>
          </a:xfrm>
          <a:prstGeom prst="rect">
            <a:avLst/>
          </a:prstGeom>
          <a:noFill/>
          <a:ln/>
        </p:spPr>
        <p:txBody>
          <a:bodyPr wrap="square" lIns="0" tIns="0" rIns="0" bIns="0" rtlCol="0" anchor="ctr"/>
          <a:lstStyle/>
          <a:p>
            <a:pPr indent="0" marL="0">
              <a:buNone/>
            </a:pPr>
            <a:r>
              <a:rPr lang="en-US" sz="1000" b="1" spc="120" kern="0" dirty="0">
                <a:solidFill>
                  <a:srgbClr val="00A3E0"/>
                </a:solidFill>
                <a:latin typeface="Noto Sans SemiCondensed" pitchFamily="34" charset="0"/>
                <a:ea typeface="Noto Sans SemiCondensed" pitchFamily="34" charset="-122"/>
                <a:cs typeface="Noto Sans SemiCondensed" pitchFamily="34" charset="-120"/>
              </a:rPr>
              <a:t>REFERENCE</a:t>
            </a:r>
            <a:endParaRPr lang="en-US" sz="1000" dirty="0"/>
          </a:p>
        </p:txBody>
      </p:sp>
      <p:sp>
        <p:nvSpPr>
          <p:cNvPr id="3" name="Text 1"/>
          <p:cNvSpPr/>
          <p:nvPr/>
        </p:nvSpPr>
        <p:spPr>
          <a:xfrm>
            <a:off x="530352" y="420624"/>
            <a:ext cx="9966960" cy="512064"/>
          </a:xfrm>
          <a:prstGeom prst="rect">
            <a:avLst/>
          </a:prstGeom>
          <a:noFill/>
          <a:ln/>
        </p:spPr>
        <p:txBody>
          <a:bodyPr wrap="square" lIns="0" tIns="0" rIns="0" bIns="0" rtlCol="0" anchor="ctr"/>
          <a:lstStyle/>
          <a:p>
            <a:pPr indent="0" marL="0">
              <a:buNone/>
            </a:pPr>
            <a:r>
              <a:rPr lang="en-US" sz="2900" b="1" dirty="0">
                <a:solidFill>
                  <a:srgbClr val="284B96"/>
                </a:solidFill>
                <a:latin typeface="Noto Sans SemiCondensed" pitchFamily="34" charset="0"/>
                <a:ea typeface="Noto Sans SemiCondensed" pitchFamily="34" charset="-122"/>
                <a:cs typeface="Noto Sans SemiCondensed" pitchFamily="34" charset="-120"/>
              </a:rPr>
              <a:t>Selected sources and image credits</a:t>
            </a:r>
            <a:endParaRPr lang="en-US" sz="2900" dirty="0"/>
          </a:p>
        </p:txBody>
      </p:sp>
      <p:sp>
        <p:nvSpPr>
          <p:cNvPr id="4" name="Shape 2"/>
          <p:cNvSpPr/>
          <p:nvPr/>
        </p:nvSpPr>
        <p:spPr>
          <a:xfrm>
            <a:off x="530352" y="987552"/>
            <a:ext cx="1051560" cy="64008"/>
          </a:xfrm>
          <a:prstGeom prst="rect">
            <a:avLst/>
          </a:prstGeom>
          <a:solidFill>
            <a:srgbClr val="00A3E0"/>
          </a:solidFill>
          <a:ln w="12700">
            <a:solidFill>
              <a:srgbClr val="00A3E0"/>
            </a:solidFill>
            <a:prstDash val="solid"/>
          </a:ln>
        </p:spPr>
      </p:sp>
      <p:sp>
        <p:nvSpPr>
          <p:cNvPr id="5" name="Shape 3"/>
          <p:cNvSpPr/>
          <p:nvPr/>
        </p:nvSpPr>
        <p:spPr>
          <a:xfrm>
            <a:off x="0" y="6729984"/>
            <a:ext cx="12191695" cy="128016"/>
          </a:xfrm>
          <a:prstGeom prst="rect">
            <a:avLst/>
          </a:prstGeom>
          <a:solidFill>
            <a:srgbClr val="284B96"/>
          </a:solidFill>
          <a:ln w="12700">
            <a:solidFill>
              <a:srgbClr val="284B96"/>
            </a:solidFill>
            <a:prstDash val="solid"/>
          </a:ln>
        </p:spPr>
      </p:sp>
      <p:sp>
        <p:nvSpPr>
          <p:cNvPr id="6" name="Text 4"/>
          <p:cNvSpPr/>
          <p:nvPr/>
        </p:nvSpPr>
        <p:spPr>
          <a:xfrm>
            <a:off x="301752" y="6464808"/>
            <a:ext cx="411480" cy="182880"/>
          </a:xfrm>
          <a:prstGeom prst="rect">
            <a:avLst/>
          </a:prstGeom>
          <a:noFill/>
          <a:ln/>
        </p:spPr>
        <p:txBody>
          <a:bodyPr wrap="square" lIns="0" tIns="0" rIns="0" bIns="0" rtlCol="0" anchor="ctr"/>
          <a:lstStyle/>
          <a:p>
            <a:pPr indent="0" marL="0">
              <a:buNone/>
            </a:pPr>
            <a:r>
              <a:rPr lang="en-US" sz="900" dirty="0">
                <a:solidFill>
                  <a:srgbClr val="898989"/>
                </a:solidFill>
                <a:latin typeface="Noto Sans SemiCondensed" pitchFamily="34" charset="0"/>
                <a:ea typeface="Noto Sans SemiCondensed" pitchFamily="34" charset="-122"/>
                <a:cs typeface="Noto Sans SemiCondensed" pitchFamily="34" charset="-120"/>
              </a:rPr>
              <a:t>31</a:t>
            </a:r>
            <a:endParaRPr lang="en-US" sz="900" dirty="0"/>
          </a:p>
        </p:txBody>
      </p:sp>
      <p:sp>
        <p:nvSpPr>
          <p:cNvPr id="7" name="Text 5"/>
          <p:cNvSpPr/>
          <p:nvPr/>
        </p:nvSpPr>
        <p:spPr>
          <a:xfrm>
            <a:off x="10652760" y="6272784"/>
            <a:ext cx="1097280" cy="256032"/>
          </a:xfrm>
          <a:prstGeom prst="rect">
            <a:avLst/>
          </a:prstGeom>
          <a:noFill/>
          <a:ln/>
        </p:spPr>
        <p:txBody>
          <a:bodyPr wrap="square" lIns="0" tIns="0" rIns="0" bIns="0" rtlCol="0" anchor="ctr"/>
          <a:lstStyle/>
          <a:p>
            <a:pPr algn="r" indent="0" marL="0">
              <a:buNone/>
            </a:pPr>
            <a:r>
              <a:rPr lang="en-US" sz="1700" b="1" dirty="0">
                <a:solidFill>
                  <a:srgbClr val="284B96"/>
                </a:solidFill>
                <a:latin typeface="Noto Sans ExtraCondensed" pitchFamily="34" charset="0"/>
                <a:ea typeface="Noto Sans ExtraCondensed" pitchFamily="34" charset="-122"/>
                <a:cs typeface="Noto Sans ExtraCondensed" pitchFamily="34" charset="-120"/>
              </a:rPr>
              <a:t>ITCILO</a:t>
            </a:r>
            <a:endParaRPr lang="en-US" sz="1700" dirty="0"/>
          </a:p>
        </p:txBody>
      </p:sp>
      <p:sp>
        <p:nvSpPr>
          <p:cNvPr id="8" name="Text 6"/>
          <p:cNvSpPr/>
          <p:nvPr/>
        </p:nvSpPr>
        <p:spPr>
          <a:xfrm>
            <a:off x="685800" y="1298448"/>
            <a:ext cx="5394960" cy="5166360"/>
          </a:xfrm>
          <a:prstGeom prst="rect">
            <a:avLst/>
          </a:prstGeom>
          <a:noFill/>
          <a:ln/>
        </p:spPr>
        <p:txBody>
          <a:bodyPr wrap="square" lIns="508" tIns="508" rIns="508" bIns="508" rtlCol="0" anchor="ctr"/>
          <a:lstStyle/>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ILO (2024), Gender, equality and inclusion for a just transition in climate action.</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ILO (2023), Occupational safety and health in a just transition.</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ILO (2024), Ensuring safety and health at work in a changing climate.</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ILO (2026), The psychosocial working environment: Global developments and pathways for action.</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ILO (2013), 10 Keys for gender sensitive OSH practice.</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ILO (2025), Revolutionizing health and safety: The role of AI and digitalization at work.</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ILO Conventions Nos 155, 187 and 190 and associated guidance.</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IRENA (2025), Renewable Energy: A Gender Perspective, second edition.</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IEA, Energy and Gender data and analysis.</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ILO (2026), Protecting and Preparing Ukraine's Energy Workforce for Sustainable Recovery.</a:t>
            </a:r>
            <a:endParaRPr lang="en-US" sz="1420" dirty="0"/>
          </a:p>
        </p:txBody>
      </p:sp>
      <p:sp>
        <p:nvSpPr>
          <p:cNvPr id="9" name="Shape 7"/>
          <p:cNvSpPr/>
          <p:nvPr/>
        </p:nvSpPr>
        <p:spPr>
          <a:xfrm>
            <a:off x="6172200" y="1325880"/>
            <a:ext cx="0" cy="4983480"/>
          </a:xfrm>
          <a:prstGeom prst="line">
            <a:avLst/>
          </a:prstGeom>
          <a:noFill/>
          <a:ln w="19050">
            <a:solidFill>
              <a:srgbClr val="D1D5EB"/>
            </a:solidFill>
            <a:prstDash val="solid"/>
          </a:ln>
        </p:spPr>
      </p:sp>
      <p:sp>
        <p:nvSpPr>
          <p:cNvPr id="10" name="Text 8"/>
          <p:cNvSpPr/>
          <p:nvPr/>
        </p:nvSpPr>
        <p:spPr>
          <a:xfrm>
            <a:off x="6446520" y="1298448"/>
            <a:ext cx="5029200" cy="5166360"/>
          </a:xfrm>
          <a:prstGeom prst="rect">
            <a:avLst/>
          </a:prstGeom>
          <a:noFill/>
          <a:ln/>
        </p:spPr>
        <p:txBody>
          <a:bodyPr wrap="square" lIns="508" tIns="508" rIns="508" bIns="508" rtlCol="0" anchor="ctr"/>
          <a:lstStyle/>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Photo credits</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Adam Jones - Wind Turbine with Workers, Boryspil, Ukraine - CC BY-SA 2.0.</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Gaius Cornelius - Maintenance workers on electricity pylon - CC BY-SA 4.0.</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Climate Visuals / technicians working on a solar panel installation - CC BY 2.0.</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Western Area Power / Jeff Miller - Transmission system repairs underway - CC BY 2.0.</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Kenueone - Renewable Energy on the Grid - CC0.</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Electrical substation - Wikimedia Commons / public domain.</a:t>
            </a:r>
            <a:endParaRPr lang="en-US" sz="1420" dirty="0"/>
          </a:p>
          <a:p>
            <a:pPr indent="0" marL="0">
              <a:lnSpc>
                <a:spcPct val="115000"/>
              </a:lnSpc>
              <a:buNone/>
            </a:pP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User-provided materials</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Felix Martin Daza, Key Gender Issues in the Field of Occupational Health and Safety.</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ITCILO Brand Guidelines, April 2026.</a:t>
            </a:r>
            <a:endParaRPr lang="en-US" sz="1420" dirty="0"/>
          </a:p>
          <a:p>
            <a:pPr indent="0" marL="0">
              <a:lnSpc>
                <a:spcPct val="115000"/>
              </a:lnSpc>
              <a:buNone/>
            </a:pPr>
            <a:r>
              <a:rPr lang="en-US" sz="1420" dirty="0">
                <a:solidFill>
                  <a:srgbClr val="2B2A29"/>
                </a:solidFill>
                <a:latin typeface="Noto Sans SemiCondensed" pitchFamily="34" charset="0"/>
                <a:ea typeface="Noto Sans SemiCondensed" pitchFamily="34" charset="-122"/>
                <a:cs typeface="Noto Sans SemiCondensed" pitchFamily="34" charset="-120"/>
              </a:rPr>
              <a:t>Project presentations and reports on digitalization, AI, wearables, mining and psychosocial risks.</a:t>
            </a:r>
            <a:endParaRPr lang="en-US" sz="14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Semi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SemiCondense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ITCILO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and inclusive energy work for the future</dc:title>
  <dc:subject>Gender equality, occupational safety and health, and psychosocial wellbeing in the future energy workforce</dc:subject>
  <dc:creator>International Training Centre of the ILO</dc:creator>
  <cp:lastModifiedBy>International Training Centre of the ILO</cp:lastModifiedBy>
  <cp:revision>1</cp:revision>
  <dcterms:created xsi:type="dcterms:W3CDTF">2026-10-21T19:28:41Z</dcterms:created>
  <dcterms:modified xsi:type="dcterms:W3CDTF">2026-10-21T19:28:41Z</dcterms:modified>
</cp:coreProperties>
</file>