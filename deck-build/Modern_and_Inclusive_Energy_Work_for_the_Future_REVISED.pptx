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central question is how to ensure that energy work is safe for the people who actually perform it.
- Gender-responsive OSH is not a separate equality programme; it improves hazard identification, work design, prevention and access to protection.
- The session considers physical hazards, psychosocial risks, violence and harassment, work organisation, PPE and worker participation.
- The Ukrainian energy sector provides a particularly important context because roles, staffing patterns and exposure profiles are changing under crisis and recovery conditions.
- The aim is to identify practical measures that strengthen both workforce inclusion and prevention.
[Sources]
- ITCILO Brand Guidelines, April 2026.
- ILO, 10 Keys for gender-sensitive OSH practice (2013).
- Photo: Adam Jones, Wind Turbine with Workers - Boryspil - Ukraine, CC BY-SA 2.0.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session begins with work and exposure rather than with abstract labels.
- The same enterprise may contain very different risk profiles because workers are concentrated in different occupations, tasks, shifts and employment arrangements.
- Biological differences may be relevant for some exposures, including reproductive hazards, anthropometry and PPE fit.
- Gendered roles and work organisation may affect task allocation, working time, reporting, access to training and exposure to violence or harassment.
- The prevention objective is an inclusive workplace in which controls are effective for all workers.
[Sources]
- ILO, 10 Keys for gender-sensitive OSH practice (2013).
- ILO Occupational Safety and Health Convention, 1981 (No. 155).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changing energy system changes the tasks, environments and organisational conditions that determine exposure.
- Emergency work increases the importance of fatigue management, coordination, communication, recovery time and psychosocial support.
- Construction and installation may create temporary or contractor-heavy workforces with different access to training and reporting channels.
- When workers move into unfamiliar roles, risk assessment and supervision must address competence, task design and the fit of equipment.
- Change management should explicitly ask whether new arrangements create different effects for different groups of workers.
[Sources]
- ILO, Protecting and Preparing Ukraine's Energy Workforce for Sustainable Recovery (2026).
- ILO, Occupational safety and health in a just transition (2023).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Renewable energy employed 16.6 million people directly and indirectly in 2024.
- Women held 32% of full-time renewable-energy jobs, compared with 23% in oil and gas and 43.4% in the global workforce.
- Women were most represented in administrative and non-STEM technical roles, while representation was lower in STEM, medium-skilled and senior positions.
- These differences matter for OSH because occupational groups encounter different physical, chemical, ergonomic and psychosocial hazards.
- A sector-wide average should never replace task-based analysis of exposure, protective measures and access to decision-making.
[Sources]
- IRENA and ILO (2026), Renewable energy and jobs: Annual review 2025, pp. 64-66.
- IRENA (2025), Renewable Energy: A Gender Perspective, second edition.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outcome of gender-responsive OSH is an inclusive workplace, not a separate set of protections for one group.
- Risk assessment must consider who performs the task and whether exposure differs because of task allocation, equipment fit or work organisation.
- Work design should allow safe performance by a diverse workforce without lowering competence or safety requirements.
- Participation and trusted reporting are necessary because formal data may miss hazards experienced by under-represented groups.
- Monitoring should confirm whether preventive measures are equally accessible and effective.
[Sources]
- ILO, 10 Keys for gender-sensitive OSH practice (2013).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Horizontal segregation means that women and men are often concentrated in different occupations and tasks rather than exposed uniformly across the sector.
- This creates different exposure patterns; it does not mean that all women or all men experience the same hazards.
- High-profile physical hazards may be concentrated in field and maintenance roles, while ergonomic, emotional and organisational risks may be less visible in administrative or customer-facing work.
- The colours deliberately avoid stereotypical pink-and-blue coding; the analysis concerns work and exposure, not gender symbolism.
- The key OSH question is whether changing staffing patterns or role substitution have been reflected in training, equipment, supervision and risk assessment.
[Sources]
- IRENA and ILO (2026), Renewable energy and jobs: Annual review 2025, pp. 65-66.
- ILO, 10 Keys for gender-sensitive OSH practice (2013).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purpose of the discussion is to make the framework specific to the Ukrainian energy sector.
- Role changes may arise from mobilisation, displacement, workforce shortages, recruitment of new workers or the return of injured workers and veterans.
- A role change can alter exposure even when the job title remains the same, because work location, pace, team composition or emergency conditions may have changed.
- Examples should be analysed through tasks, hazards, controls and competence requirements.
- The discussion should identify where existing risk assessments no longer reflect current practice.
[Sources]
- ILO, Protecting and Preparing Ukraine's Energy Workforce for Sustainable Recovery (2026).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gender-neutral OSH standard can be appropriate when it protects every worker from the same hazard.
- Gender blindness occurs when implementation assumes that the workforce, exposure and protective measures are uniform.
- Examples include a single PPE size range, facilities designed for only one group, thresholds based on incomplete evidence, or identical scheduling rules that ignore actual recovery constraints.
- Differentiated analysis should never be used to exclude workers from occupations when risks can be controlled.
- The objective is equal protection through evidence-based risk management.
[Sources]
- ILO, 10 Keys for gender-sensitive OSH practice (2013).
- EU-OSHA, Gender issues in safety and health at work.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six questions can be added to an existing risk assessment rather than creating a separate gender assessment.
- The method starts with tasks and exposure, not assumptions about vulnerability.
- Non-routine work and emergency conditions are especially important because formal job descriptions may not reflect what workers actually do.
- Consultation should include workers from different occupations, shifts and employment arrangements.
- The assessment is complete only when the effectiveness of controls is reviewed.
[Sources]
- ILO, 10 Keys for gender-sensitive OSH practice (2013).
- ILO Guidelines on Occupational Safety and Health Management Systems, ILO-OSH 2001.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PPE is often the last line of defence, but poor fit can undermine its protective function.
- Procurement specifications should include a realistic size range and testing with intended users.
- Fit should be assessed during movement and in combination with other protective equipment.
- Tools, controls and workstations should not require unsafe force, reach or posture from part of the workforce.
- Facilities are part of OSH because they affect hygiene, heat recovery, dignity and willingness to remain in the occupation.
[Sources]
- ILO, 10 Keys for gender-sensitive OSH practice (2013).
- User-provided presentation: Felix Martin Daza, Key Gender Issues in the Field of Occupational Health and Safety.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Fatigue is an OSH hazard and should not be treated as an individual failure to cope.
- Energy work may involve long shifts, night work, travel, emergency call-outs and sustained responsibility for essential services.
- Women and men may have different recovery opportunities because of work and non-work responsibilities, but prevention standards should protect all workers.
- Organisational controls are stronger than advice to sleep better or be more resilient.
- Supervisors need authority to stop or reassign work when fatigue creates an unacceptable risk.
[Sources]
- ILO, The psychosocial working environment: Global developments and pathways for action (2026).
- ILO Curriculum, Modules 14 and 15 on psychosocial risks.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Psychosocial hazards arise from the design, organisation and social context of work.
- In energy work, important factors include workload, low control, traumatic events, responsibility for essential services, isolation and rapid organisational change.
- Exposure and coping resources may differ by occupation, seniority, contract, shift, gender and access to support.
- Primary prevention changes the work; secondary measures strengthen skills and early support; tertiary measures support recovery and return to work.
- Confidential support services are important, but they do not replace organisational risk management.
[Sources]
- ILO, The psychosocial working environment: Global developments and pathways for action (2026).
- ILO Curriculum, Module 14: Ensuring compliance with legislation on psychosocial risks.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Violence and harassment can affect women and men and should be managed as occupational safety and health risks.
- The forms and contexts may differ by occupation, hierarchy, work location, customer contact and workplace culture.
- Men may be exposed to bullying, hazing, threats or physical violence and may under-report because of stigma or expectations about coping.
- Women may face sexual harassment, exclusion or gender-based hostility, particularly in male-dominated teams or isolated work settings.
- The health consequences can include anxiety, depression, sleep problems, injury, reduced concentration, absence and exit from the occupation.
[Sources]
- ILO Violence and Harassment Convention, 2019 (No. 190) and Recommendation No. 206.
- ILO Curriculum, Modules 14 and 15 on psychosocial risks.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policy is necessary but insufficient unless workers trust the reporting and response system.
- Risk assessment should consider isolated work, night work, accommodation, travel, customer contact, power imbalances and team culture.
- Reporting channels should be accessible to women and men, employees and contractors, and workers in remote locations.
- Immediate protection should focus on safety and health without penalising the person who reports.
- Investigation and corrective action should address organisational conditions as well as individual conduct.
[Sources]
- ILO Convention No. 190 and Recommendation No. 206.
- ILO Curriculum, Module 15: Inspection actions to deal with psychosocial risks.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Crisis conditions can normalise exceptional levels of risk, fatigue and psychological strain; OSH systems must prevent emergency practice from becoming permanent practice.
- Workers need current information about site hazards, damaged infrastructure, unexploded ordnance and changes to access or communication.
- Emergency staffing should include relief, supervision and recovery arrangements rather than relying on individual endurance.
- Psychosocial support should be confidential, accessible and linked to organisational measures that reduce exposure.
- Lessons from emergency work should inform reconstruction standards, procurement, training and inspection.
[Sources]
- ILO, Protecting and Preparing Ukraine's Energy Workforce for Sustainable Recovery (2026).
- Photo: Western Area Power / Jeff Miller, Transmission system repairs underway, CC BY 2.0.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Inclusion does not mean lowering competence or safety requirements.
- Reasonable accommodation changes the environment, equipment, schedule or communication so a qualified worker can perform essential functions safely.
- Return-to-work planning should focus on capability and functional needs rather than diagnosis or assumptions.
- Women entering technical work need the same access to meaningful tasks, training and progression as well as equipment and facilities that fit.
- Inclusive recovery strengthens workforce capacity and retention in a sector facing significant skills pressures.
[Sources]
- ILO, Promoting diversity and inclusion through workplace adjustments (2016).
- ILO, Guideline on reasonable accommodation for persons with disabilities (2026).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Workers contribute knowledge about actual task performance, informal workarounds, near misses and controls that fail in practice.
- Gender-responsive consultation includes people from male- and female-dominated occupations rather than assuming one representative experience.
- Participation requires access to information, time, protection from retaliation and feedback on actions taken.
- Sector-level dialogue can address standards, skills, emergency coordination and workforce planning.
- Enterprise- and task-level participation strengthens risk assessment, change management and stop-work decisions.
[Sources]
- ILO Curriculum, Module 5: Cooperation and partnership.
- ILO Convention No. 155, worker participation principles.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Gender-responsive OSH should be integrated into the existing management system rather than operated as a parallel initiative.
- Diagnosis maps tasks and exposure, consultation adds worker knowledge, and control follows the hierarchy of prevention.
- Support includes occupational health, psychosocial prevention, working-time controls and reasonable accommodation.
- Monitoring combines quantitative indicators with worker experience and review after incidents or change.
- The cycle should be repeated whenever technology, staffing, infrastructure or work organisation changes.
[Sources]
- ILO Guidelines on Occupational Safety and Health Management Systems, ILO-OSH 2001.
- ILO, 10 Keys for gender-sensitive OSH practice (2013).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Indicators should be linked to decisions and accountable owners, not collected for reporting alone.
- Workforce data should be analysed by occupation and task so that averages do not hide horizontal segregation.
- Exposure and outcome data should include emergency work, fatigue and psychosocial risks as well as accidents.
- PPE fit, facilities and reasonable accommodation are measurable components of prevention.
- Sensitive data require confidentiality, clear purpose and safeguards against punitive monitoring.
[Sources]
- IRENA and ILO (2026), Renewable energy and jobs: Annual review 2025.
- ILO, 10 Keys for gender-sensitive OSH practice (2013).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case combines physical, organisational and psychosocial hazards that should be assessed together.
- The mixed crew and role changes require verification of competence, supervision and equipment fit without making assumptions based on gender.
- The extended shift creates fatigue risk and may alter travel, security and recovery arrangements.
- Limited facilities and PPE sizes are prevention failures rather than individual inconveniences.
- The hostile conduct report tests whether violence and harassment procedures protect contractors and other non-standard workers.
[Sources]
- Fictional case developed from the OSH principles and Ukraine energy-sector context used in this session.
- Photo: Western Area Power / Jeff Miller, Transmission system repairs underway, CC BY 2.0.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exercise should produce a task-based risk analysis rather than a list of assumptions about women or men.
- Groups should distinguish hazards from exposure and identify how changed work arrangements affect risk.
- Controls should follow the hierarchy: elimination, substitution, engineering, organisational measures and PPE.
- Violence, harassment and psychosocial hazards should be included alongside physical hazards.
- The final action should identify who has authority to implement the control and how effectiveness will be verified.
[Sources]
- ILO Guidelines on Occupational Safety and Health Management Systems, ILO-OSH 2001.
- ILO Convention No. 190.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first 30 days focus on diagnosis, consultation and selection of a concrete risk.
- The 60-day stage tests practical solutions rather than waiting for a complete strategy.
- The 90-day stage embeds successful measures in the OSH management system, procurement, contractor management and monitoring.
- Actions should be specific enough to verify and should connect safety with workforce realities.
- Every action needs a named owner, resources, a deadline and an indicator of effectiveness.
[Sources]
- ILO, 10 Keys for gender-sensitive OSH practice (2013).
- ILO Guidelines on Occupational Safety and Health Management Systems, ILO-OSH 2001.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Safe, inclusive, skilled and participatory are mutually reinforcing qualities of a modern energy workforce.
- Gender-responsive OSH improves the core prevention system by making exposure, fit, work organisation and worker voice more visible.
- Violence and harassment, psychosocial risks and fatigue belong within OSH governance alongside physical hazards.
- The closing reflection should identify one practical change that can be initiated in the participant's own sphere of responsibility.
- The most useful commitment is specific, owned and linked to a real task or workplace process.
[Sources]
- Synthesis of the ILO and IRENA sources cited throughout the deck.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slide consolidates the principal references and image credits.
- Detailed sources remain available in the notes of each substantive slide.
[Sources]
- ITCILO Brand Guidelines, April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impact_assessment_2026/impact_assessment_2026/deck-build/assets/cover_workers_ukra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284B96">
              <a:alpha val="90000"/>
            </a:srgbClr>
          </a:solidFill>
          <a:ln w="12700">
            <a:solidFill>
              <a:srgbClr val="284B9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658368"/>
            <a:ext cx="109728" cy="5029200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2688" y="1024128"/>
            <a:ext cx="5486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MODERN AND INCLUSIVE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ENERGY WORK FOR THE FUTURE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50976" y="324612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 gender-responsive occupational safety and health perspective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50976" y="5010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Ukraine energy sector training | ITCILO 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SESSION FRAMING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One integrated OSH question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1590">
            <a:solidFill>
              <a:srgbClr val="28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297180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How are jobs, tasks and working arrangements changing?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142232" y="3044952"/>
            <a:ext cx="274320" cy="0"/>
          </a:xfrm>
          <a:prstGeom prst="line">
            <a:avLst/>
          </a:prstGeom>
          <a:noFill/>
          <a:ln w="2794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07992" y="141732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159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EXPOSURE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36592" y="2075688"/>
            <a:ext cx="297180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Who performs each task, under which conditions, and with which controls?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964424" y="3044952"/>
            <a:ext cx="274320" cy="0"/>
          </a:xfrm>
          <a:prstGeom prst="line">
            <a:avLst/>
          </a:prstGeom>
          <a:noFill/>
          <a:ln w="2794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30184" y="141732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1590">
            <a:solidFill>
              <a:srgbClr val="E7A3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PREVENTION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58784" y="2075688"/>
            <a:ext cx="297180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Do risk assessment, equipment, work organisation and support fit the whole workforce?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400" y="51663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Gender matters to OSH when it changes exposure, vulnerability, access to controls, reporting or recovery.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4B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Energy work is changing - exposure profiles change with 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744200" cy="987552"/>
          </a:xfrm>
          <a:prstGeom prst="chevron">
            <a:avLst/>
          </a:prstGeom>
          <a:solidFill>
            <a:srgbClr val="C95B61"/>
          </a:solidFill>
          <a:ln w="12700">
            <a:solidFill>
              <a:srgbClr val="C95B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CRISIS AND RECOVERY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57600" y="1527048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Emergency repair, damaged infrastructure, disrupted communications, long shifts and traumatic exposure.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10744200" cy="987552"/>
          </a:xfrm>
          <a:prstGeom prst="chevron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990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ENERGY TRANSITION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57600" y="2944368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New generation assets, decentralised systems, construction, installation and changing maintenance needs.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85800" y="4251960"/>
            <a:ext cx="10744200" cy="987552"/>
          </a:xfrm>
          <a:prstGeom prst="chevron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07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WORKFORCE CHANGE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57600" y="4361688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New entrants, role substitution, return-to-work, skills gaps, contractor work and changing teams.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0120" y="587044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OSH systems must be reviewed whenever tasks, staffing or work organisation change.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UPDATED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The workforce picture is also an OSH picture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2880360" cy="1828800"/>
          </a:xfrm>
          <a:prstGeom prst="round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7276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16.6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1024128" y="2267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million renewable-energy jobs in 2024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840480" y="1325880"/>
            <a:ext cx="1920240" cy="1920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32%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005072" y="23591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Renewable energy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1920240" cy="1920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989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989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23%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519672" y="23591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Oil and gas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869680" y="1325880"/>
            <a:ext cx="1920240" cy="1920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8B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43.4%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034272" y="23591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Global workforce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3232" y="35844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Female share by occupational group in renewable energy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0416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Administrative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3063240" y="4059936"/>
            <a:ext cx="3337560" cy="246888"/>
          </a:xfrm>
          <a:prstGeom prst="roundRect">
            <a:avLst/>
          </a:prstGeom>
          <a:solidFill>
            <a:srgbClr val="D9DADA"/>
          </a:solidFill>
          <a:ln w="12700">
            <a:solidFill>
              <a:srgbClr val="D9DA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4059936"/>
            <a:ext cx="3003804" cy="246888"/>
          </a:xfrm>
          <a:prstGeom prst="round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01421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45%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44622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Non-STEM technical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3063240" y="4480560"/>
            <a:ext cx="3337560" cy="246888"/>
          </a:xfrm>
          <a:prstGeom prst="roundRect">
            <a:avLst/>
          </a:prstGeom>
          <a:solidFill>
            <a:srgbClr val="D9DADA"/>
          </a:solidFill>
          <a:ln w="12700">
            <a:solidFill>
              <a:srgbClr val="D9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4480560"/>
            <a:ext cx="2403043" cy="246888"/>
          </a:xfrm>
          <a:prstGeom prst="roundRect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4348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36%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" y="48828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Other roles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3063240" y="4901184"/>
            <a:ext cx="3337560" cy="246888"/>
          </a:xfrm>
          <a:prstGeom prst="roundRect">
            <a:avLst/>
          </a:prstGeom>
          <a:solidFill>
            <a:srgbClr val="D9DADA"/>
          </a:solidFill>
          <a:ln w="12700">
            <a:solidFill>
              <a:srgbClr val="D9DA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63240" y="4901184"/>
            <a:ext cx="1935785" cy="246888"/>
          </a:xfrm>
          <a:prstGeom prst="roundRect">
            <a:avLst/>
          </a:prstGeom>
          <a:solidFill>
            <a:srgbClr val="7885BC"/>
          </a:solidFill>
          <a:ln w="12700">
            <a:solidFill>
              <a:srgbClr val="7885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8554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85BC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29%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80760" y="40416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STEM technical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412480" y="4059936"/>
            <a:ext cx="3337560" cy="246888"/>
          </a:xfrm>
          <a:prstGeom prst="roundRect">
            <a:avLst/>
          </a:prstGeom>
          <a:solidFill>
            <a:srgbClr val="D9DADA"/>
          </a:solidFill>
          <a:ln w="12700">
            <a:solidFill>
              <a:srgbClr val="D9DA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4059936"/>
            <a:ext cx="1869034" cy="246888"/>
          </a:xfrm>
          <a:prstGeom prst="round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41480" y="401421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28%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080760" y="44622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Middle management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8412480" y="4480560"/>
            <a:ext cx="3337560" cy="246888"/>
          </a:xfrm>
          <a:prstGeom prst="roundRect">
            <a:avLst/>
          </a:prstGeom>
          <a:solidFill>
            <a:srgbClr val="D9DADA"/>
          </a:solidFill>
          <a:ln w="12700">
            <a:solidFill>
              <a:srgbClr val="D9DA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4480560"/>
            <a:ext cx="1735531" cy="246888"/>
          </a:xfrm>
          <a:prstGeom prst="roundRect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41480" y="44348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26%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080760" y="48828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Medium-skilled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8412480" y="4901184"/>
            <a:ext cx="3337560" cy="246888"/>
          </a:xfrm>
          <a:prstGeom prst="roundRect">
            <a:avLst/>
          </a:prstGeom>
          <a:solidFill>
            <a:srgbClr val="D9DADA"/>
          </a:solidFill>
          <a:ln w="12700">
            <a:solidFill>
              <a:srgbClr val="D9DA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4901184"/>
            <a:ext cx="1468526" cy="246888"/>
          </a:xfrm>
          <a:prstGeom prst="roundRect">
            <a:avLst/>
          </a:prstGeom>
          <a:solidFill>
            <a:srgbClr val="6B5AA6"/>
          </a:solidFill>
          <a:ln w="12700">
            <a:solidFill>
              <a:srgbClr val="6B5A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41480" y="48554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22%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080760" y="53035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Senior management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8412480" y="5321808"/>
            <a:ext cx="3337560" cy="246888"/>
          </a:xfrm>
          <a:prstGeom prst="roundRect">
            <a:avLst/>
          </a:prstGeom>
          <a:solidFill>
            <a:srgbClr val="D9DADA"/>
          </a:solidFill>
          <a:ln w="12700">
            <a:solidFill>
              <a:srgbClr val="D9DA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12480" y="5321808"/>
            <a:ext cx="1268273" cy="246888"/>
          </a:xfrm>
          <a:prstGeom prst="roundRect">
            <a:avLst/>
          </a:prstGeom>
          <a:solidFill>
            <a:srgbClr val="C95B61"/>
          </a:solidFill>
          <a:ln w="12700">
            <a:solidFill>
              <a:srgbClr val="C95B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841480" y="52760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19%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77240" y="58978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The OSH question is not only how many women and men work in the sector - but where, doing what, and under which conditions.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CORE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Gender-responsive OSH leads to inclusive workplaces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3794760" cy="1508760"/>
          </a:xfrm>
          <a:prstGeom prst="line">
            <a:avLst/>
          </a:prstGeom>
          <a:noFill/>
          <a:ln w="1905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1645920"/>
            <a:ext cx="91440" cy="1691640"/>
          </a:xfrm>
          <a:prstGeom prst="line">
            <a:avLst/>
          </a:prstGeom>
          <a:noFill/>
          <a:ln w="1905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75520" y="1828800"/>
            <a:ext cx="-3794760" cy="1508760"/>
          </a:xfrm>
          <a:prstGeom prst="line">
            <a:avLst/>
          </a:prstGeom>
          <a:noFill/>
          <a:ln w="1905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6000" y="4983480"/>
            <a:ext cx="3794760" cy="-1645920"/>
          </a:xfrm>
          <a:prstGeom prst="line">
            <a:avLst/>
          </a:prstGeom>
          <a:noFill/>
          <a:ln w="1905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5212080"/>
            <a:ext cx="91440" cy="-1874520"/>
          </a:xfrm>
          <a:prstGeom prst="line">
            <a:avLst/>
          </a:prstGeom>
          <a:noFill/>
          <a:ln w="1905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75520" y="4983480"/>
            <a:ext cx="-3794760" cy="-1645920"/>
          </a:xfrm>
          <a:prstGeom prst="line">
            <a:avLst/>
          </a:prstGeom>
          <a:noFill/>
          <a:ln w="1905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26280" y="2240280"/>
            <a:ext cx="3108960" cy="2194560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8803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INCLUSIVE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WORKPLACES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31520" y="1325880"/>
            <a:ext cx="306324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4B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16184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34840" y="1143000"/>
            <a:ext cx="306324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435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 DESIGN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21040" y="1325880"/>
            <a:ext cx="306324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A3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16184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PPE AND EQUIPMENT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4480560"/>
            <a:ext cx="306324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7731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WORKER PARTICIPATION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434840" y="4709160"/>
            <a:ext cx="306324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5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5001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HEALTH AND SUPPORT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480560"/>
            <a:ext cx="306324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5B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47731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DATA AND LEARNING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WHO DOES WHICH WORK?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Horizontal segregation shapes occupational exposure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5230368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21590">
            <a:solidFill>
              <a:srgbClr val="28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27048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OCCUPATIONS AND TASKS WITH HIGH MALE CONCENTRATION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1984248"/>
            <a:ext cx="4773168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24128" y="2532888"/>
            <a:ext cx="100584" cy="100584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2423160"/>
            <a:ext cx="428853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Electrical line work and field repair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24128" y="3154680"/>
            <a:ext cx="100584" cy="100584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044952"/>
            <a:ext cx="428853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Heavy maintenance and construction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24128" y="3776472"/>
            <a:ext cx="100584" cy="100584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3666744"/>
            <a:ext cx="428853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Work at height and confined spaces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24128" y="4398264"/>
            <a:ext cx="100584" cy="100584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4288536"/>
            <a:ext cx="428853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Night call-outs and emergency response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81928" y="1325880"/>
            <a:ext cx="5230368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2159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527048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OCCUPATIONS AND TASKS WITH HIGH FEMALE CONCENTRATION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10528" y="1984248"/>
            <a:ext cx="4773168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647688" y="2532888"/>
            <a:ext cx="100584" cy="1005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2423160"/>
            <a:ext cx="428853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Administration and coordination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47688" y="3154680"/>
            <a:ext cx="100584" cy="1005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3044952"/>
            <a:ext cx="428853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Customer-facing and support functions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647688" y="3776472"/>
            <a:ext cx="100584" cy="1005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3666744"/>
            <a:ext cx="428853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Some laboratory, planning and legal roles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647688" y="4398264"/>
            <a:ext cx="100584" cy="1005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4288536"/>
            <a:ext cx="428853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Work involving sustained screen and emotional demands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965960" y="5532120"/>
            <a:ext cx="8275320" cy="65836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1D5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12848" y="57058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Patterns are not fixed. When roles change, hazard profiles, training needs and controls must be reassessed.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84B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SECTOR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Discussion: what is changing in the Ukrainian energy sector?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1389888"/>
            <a:ext cx="5230368" cy="164592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00A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184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ROLES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0482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Which jobs or tasks are now being performed by workers who did not traditionally perform them?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389888"/>
            <a:ext cx="5230368" cy="164592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E7A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184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HAZARDS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83680" y="20482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Have emergency repair, staffing shortages or damaged infrastructure changed exposure?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3538728"/>
            <a:ext cx="5230368" cy="164592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00A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673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CONTROLS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0120" y="41970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Do PPE, tools, facilities, training and supervision fit the current workforce?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09360" y="3538728"/>
            <a:ext cx="5230368" cy="164592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E7A3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7673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 ORGANISATION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83680" y="41970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How have shifts, travel, call-outs, recovery time and psychosocial demands changed?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3000" y="58064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Focus on concrete tasks and recent changes - not assumptions about women or men.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Gender-neutral does not have to mean gender-blind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21590">
            <a:solidFill>
              <a:srgbClr val="28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270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GENDER-NEUTRAL PRINCIPLE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41832" y="1984248"/>
            <a:ext cx="461772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One OSH standard applies to all workers. The objective is equal protection and prevention based on the hazard.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1325880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21590">
            <a:solidFill>
              <a:srgbClr val="C95B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5270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GENDER-BLIND IMPLEMENTATION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629400" y="1984248"/>
            <a:ext cx="461772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The same control is assumed to work for everyone without checking task allocation, body dimensions, reproductive hazards, working time, facilities or reporting barriers.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806440" y="3520440"/>
            <a:ext cx="548640" cy="0"/>
          </a:xfrm>
          <a:prstGeom prst="line">
            <a:avLst/>
          </a:prstGeom>
          <a:noFill/>
          <a:ln w="29210">
            <a:solidFill>
              <a:srgbClr val="00A3E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828800" y="5961888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Equal protection may require differentiated evidence, fit and implementation.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PRACTICAL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Six questions for gender-responsive risk assessment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658368" cy="658368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3990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1732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WHO PERFORMS THE TASK?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17190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Occupation, contract, shift, experience, age and any relevant individual needs.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1280160"/>
            <a:ext cx="658368" cy="65836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3990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25780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WHAT IS THE REAL EXPOSURE?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7800" y="17190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Normal work, non-routine work, emergencies, travel, maintenance and combined hazards.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75320" y="1280160"/>
            <a:ext cx="658368" cy="658368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13990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09828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DO TOOLS AND PPE FIT?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17190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Anthropometry, strength requirements, dexterity, adjustment ranges and compatibility.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4360" y="3611880"/>
            <a:ext cx="658368" cy="658368"/>
          </a:xfrm>
          <a:prstGeom prst="ellipse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307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17320" y="3630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HOW IS WORK ORGANISED?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05079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Pace, workload, autonomy, staffing, working time, call-outs and recovery.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434840" y="3611880"/>
            <a:ext cx="658368" cy="658368"/>
          </a:xfrm>
          <a:prstGeom prst="ellipse">
            <a:avLst/>
          </a:prstGeom>
          <a:solidFill>
            <a:srgbClr val="6B5AA6"/>
          </a:solidFill>
          <a:ln w="12700">
            <a:solidFill>
              <a:srgbClr val="6B5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37307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257800" y="3630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CAN WORKERS SPEAK UP?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405079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Consultation, reporting, stop-work authority, confidentiality and protection from retaliation.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275320" y="3611880"/>
            <a:ext cx="658368" cy="658368"/>
          </a:xfrm>
          <a:prstGeom prst="ellipse">
            <a:avLst/>
          </a:prstGeom>
          <a:solidFill>
            <a:srgbClr val="C95B61"/>
          </a:solidFill>
          <a:ln w="12700">
            <a:solidFill>
              <a:srgbClr val="C95B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9912" y="37307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6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098280" y="3630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DO CONTROLS WORK EQUALLY?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098280" y="405079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Review incident data, near misses, health indicators and worker experience.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WORKPLACE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PPE, tools and facilities: fit is a prevention issue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pic>
        <p:nvPicPr>
          <p:cNvPr id="8" name="Image 0" descr="/home/runner/work/impact_assessment_2026/impact_assessment_2026/deck-build/assets/solar_worke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1234440"/>
            <a:ext cx="4754880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" y="1298448"/>
            <a:ext cx="109728" cy="713232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PROCUREMENT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816352" y="12801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Specify size ranges, adjustment, compatibility and user testing - not one standard model.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13232" y="2377440"/>
            <a:ext cx="109728" cy="71323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2404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FIT AND FUNCTION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816352" y="235915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Check movement, visibility, dexterity, comfort, heat burden and interaction with other PPE.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713232" y="3456432"/>
            <a:ext cx="109728" cy="713232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3483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TOOLS AND WORKSTATIONS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2816352" y="343814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Design for the task and a realistic range of body dimensions and capabilities.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713232" y="4535424"/>
            <a:ext cx="109728" cy="713232"/>
          </a:xfrm>
          <a:prstGeom prst="rect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" y="4562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FACILITIES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2816352" y="451713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Provide safe sanitation, changing, washing, rest and privacy for the actual workforce.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68680" y="58064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Poor fit can reduce protection, create new hazards and discourage correct use.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WORK ORGANISATION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Working time, fatigue and recovery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2487168" cy="36118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21590">
            <a:solidFill>
              <a:srgbClr val="C95B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459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DEMAND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86968" y="2103120"/>
            <a:ext cx="2029968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Emergency call-outs, night work, travel, staffing shortages and high responsibility.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63824" y="3246120"/>
            <a:ext cx="237744" cy="0"/>
          </a:xfrm>
          <a:prstGeom prst="line">
            <a:avLst/>
          </a:prstGeom>
          <a:noFill/>
          <a:ln w="2540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444752"/>
            <a:ext cx="2487168" cy="36118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21590">
            <a:solidFill>
              <a:srgbClr val="E7A3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6459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FATIGUE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03320" y="2103120"/>
            <a:ext cx="2029968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Reduced attention, slower reactions, impaired judgement, emotional exhaustion and MSD risk.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0176" y="3246120"/>
            <a:ext cx="237744" cy="0"/>
          </a:xfrm>
          <a:prstGeom prst="line">
            <a:avLst/>
          </a:prstGeom>
          <a:noFill/>
          <a:ln w="2540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91072" y="1444752"/>
            <a:ext cx="2487168" cy="36118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21590">
            <a:solidFill>
              <a:srgbClr val="6B5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459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CONSEQUENCE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19672" y="2103120"/>
            <a:ext cx="2029968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Errors, incidents, conflict, health deterioration, absence and loss of experienced staff.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96528" y="3246120"/>
            <a:ext cx="237744" cy="0"/>
          </a:xfrm>
          <a:prstGeom prst="line">
            <a:avLst/>
          </a:prstGeom>
          <a:noFill/>
          <a:ln w="2540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07424" y="1444752"/>
            <a:ext cx="2487168" cy="36118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21590">
            <a:solidFill>
              <a:srgbClr val="2E8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16459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CONTROL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36024" y="2103120"/>
            <a:ext cx="2029968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Staffing, shift limits, predictable rosters, breaks, transport, recovery time and supervisor authority.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623560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Care responsibilities may affect recovery opportunities, but fatigue prevention must protect every worker.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4B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MENTAL HEALTH AT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Psychosocial risks are part of the OSH risk profile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315468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5B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470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WORKLOAD AND PACE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60520" y="1371600"/>
            <a:ext cx="315468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A3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8470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LOW CONTROL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35240" y="1371600"/>
            <a:ext cx="315468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5A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8470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TRAUMATIC EXPOSURE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315468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531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ROLE CONFLICT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160520" y="3977640"/>
            <a:ext cx="315468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44531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ISOLATION AND SUPPORT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35240" y="3977640"/>
            <a:ext cx="315468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44531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INSECURITY AND CHANGE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5897880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Prevention starts with work design, staffing, communication, participation and recovery - not only counselling after harm occurs.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SAFE WORKING ENVIRONMENT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Violence and harassment are OSH issues for women and men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1590">
            <a:solidFill>
              <a:srgbClr val="28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270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BULLYING AND HUMILIATION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1984248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Abuse of authority, hazing, repeated hostile conduct or exclusion.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1590">
            <a:solidFill>
              <a:srgbClr val="6B5A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270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SEXUAL HARASSMENT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1984248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Unwelcome conduct of a sexual nature, including verbal, non-verbal, physical or digital conduct.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33832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1590">
            <a:solidFill>
              <a:srgbClr val="C95B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5844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THREATS AND PHYSICAL VIOLENCE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6968" y="4041648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Workplace aggression, conflict, assault or intimidation.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33832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1590">
            <a:solidFill>
              <a:srgbClr val="E7A3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5844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THIRD-PARTY VIOLENCE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4041648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Aggression from customers, members of the public, contractors or other external actors.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" y="5486400"/>
            <a:ext cx="9921240" cy="65836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1D5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5669280"/>
            <a:ext cx="937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Women and men may experience different forms, contexts and reporting barriers - prevention must cover all workers.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ORGANISATIONAL CONTROLS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Preventing and addressing violence and harassment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1261872"/>
            <a:ext cx="566928" cy="566928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LEADERSHIP AND POLICY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0" y="124358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Clear standards, responsibilities and prohibition of retaliation.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9808" y="2048256"/>
            <a:ext cx="566928" cy="56692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202996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Identify settings, tasks and organisational conditions that increase risk.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9808" y="2834640"/>
            <a:ext cx="566928" cy="566928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443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2871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REPORTING AND EARLY ACTION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94760" y="281635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Accessible, confidential and trusted channels for all workers.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9808" y="3621024"/>
            <a:ext cx="566928" cy="566928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30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IMMEDIATE PROTECTION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94760" y="3602736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Safety planning, separation, work adjustments and medical or psychosocial support.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9808" y="4407408"/>
            <a:ext cx="566928" cy="566928"/>
          </a:xfrm>
          <a:prstGeom prst="ellipse">
            <a:avLst/>
          </a:prstGeom>
          <a:solidFill>
            <a:srgbClr val="6B5AA6"/>
          </a:solidFill>
          <a:ln w="12700">
            <a:solidFill>
              <a:srgbClr val="6B5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5171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4443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FAIR INVESTIGATION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94760" y="438912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Timely, competent and impartial procedures with due process.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49808" y="5193792"/>
            <a:ext cx="566928" cy="566928"/>
          </a:xfrm>
          <a:prstGeom prst="ellipse">
            <a:avLst/>
          </a:prstGeom>
          <a:solidFill>
            <a:srgbClr val="C95B61"/>
          </a:solidFill>
          <a:ln w="12700">
            <a:solidFill>
              <a:srgbClr val="C95B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03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54480" y="5230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LEARNING AND ACCOUNTABILITY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794760" y="517550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Correct organisational causes, communicate outcomes and monitor recurrence.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impact_assessment_2026/impact_assessment_2026/deck-build/assets/repai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284B96">
              <a:alpha val="91000"/>
            </a:srgbClr>
          </a:solidFill>
          <a:ln w="12700">
            <a:solidFill>
              <a:srgbClr val="284B9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85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OSH IN CRISIS AND RECOVERY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123444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PROTECTING ENERGY WORKERS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UNDER EXTRAORDINARY CONDITIONS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777240" y="3017520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2907792"/>
            <a:ext cx="4974336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Updated hazard information and site clearance</a:t>
            </a:r>
            <a:endParaRPr lang="en-US" sz="1620" dirty="0"/>
          </a:p>
        </p:txBody>
      </p:sp>
      <p:sp>
        <p:nvSpPr>
          <p:cNvPr id="8" name="Shape 5"/>
          <p:cNvSpPr/>
          <p:nvPr/>
        </p:nvSpPr>
        <p:spPr>
          <a:xfrm>
            <a:off x="777240" y="3511296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3401568"/>
            <a:ext cx="4974336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Emergency coordination and communication</a:t>
            </a:r>
            <a:endParaRPr lang="en-US" sz="1620" dirty="0"/>
          </a:p>
        </p:txBody>
      </p:sp>
      <p:sp>
        <p:nvSpPr>
          <p:cNvPr id="10" name="Shape 7"/>
          <p:cNvSpPr/>
          <p:nvPr/>
        </p:nvSpPr>
        <p:spPr>
          <a:xfrm>
            <a:off x="777240" y="4005072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3895344"/>
            <a:ext cx="4974336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Appropriate PPE and safe transport</a:t>
            </a:r>
            <a:endParaRPr lang="en-US" sz="1620" dirty="0"/>
          </a:p>
        </p:txBody>
      </p:sp>
      <p:sp>
        <p:nvSpPr>
          <p:cNvPr id="12" name="Shape 9"/>
          <p:cNvSpPr/>
          <p:nvPr/>
        </p:nvSpPr>
        <p:spPr>
          <a:xfrm>
            <a:off x="777240" y="4498848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4389120"/>
            <a:ext cx="4974336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Fatigue limits, relief crews and recovery time</a:t>
            </a:r>
            <a:endParaRPr lang="en-US" sz="1620" dirty="0"/>
          </a:p>
        </p:txBody>
      </p:sp>
      <p:sp>
        <p:nvSpPr>
          <p:cNvPr id="14" name="Shape 11"/>
          <p:cNvSpPr/>
          <p:nvPr/>
        </p:nvSpPr>
        <p:spPr>
          <a:xfrm>
            <a:off x="777240" y="4992624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4882896"/>
            <a:ext cx="4974336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Psychosocial support and trauma-informed supervision</a:t>
            </a:r>
            <a:endParaRPr lang="en-US" sz="1620" dirty="0"/>
          </a:p>
        </p:txBody>
      </p:sp>
      <p:sp>
        <p:nvSpPr>
          <p:cNvPr id="16" name="Shape 13"/>
          <p:cNvSpPr/>
          <p:nvPr/>
        </p:nvSpPr>
        <p:spPr>
          <a:xfrm>
            <a:off x="777240" y="5486400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5376672"/>
            <a:ext cx="4974336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Learning from incidents and near misses</a:t>
            </a:r>
            <a:endParaRPr lang="en-US" sz="1620" dirty="0"/>
          </a:p>
        </p:txBody>
      </p:sp>
      <p:sp>
        <p:nvSpPr>
          <p:cNvPr id="18" name="Shape 1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CAPABILITY AND SAFE ACCOMMODATION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Inclusive recovery and reintegration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1590">
            <a:solidFill>
              <a:srgbClr val="00A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270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WOMEN ENTERING TECHNICAL ROLES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1984248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Training, mentoring, PPE fit, facilities, safe transport and equal access to progression.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1590">
            <a:solidFill>
              <a:srgbClr val="2E8B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270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VETERANS AND RETURNING WORKERS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1984248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Capability-based return-to-work, rehabilitation, task matching and confidential support.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8368" y="34747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1590">
            <a:solidFill>
              <a:srgbClr val="6B5A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6758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PERSONS WITH DISABILITIES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86968" y="4133088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Reasonable accommodation, accessible facilities, assistive technology and inclusive emergency plans.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309360" y="34747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1590">
            <a:solidFill>
              <a:srgbClr val="E7A3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6758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DISPLACED, RETURNING AND OLDER WORKERS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60" y="4133088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Recognition of prior learning, bridging training, flexible pathways and safe induction.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606040" y="580644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Competence + safe accommodation + dignity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SOCIAL DIALOGUE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Worker participation is a safety control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108960" y="2743200"/>
            <a:ext cx="5120640" cy="0"/>
          </a:xfrm>
          <a:prstGeom prst="line">
            <a:avLst/>
          </a:prstGeom>
          <a:noFill/>
          <a:ln w="2540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3429000"/>
            <a:ext cx="2514600" cy="1234440"/>
          </a:xfrm>
          <a:prstGeom prst="line">
            <a:avLst/>
          </a:prstGeom>
          <a:noFill/>
          <a:ln w="2540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738360" y="3429000"/>
            <a:ext cx="-2423160" cy="1234440"/>
          </a:xfrm>
          <a:prstGeom prst="line">
            <a:avLst/>
          </a:prstGeom>
          <a:noFill/>
          <a:ln w="2540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1874520"/>
            <a:ext cx="3154680" cy="1508760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042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GOVERNMENT /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REGULATORS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412480" y="1874520"/>
            <a:ext cx="3154680" cy="1508760"/>
          </a:xfrm>
          <a:prstGeom prst="ellipse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3042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EMPLOYERS /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ENTERPRISES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480560" y="4160520"/>
            <a:ext cx="3154680" cy="150876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45902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WORKERS /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REPRESENTATIVES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4709160" y="2148840"/>
            <a:ext cx="27432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7A3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441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SHARED RISK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INTELLIGENCE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5897880"/>
            <a:ext cx="9829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Participation must include workers from different tasks, shifts, contract types and demographic groups.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SYSTEM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Integrate gender-responsive OSH into the management cycle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865376"/>
            <a:ext cx="3383280" cy="786384"/>
          </a:xfrm>
          <a:prstGeom prst="line">
            <a:avLst/>
          </a:prstGeom>
          <a:noFill/>
          <a:ln w="2286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09760" y="2651760"/>
            <a:ext cx="-731520" cy="2505456"/>
          </a:xfrm>
          <a:prstGeom prst="line">
            <a:avLst/>
          </a:prstGeom>
          <a:noFill/>
          <a:ln w="2286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78240" y="5157216"/>
            <a:ext cx="-5349240" cy="0"/>
          </a:xfrm>
          <a:prstGeom prst="line">
            <a:avLst/>
          </a:prstGeom>
          <a:noFill/>
          <a:ln w="2286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5157216"/>
            <a:ext cx="-777240" cy="-2505456"/>
          </a:xfrm>
          <a:prstGeom prst="line">
            <a:avLst/>
          </a:prstGeom>
          <a:noFill/>
          <a:ln w="2286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2651760"/>
            <a:ext cx="3474720" cy="-786384"/>
          </a:xfrm>
          <a:prstGeom prst="line">
            <a:avLst/>
          </a:prstGeom>
          <a:noFill/>
          <a:ln w="22860">
            <a:solidFill>
              <a:srgbClr val="A4AB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1207008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1590">
            <a:solidFill>
              <a:srgbClr val="284B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08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1865376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Map tasks, exposure and workforce patterns.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8092440" y="1993392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159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CONSULT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2651760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Include workers from different roles and shifts.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7360920" y="4498848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1590">
            <a:solidFill>
              <a:srgbClr val="2E8B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4700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CONTROL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89520" y="5157216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Apply the hierarchy of controls and test fit.</a:t>
            </a:r>
            <a:endParaRPr lang="en-US" sz="1430" dirty="0"/>
          </a:p>
        </p:txBody>
      </p:sp>
      <p:sp>
        <p:nvSpPr>
          <p:cNvPr id="22" name="Shape 20"/>
          <p:cNvSpPr/>
          <p:nvPr/>
        </p:nvSpPr>
        <p:spPr>
          <a:xfrm>
            <a:off x="2011680" y="4498848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1590">
            <a:solidFill>
              <a:srgbClr val="6B5A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4700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SUPPORT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240280" y="5157216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Manage working time, health and accommodation.</a:t>
            </a:r>
            <a:endParaRPr lang="en-US" sz="1430" dirty="0"/>
          </a:p>
        </p:txBody>
      </p:sp>
      <p:sp>
        <p:nvSpPr>
          <p:cNvPr id="25" name="Shape 23"/>
          <p:cNvSpPr/>
          <p:nvPr/>
        </p:nvSpPr>
        <p:spPr>
          <a:xfrm>
            <a:off x="1234440" y="1993392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1590">
            <a:solidFill>
              <a:srgbClr val="E7A3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MONITOR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2651760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Use data, experience and learning from events.</a:t>
            </a:r>
            <a:endParaRPr lang="en-US" sz="1430" dirty="0"/>
          </a:p>
        </p:txBody>
      </p:sp>
      <p:sp>
        <p:nvSpPr>
          <p:cNvPr id="28" name="Shape 26"/>
          <p:cNvSpPr/>
          <p:nvPr/>
        </p:nvSpPr>
        <p:spPr>
          <a:xfrm>
            <a:off x="4663440" y="2743200"/>
            <a:ext cx="2880360" cy="1417320"/>
          </a:xfrm>
          <a:prstGeom prst="ellipse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12724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INCLUSIVE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OSH MANAGEMENT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 minimum gender-responsive OSH dashboard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118872" cy="566928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WORKFORCE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743200" y="1261872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Participation, recruitment, retention and progression by occupation and task.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130552"/>
            <a:ext cx="118872" cy="566928"/>
          </a:xfrm>
          <a:prstGeom prst="rect">
            <a:avLst/>
          </a:prstGeom>
          <a:solidFill>
            <a:srgbClr val="C95B61"/>
          </a:solidFill>
          <a:ln w="12700">
            <a:solidFill>
              <a:srgbClr val="C95B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EXPOSURE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743200" y="211226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High-risk tasks, emergency work, shift patterns, travel and contractor exposure.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980944"/>
            <a:ext cx="118872" cy="566928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OSH OUTCOMES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743200" y="2962656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Incidents, near misses, occupational disease, fatigue and psychosocial indicators.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3831336"/>
            <a:ext cx="118872" cy="56692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FIT AND ACCESS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743200" y="381304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PPE fit, facilities, adjustments, training access and equipment trials.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681728"/>
            <a:ext cx="118872" cy="566928"/>
          </a:xfrm>
          <a:prstGeom prst="rect">
            <a:avLst/>
          </a:prstGeom>
          <a:solidFill>
            <a:srgbClr val="6B5AA6"/>
          </a:solidFill>
          <a:ln w="12700">
            <a:solidFill>
              <a:srgbClr val="6B5A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727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5AA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WORKER VOICE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743200" y="4663440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Concerns raised, response time, action closure, stop-work use and participation quality.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5623560"/>
            <a:ext cx="10241280" cy="65836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1D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579729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Safeguards: protect confidentiality, avoid identifying small groups, explain the purpose of data and prevent punitive use.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impact_assessment_2026/impact_assessment_2026/deck-build/assets/repai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284B96">
              <a:alpha val="92000"/>
            </a:srgbClr>
          </a:solidFill>
          <a:ln w="12700">
            <a:solidFill>
              <a:srgbClr val="284B9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66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FICTIONAL COMPOSITE CASE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024128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RESTORATION AFTER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INFRASTRUCTURE DAMAGE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777240" y="2871216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2761488"/>
            <a:ext cx="511149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 mixed crew is sent to restore a damaged substation.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3401568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3291840"/>
            <a:ext cx="511149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Several workers are new to the task; one is returning after injury.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931920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3822192"/>
            <a:ext cx="511149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The planned shift extends into the night after delays.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" y="4462272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4352544"/>
            <a:ext cx="511149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Some PPE sizes are unavailable and sanitation facilities are limited.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4992624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4882896"/>
            <a:ext cx="511149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 contractor reports hostile conduct but is reluctant to use the complaint channel.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20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GROUP TASK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Exercise: analyse the work, not the stereotype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1590">
            <a:solidFill>
              <a:srgbClr val="C95B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270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1  HAZARDS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6968" y="1984248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Identify physical, chemical, ergonomic, psychosocial and violence/harassment hazards.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159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270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7E89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2  EXPOSURE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1984248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Who performs which tasks, under which conditions, and what has changed?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8368" y="34747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1590">
            <a:solidFill>
              <a:srgbClr val="E7A3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6758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3  CONTROLS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86968" y="4133088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Which measures are missing or may not fit part of the workforce?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09360" y="34747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1590">
            <a:solidFill>
              <a:srgbClr val="2E8B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6758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4  ACTION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4133088"/>
            <a:ext cx="48006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What must change before work starts, during the task and after completion?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8064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Apply the hierarchy of controls. Do not solve organisational risks only with PPE, training or individual resilience.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ACTION PLANNING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 practical 30-60-90 day 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429000" cy="45262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0A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00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30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057400" y="18470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DAYS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24128" y="2487168"/>
            <a:ext cx="2651760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89504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779776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Map high-risk tasks and workforce patterns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1024128" y="3547872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438144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Consult workers across roles and shifts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1024128" y="4206240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4096512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Audit PPE, facilities and reporting channels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1024128" y="4864608"/>
            <a:ext cx="100584" cy="1005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4754880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Select one urgent psychosocial or harassment risk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4462272" y="1325880"/>
            <a:ext cx="3429000" cy="45262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E8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600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60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5879592" y="18470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DAYS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846320" y="2487168"/>
            <a:ext cx="2651760" cy="0"/>
          </a:xfrm>
          <a:prstGeom prst="line">
            <a:avLst/>
          </a:prstGeom>
          <a:noFill/>
          <a:ln w="25400">
            <a:solidFill>
              <a:srgbClr val="2E8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889504"/>
            <a:ext cx="100584" cy="100584"/>
          </a:xfrm>
          <a:prstGeom prst="ellipse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38344" y="2779776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Pilot corrected PPE or work design</a:t>
            </a:r>
            <a:endParaRPr lang="en-US" sz="1480" dirty="0"/>
          </a:p>
        </p:txBody>
      </p:sp>
      <p:sp>
        <p:nvSpPr>
          <p:cNvPr id="26" name="Shape 24"/>
          <p:cNvSpPr/>
          <p:nvPr/>
        </p:nvSpPr>
        <p:spPr>
          <a:xfrm>
            <a:off x="4846320" y="3547872"/>
            <a:ext cx="100584" cy="100584"/>
          </a:xfrm>
          <a:prstGeom prst="ellipse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38344" y="3438144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Update fatigue and emergency protocols</a:t>
            </a:r>
            <a:endParaRPr lang="en-US" sz="1480" dirty="0"/>
          </a:p>
        </p:txBody>
      </p:sp>
      <p:sp>
        <p:nvSpPr>
          <p:cNvPr id="28" name="Shape 26"/>
          <p:cNvSpPr/>
          <p:nvPr/>
        </p:nvSpPr>
        <p:spPr>
          <a:xfrm>
            <a:off x="4846320" y="4206240"/>
            <a:ext cx="100584" cy="100584"/>
          </a:xfrm>
          <a:prstGeom prst="ellipse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38344" y="4096512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Test reporting and support arrangements</a:t>
            </a:r>
            <a:endParaRPr lang="en-US" sz="1480" dirty="0"/>
          </a:p>
        </p:txBody>
      </p:sp>
      <p:sp>
        <p:nvSpPr>
          <p:cNvPr id="30" name="Shape 28"/>
          <p:cNvSpPr/>
          <p:nvPr/>
        </p:nvSpPr>
        <p:spPr>
          <a:xfrm>
            <a:off x="4846320" y="4864608"/>
            <a:ext cx="100584" cy="100584"/>
          </a:xfrm>
          <a:prstGeom prst="ellipse">
            <a:avLst/>
          </a:prstGeom>
          <a:solidFill>
            <a:srgbClr val="2E8B78"/>
          </a:solidFill>
          <a:ln w="12700">
            <a:solidFill>
              <a:srgbClr val="2E8B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38344" y="4754880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Launch targeted training or mentoring</a:t>
            </a:r>
            <a:endParaRPr lang="en-US" sz="1480" dirty="0"/>
          </a:p>
        </p:txBody>
      </p:sp>
      <p:sp>
        <p:nvSpPr>
          <p:cNvPr id="32" name="Shape 30"/>
          <p:cNvSpPr/>
          <p:nvPr/>
        </p:nvSpPr>
        <p:spPr>
          <a:xfrm>
            <a:off x="8284464" y="1325880"/>
            <a:ext cx="3429000" cy="45262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E7A3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1600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90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9701784" y="18470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DAYS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8668512" y="2487168"/>
            <a:ext cx="2651760" cy="0"/>
          </a:xfrm>
          <a:prstGeom prst="line">
            <a:avLst/>
          </a:prstGeom>
          <a:noFill/>
          <a:ln w="25400">
            <a:solidFill>
              <a:srgbClr val="E7A3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68512" y="2889504"/>
            <a:ext cx="100584" cy="100584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0536" y="2779776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Integrate actions into the OSH system</a:t>
            </a:r>
            <a:endParaRPr lang="en-US" sz="1480" dirty="0"/>
          </a:p>
        </p:txBody>
      </p:sp>
      <p:sp>
        <p:nvSpPr>
          <p:cNvPr id="38" name="Shape 36"/>
          <p:cNvSpPr/>
          <p:nvPr/>
        </p:nvSpPr>
        <p:spPr>
          <a:xfrm>
            <a:off x="8668512" y="3547872"/>
            <a:ext cx="100584" cy="100584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0536" y="3438144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Assign owners, resources and indicators</a:t>
            </a:r>
            <a:endParaRPr lang="en-US" sz="1480" dirty="0"/>
          </a:p>
        </p:txBody>
      </p:sp>
      <p:sp>
        <p:nvSpPr>
          <p:cNvPr id="40" name="Shape 38"/>
          <p:cNvSpPr/>
          <p:nvPr/>
        </p:nvSpPr>
        <p:spPr>
          <a:xfrm>
            <a:off x="8668512" y="4206240"/>
            <a:ext cx="100584" cy="100584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0536" y="4096512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Embed requirements in procurement and contracts</a:t>
            </a:r>
            <a:endParaRPr lang="en-US" sz="1480" dirty="0"/>
          </a:p>
        </p:txBody>
      </p:sp>
      <p:sp>
        <p:nvSpPr>
          <p:cNvPr id="42" name="Shape 40"/>
          <p:cNvSpPr/>
          <p:nvPr/>
        </p:nvSpPr>
        <p:spPr>
          <a:xfrm>
            <a:off x="8668512" y="4864608"/>
            <a:ext cx="100584" cy="100584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0536" y="4754880"/>
            <a:ext cx="25054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Review results through worker participation</a:t>
            </a:r>
            <a:endParaRPr lang="en-US" sz="1480" dirty="0"/>
          </a:p>
        </p:txBody>
      </p:sp>
      <p:sp>
        <p:nvSpPr>
          <p:cNvPr id="44" name="Text 42"/>
          <p:cNvSpPr/>
          <p:nvPr/>
        </p:nvSpPr>
        <p:spPr>
          <a:xfrm>
            <a:off x="1097280" y="6126480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Choose one action with a named owner before the session ends.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84B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95B61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SAFE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812280" y="114300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00A3E0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INCLUSIVE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22960" y="28529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E8B78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SKILLED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812280" y="28529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E7A33E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PARTICIPATORY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097280" y="4681728"/>
            <a:ext cx="10012680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0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The future of energy work must be designed around the real workforce and the real work.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51960" y="5925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1D5EB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What will you change first?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9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0A3E0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429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B96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Selected sources and image credits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024128" cy="640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84B96"/>
          </a:solidFill>
          <a:ln w="12700">
            <a:solidFill>
              <a:srgbClr val="284B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6281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84B96"/>
                </a:solidFill>
                <a:latin typeface="Noto Sans ExtraCondensed" pitchFamily="34" charset="0"/>
                <a:ea typeface="Noto Sans ExtraCondensed" pitchFamily="34" charset="-122"/>
                <a:cs typeface="Noto Sans ExtraCondensed" pitchFamily="34" charset="-120"/>
              </a:rPr>
              <a:t>ITCILO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1261872"/>
            <a:ext cx="5349240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ILO (2013), 10 Keys for gender-sensitive OSH practice.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ILO, Occupational Safety and Health Convention, 1981 (No. 155).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ILO, Promotional Framework for OSH Convention, 2006 (No. 187).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ILO, Violence and Harassment Convention, 2019 (No. 190).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ILO, Guidelines on OSH Management Systems, ILO-OSH 2001.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ILO Curriculum, Modules 14 and 15 on psychosocial risks.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ILO (2026), The psychosocial working environment.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ILO (2026), Protecting and Preparing Ukraine's Energy Workforce for Sustainable Recovery.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IRENA and ILO (2026), Renewable energy and jobs: Annual review 2025.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User-provided: Felix Martin Daza, Key Gender Issues in OSH.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6144768" y="1298448"/>
            <a:ext cx="0" cy="4956048"/>
          </a:xfrm>
          <a:prstGeom prst="line">
            <a:avLst/>
          </a:prstGeom>
          <a:noFill/>
          <a:ln w="19050">
            <a:solidFill>
              <a:srgbClr val="D1D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261872"/>
            <a:ext cx="4983480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Image credits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Adam Jones - Wind Turbine with Workers, Boryspil, Ukraine - CC BY-SA 2.0.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Western Area Power / Jeff Miller - Transmission system repairs underway - CC BY 2.0.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Solar worker image - Pexels licence.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Design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ITCILO Brand Guidelines, April 2026.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Speaker notes</a:t>
            </a:r>
            <a:endParaRPr lang="en-US" sz="14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30" dirty="0">
                <a:solidFill>
                  <a:srgbClr val="2B2A29"/>
                </a:solidFill>
                <a:latin typeface="Noto Sans SemiCondensed" pitchFamily="34" charset="0"/>
                <a:ea typeface="Noto Sans SemiCondensed" pitchFamily="34" charset="-122"/>
                <a:cs typeface="Noto Sans SemiCondensed" pitchFamily="34" charset="-120"/>
              </a:rPr>
              <a:t>All notes are written as presentation-ready bullet points and contain slide-specific source blocks.</a:t>
            </a:r>
            <a:endParaRPr lang="en-US" sz="14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emi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emi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ITCILO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and inclusive energy work for the future</dc:title>
  <dc:subject>Gender-responsive occupational safety and health in the future energy workforce</dc:subject>
  <dc:creator>International Training Centre of the ILO</dc:creator>
  <cp:lastModifiedBy>International Training Centre of the ILO</cp:lastModifiedBy>
  <cp:revision>1</cp:revision>
  <dcterms:created xsi:type="dcterms:W3CDTF">2026-10-21T20:08:18Z</dcterms:created>
  <dcterms:modified xsi:type="dcterms:W3CDTF">2026-10-21T20:08:18Z</dcterms:modified>
</cp:coreProperties>
</file>