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Modern energy work must be designed around the real workforce: the people who operate, repair, restore and modernize energy systems.
• Gender is considered here as an occupational safety and health variable: it can shape task allocation, exposure, equipment fit, working time, authority and access to prevention.
• The objective is not to treat women or men as homogeneous groups, but to make hidden differences in exposure and protection visible.
• Psychosocial risks, violence and harassment are part of the OSH risk profile and require organizational prevention.
• For Ukraine, these issues are immediate because continuity of essential services, wartime risks, workforce changes and future modernization occur at the same time.
[Sources]
- ILO, Protecting and Preparing Ukraine’s Energy Workforce for Sustainable Recovery (2026).
- ILO, 10 Keys for gender sensitive OSH practice (2013).
- ITCILO Brand Guidelines, April 2026 (user-provided file).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energy transition, reconstruction and digital modernization are changing technologies, occupations, skills and the location of work.
• Safety, inclusion and sustainability must be addressed together because each influences the others.
• A system that relies on unsuitable PPE, chronic fatigue or exclusion from technical roles is not resilient.
• Inclusive workplaces enlarge the skills pool and improve hazard identification by bringing more experience into decisions.
• The central question is how work is designed, allocated, supported and governed during change.
[Sources]
- ILO, Occupational safety and health in a just transition (2023).
- IRENA and ILO, Renewable energy and jobs: Annual review 2025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central outcome is inclusive workplaces: workplaces where every worker can perform safely, participate and access opportunity.
• Gender-responsive OSH strengthens four core functions of the OSH system rather than creating a separate equality project.
• Real exposure requires task-based evidence instead of assumptions based on job titles or average workers.
• Fit and access cover PPE, tools, workplaces, sanitation, transport, communication and emergency arrangements.
• Voice and participation determine whether hazards are reported and whether workers can stop unsafe work without retaliation.
• Work organization includes staffing, schedules, fatigue, violence and harassment, psychosocial risk management and reasonable accommodation.
[Sources]
- ILO, 10 Keys for gender sensitive OSH practice (2013).
- ILO Guidelines on Occupational Safety and Health Management Systems, ILO-OSH 2001.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Women hold 32 per cent of full-time renewable-energy jobs, compared with 23 per cent in oil and gas and 43 per cent across the global economy.
• Participation is concentrated in administrative and non-STEM technical roles and falls in medium-skilled, STEM and senior-management roles.
• The key OSH issue is not only representation; it is the distribution of tasks, hazards, equipment, training and decision-making power.
• A sector may appear relatively inclusive in overall headcount while technical and field exposure remains strongly segregated.
• The figures describe global patterns and should be tested against Ukrainian enterprise and sector data rather than assumed to apply identically.
• Sex-disaggregated headcount should be combined with task-level exposure data.
[Sources]
- IRENA and ILO (2026), Renewable energy and jobs: Annual review 2025, pp. 65-66, Figure 11.
- IRENA (2025), Renewable energy: A gender perspective, second edition.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Horizontal segregation means that women and men are concentrated in different occupations and tasks at the same organizational level.
• Task concentration creates different exposure profiles even when workers belong to the same enterprise or sector.
• Male-dominated field work may normalize high physical risk, long hours and reluctance to seek help.
• Female-concentrated administrative, customer-facing and coordination work may have less visible ergonomic, emotional and harassment-related risks.
• Mixed and changing roles deserve particular attention because workers may enter tasks designed around a previous workforce and inherited work culture.
• The purpose is not to attach hazards to women or men, but to analyse where people are actually located in the labour process.
[Sources]
- ILO, Gender and Occupational Safety and Health.
- IRENA and ILO (2026), Renewable energy and jobs: Annual review 2025, pp. 65-66.
- User-provided presentation: Felix Martin Daza, Key Gender Issues in the Field of Occupational Health and Safety.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Workforce shortages, displacement, mobilization, return from service and organizational restructuring may change who performs particular roles and tasks.
• The slide is deliberately framed as questions because enterprise-level evidence is required; the global report does not document specific task swaps in Ukraine.
• A worker entering an unfamiliar role may face hazards created by inadequate induction, mentoring, supervision or equipment fit rather than by personal characteristics.
• A change in workforce composition should trigger review of risk assessment, PPE stock, facilities, transport, emergency arrangements and psychosocial support.
• The discussion should identify concrete examples from participants and distinguish evidence from assumptions.
• The output is a list of tasks or roles requiring updated exposure assessment.
[Sources]
- ILO, Protecting and Preparing Ukraine’s Energy Workforce for Sustainable Recovery (2026).
- IRENA and ILO (2026), Renewable energy and jobs: Annual review 2025.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Gender blindness treats the workforce as if one standard worker, body and exposure pattern represents everyone.
• Gender neutrality is valuable when it means equal rights, equal competence standards and equal protection from hazards.
• Gender responsiveness prevents neutrality from becoming blindness by testing how the same rule or control works in practice for different workers.
• The response should be proportionate and evidence-based: adapt the control, equipment or organization rather than stereotype the worker.
• Examples include a range of harness sizes, accessible communication, pregnancy accommodation, safe transport for night work and task-based exposure data.
• The goal is equal access to safe work.
[Sources]
- ILO, 10 Keys for gender sensitive OSH practice (2013).
- ILO, Gender and Occupational Safety and Health.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Hazard identification is only the first step; risk depends on the pathway from hazard to exposure and outcome.
• Workers may face the same nominal hazard but perform different tasks, use different equipment or work under different schedules and authority structures.
• PPE fit, fatigue, contract status and confidence to stop work can change the effectiveness of controls.
• These are work-system characteristics rather than signs of individual weakness.
• The outcome includes exclusion when a poorly designed control prevents a competent worker from participating safely.
• Risk assessment should document both technical controls and organizational conditions.
[Sources]
- ILO, 10 Keys for gender sensitive OSH practice (2013).
- ILO Curriculum, Module 8: Occupational safety and health.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strong assessment covers the actual workforce and actual work rather than only permanent employees and written procedures.
• Observation is essential because task allocation, pace and workarounds may differ from formal descriptions.
• Low incident numbers can reflect under-reporting, weak trust or exclusion from particular tasks rather than low risk.
• Gender-responsive assessment includes PPE fit, sanitation, pregnancy and fertility, fatigue, violence and harassment and psychosocial exposure.
• Contractors and temporary workers require explicit inclusion because they may carry high-risk tasks while being less visible in enterprise data.
• The result should be preventive measures and accountable actions, not a label attached to a group of workers.
[Sources]
- ILO, 10 Keys for gender sensitive OSH practice (2013).
- ILO Curriculum, Modules 8, 14 and 15.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PPE fit is part of control effectiveness rather than a comfort or preference issue.
• A respirator that does not seal, a harness that does not fit or gloves that reduce dexterity may create additional hazards.
• Procurement should specify functional performance across a range of users and include worker trials before large purchases.
• Tools, controls, workstations and vehicle cabins should be assessed for reach, force, posture and emergency access.
• Facilities, transport and accommodation determine whether workers can participate safely in remote, night and emergency work.
• The correct response is to improve design and supply—not to exclude the worker from meaningful technical tasks.
[Sources]
- ILO, 10 Keys for gender sensitive OSH practice (2013), Key 9.
- User-provided presentation: Felix Martin Daza, Key Gender Issues in the Field of Occupational Health and Safety.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Reproductive hazards can affect women and men before conception and can also affect pregnancy, birth and early childhood.
• Relevant exposures may include chemicals, radiation, heat, biological agents, heavy physical work, stress and working time.
• Modern OSH practice controls the hazard for everyone rather than relying on blanket occupational restrictions.
• Individual accommodation may be required, but it should be confidential, evidence-based and designed to protect employment and career progression.
• Workers must be able to disclose pregnancy, fertility or health needs without fear of discrimination.
• The preventive question is whether the workplace controls exposure effectively—not whether a category of worker should be excluded.
[Sources]
- ILO Maternity Protection Convention, 2000 (No. 183).
- ILO, Gender and Occupational Safety and Health.
- User-provided presentation: Felix Martin Daza.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Violence and harassment affect physical and mental health, concentration, reporting, retention and the ability to perform work safely.
• Women and men may both be affected; gender-based violence and harassment describes forms connected to sex or gender and does not imply that only women are at risk.
• Convention No. 190 covers conduct connected with work, including travel, training, communication, sanitary facilities and employer-provided accommodation.
• Risk may be heightened by isolated sites, night work, emergency call-outs, hierarchical crews and contractor interfaces.
• Prevention belongs inside the OSH management system and requires more than a disciplinary policy.
• Effective controls include non-retaliation, multiple reporting channels, confidentiality, support, fair investigation and correction of organizational conditions.
[Sources]
- ILO Violence and Harassment Convention, 2019 (No. 190).
- ILO, Safe and healthy working environments free from violence and harassment (2020).
- ILO, Guide on Convention No. 190 and Recommendation No. 206 (2021).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Psychosocial risks arise from job design, work organization, management and the broader sector and policy environment.
• At task level, key factors include workload, role clarity, autonomy, emotional demands and exposure to traumatic events.
• At organizational level, staffing, schedules, leadership, fairness, support, participation and reporting systems shape risk.
• At sector level, restructuring, insecurity, regulation and public expectations influence organizational choices and worker experience.
• Counselling and resilience training can support recovery but cannot substitute for adequate staffing, realistic deadlines, rest, clear roles and fair processes.
• Gender, contract status, disability and care responsibilities may influence exposure and access to support at every level.
[Sources]
- ILO, The psychosocial working environment: Global developments and pathways for action (2026).
- ILO Curriculum, Modules 14 and 15 on psychosocial risks.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Fatigue connects psychosocial and physical safety because reduced attention and slower reaction can contribute to electrical, driving and maintenance incidents.
• Traumatic exposure may result from serious incidents, attacks, disasters, damaged infrastructure or seeing injured colleagues.
• Time pressure can normalize shortcuts when essential services must be restored quickly.
• Role conflict arises when operational, production, security and safety priorities compete or authority is unclear.
• Isolation can be physical, digital or organizational and may reduce access to support and reporting.
• Change and insecurity require transparent communication, participation and credible skills pathways.
[Sources]
- ILO, The psychosocial working environment (2026).
- ILO Curriculum, Modules 14 and 15.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Modernization changes the risk profile but does not eliminate traditional energy-sector hazards.
• Electrical work, work at height, lifting, driving, confined spaces, fire and chemical exposure remain central.
• Heat, extreme weather, damaged infrastructure and emergency restoration may intensify exposure and fatigue.
• New energy technologies introduce specific fire, explosion, chemical and competency requirements.
• Changing roles and contractor interfaces can create gaps in responsibility, supervision and communication.
• Gender-responsive change management reviews who performs new tasks, how controls fit and whose experience informs design.
[Sources]
- ILO, Occupational safety and health in a just transition (2023).
- ILO, Ensuring safety and health at work in a changing climate (2024).
- ILO, Protecting and Preparing Ukraine’s Energy Workforce for Sustainable Recovery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Energy workers protecting and restoring electricity and heating face operational, security, fatigue and psychosocial risks at the same time.
• Immediate prevention requires updated protocols, suitable PPE, verified information, realistic staffing and clear emergency coordination.
• Psychosocial protection requires organizational fatigue controls, trauma-informed leadership, peer support and confidential professional services.
• Short-term emergency practices should be converted into permanent institutional capacity and learning.
• Future resilience depends on retaining and expanding skills among women, veterans, persons with disabilities, displaced workers and returning workers.
• Worker participation and social dialogue connect immediate protection with long-term reconstruction.
[Sources]
- ILO, Protecting and Preparing Ukraine’s Energy Workforce for Sustainable Recovery (2026).
- ILO Development Cooperation Dashboard, UKR/25/06/NLD.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Inclusion does not lower competence or safety standards; it removes unnecessary barriers and provides adjustments so workers can meet essential requirements safely.
• Reasonable accommodation may involve equipment, task content, working time, communication, training or the physical environment.
• Return-to-work and rehabilitation should focus on capability and be planned with the worker, occupational health professionals and management.
• Women entering technical roles need suitable PPE and facilities, mentoring, transparent progression and protection from harassment.
• Displaced, returning and older workers may need recognition of prior learning, bridging training and flexible pathways.
• Support should preserve privacy, dignity and career opportunity.
[Sources]
- ILO, Promoting diversity and inclusion through workplace adjustments (2016).
- ILO, Guideline on reasonable accommodation for persons with disabilities (2026).
- ILO Ukraine energy workforce project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Government, employers and workers hold different parts of the information required for effective prevention.
• Workers understand how tasks are performed, where procedures fail and which controls are practical.
• Employers understand technology, resources and operational constraints; authorities understand regulation and system priorities.
• Dialogue must occur early enough to influence decisions rather than only communicate completed plans.
• Women, contractors, younger workers, workers with disabilities and different occupations should be represented in consultation structures.
• Effective participation requires time, access to information, protection from retaliation and feedback on actions taken.
[Sources]
- ILO Occupational Safety and Health Convention, 1981 (No. 155).
- ILO Curriculum, Module 5: Cooperation and partnership.
- ILO, The role of collective bargaining in promoting just transitions (2025).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Headcount alone cannot show whether exposure, fit, access or voice are distributed fairly.
• Exposure data should identify who performs high-risk tasks and under which schedules, contracts and emergency conditions.
• Outcome data should be analysed by task and employment arrangement because total incident rates can hide segregation and under-reporting.
• Fit and access indicators show whether PPE, facilities, training and accommodations function in practice.
• Worker-voice indicators show whether reporting leads to timely action and whether stop-work authority is credible.
• Sensitive data require confidentiality, data minimization and clear separation from punitive performance management.
[Sources]
- ILO, 10 Keys for gender sensitive OSH practice (2013), Key 5.
- IRENA and ILO (2026), Renewable energy and jobs: Annual review 2025.
- ILO, The psychosocial working environment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30 days establish evidence: task mapping, worker consultation, PPE and facility review and selection of an urgent psychosocial or harassment risk.
• The next 60 days test solutions rather than waiting for a perfect strategy.
• Useful pilots include a PPE size range, revised shift rules, safer transport, a reporting route, mentoring or communication accommodation.
• The 90-day phase institutionalizes successful measures through ownership, resources, procurement, contractor requirements and indicators.
• Actions should connect safety and inclusion rather than treating them as separate projects.
• Every selected action should have a named owner, an implementation date and an indicator of change.
[Sources]
- ILO, 10 Keys for gender sensitive OSH practice (2013).
- ILO, Occupational safety and health in a just transition (2023).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fictional composite case designed to combine life-critical, organizational, psychosocial and inclusion issues.
• The hospital circuit creates legitimate urgency but does not cancel the duty to verify isolation, security and rescue conditions.
• The mixed crew raises questions about competence, mentoring, communication, task allocation and equipment fit.
• Hearing loss should trigger communication accommodation rather than automatic exclusion.
• The woman technician should receive work based on competence and controls rather than stereotypical protection.
• The 12-hour duty period and 90-minute target make fatigue and production pressure central hazards.
[Sources]
- Fictional case informed by the ILO Ukraine energy workforce project (2026).
- ILO Curriculum, Modules 8, 14 and 15.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response should begin with the first decision rather than a long list of general measures.
• Life-critical controls include verified security information, isolation, structural stability, communication, weather and rescue arrangements.
• Task allocation should reflect verified competence, supervision and fit—not assumptions about sex, age, disability or contract status.
• The correct harness size and accessible communication are controls required for safe participation.
• Fatigue must be controlled through staffing, rest, rotation or replacement rather than individual caution.
• The post-job review should address near misses, procurement gaps, reporting, support and changes to emergency protocols.
[Sources]
- Exercise based on ILO OSH risk-management principles and the fictional case.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Urgency does not replace verification of life-critical conditions.
• The task sequence and restoration target must reflect actual hazards, resources and worker condition.
• Competence-based allocation and correct fit support equal opportunity and safe performance at the same time.
• Communication accommodation allows a worker with hearing loss to contribute safely when the task controls support it.
• Fatigue is an organizational risk requiring staffing and recovery measures.
• System learning closes the loop by correcting procurement, protocols, reporting and psychosocial support after the job.
[Sources]
- ILO Guidelines on Occupational Safety and Health Management Systems, ILO-OSH 2001.
- ILO Occupational Safety and Health Convention, 1981 (No. 155).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Gender-responsive OSH begins with real tasks, exposure and work organization—not abstract assumptions about women and men.
• Inclusive design strengthens safety by improving fit, access, communication and participation for the whole workforce.
• Violence, harassment, fatigue and psychosocial strain are OSH risks and require organizational prevention.
• Data should connect workforce composition with exposure, outcomes, fit, capability and worker voice.
• Worker participation and social dialogue convert experience into preventive action and system learning.
• The practical commitment is one workplace decision, one accountable owner and one indicator of change.
[Sources]
- ILO, 10 Keys for gender sensitive OSH practice (2013).
- ILO Convention No. 155, Convention No. 187 and Convention No. 190.
- IRENA and ILO (2026), Renewable energy and jobs: Annual review 2025.
- ILO, The psychosocial working environment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ergy workers at a renewable energy si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284B96">
              <a:alpha val="87000"/>
            </a:srgbClr>
          </a:solidFill>
          <a:ln w="12700">
            <a:solidFill>
              <a:srgbClr val="284B9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94360" y="658368"/>
            <a:ext cx="109728" cy="4983480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1051560"/>
            <a:ext cx="5623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MODERN AND INCLUSIVE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ENERGY WORK FOR THE FUTURE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987552" y="3273552"/>
            <a:ext cx="5440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Gender-responsive occupational safety and health, psychosocial risks, violence and harassment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87552" y="48920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Ukraine energy sector training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87552" y="52395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ITCILO | 2026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CONDENSED FRAMING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One transition - three workforce imperatives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58368" y="1417320"/>
            <a:ext cx="3383280" cy="4251960"/>
          </a:xfrm>
          <a:prstGeom prst="roundRect">
            <a:avLst/>
          </a:prstGeom>
          <a:solidFill>
            <a:srgbClr val="FFFFFF"/>
          </a:solidFill>
          <a:ln w="29210">
            <a:solidFill>
              <a:srgbClr val="C95B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09928" y="1783080"/>
            <a:ext cx="1280160" cy="1280160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75688" y="20574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78408" y="3337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SAFE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1042416" y="4005072"/>
            <a:ext cx="2615184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Control established, emerging and wartime hazards through prevention and strong OSH systems.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498848" y="1417320"/>
            <a:ext cx="3383280" cy="4251960"/>
          </a:xfrm>
          <a:prstGeom prst="roundRect">
            <a:avLst/>
          </a:prstGeom>
          <a:solidFill>
            <a:srgbClr val="FFFFFF"/>
          </a:solidFill>
          <a:ln w="29210">
            <a:solidFill>
              <a:srgbClr val="00A3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50408" y="1783080"/>
            <a:ext cx="1280160" cy="1280160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16168" y="20574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3100" dirty="0"/>
          </a:p>
        </p:txBody>
      </p:sp>
      <p:sp>
        <p:nvSpPr>
          <p:cNvPr id="16" name="Text 14"/>
          <p:cNvSpPr/>
          <p:nvPr/>
        </p:nvSpPr>
        <p:spPr>
          <a:xfrm>
            <a:off x="4818888" y="3337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INCLUSIVE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4882896" y="4005072"/>
            <a:ext cx="2615184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Design jobs, equipment, facilities and career pathways for the actual diversity of the workforce.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339328" y="1417320"/>
            <a:ext cx="3383280" cy="4251960"/>
          </a:xfrm>
          <a:prstGeom prst="roundRect">
            <a:avLst/>
          </a:prstGeom>
          <a:solidFill>
            <a:srgbClr val="FFFFFF"/>
          </a:solidFill>
          <a:ln w="29210">
            <a:solidFill>
              <a:srgbClr val="2E8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90888" y="1783080"/>
            <a:ext cx="1280160" cy="1280160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6648" y="20574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3100" dirty="0"/>
          </a:p>
        </p:txBody>
      </p:sp>
      <p:sp>
        <p:nvSpPr>
          <p:cNvPr id="21" name="Text 19"/>
          <p:cNvSpPr/>
          <p:nvPr/>
        </p:nvSpPr>
        <p:spPr>
          <a:xfrm>
            <a:off x="8659368" y="3337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SUSTAINABLE</a:t>
            </a:r>
            <a:endParaRPr lang="en-US" sz="2900" dirty="0"/>
          </a:p>
        </p:txBody>
      </p:sp>
      <p:sp>
        <p:nvSpPr>
          <p:cNvPr id="22" name="Text 20"/>
          <p:cNvSpPr/>
          <p:nvPr/>
        </p:nvSpPr>
        <p:spPr>
          <a:xfrm>
            <a:off x="8723376" y="4005072"/>
            <a:ext cx="2615184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Build skills, participation and work organization that can support recovery and long-term modernization.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234440" y="5943600"/>
            <a:ext cx="9738360" cy="457200"/>
          </a:xfrm>
          <a:prstGeom prst="roundRect">
            <a:avLst/>
          </a:prstGeom>
          <a:solidFill>
            <a:srgbClr val="D1D5E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4480" y="6062472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These are not separate agendas: the quality of work determines the resilience of the energy system.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CENTRAL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Gender-responsive OSH: the route to inclusive workplaces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855464" y="2423160"/>
            <a:ext cx="2468880" cy="210312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66944" y="3035808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INCLUSIVE</a:t>
            </a:r>
            <a:endParaRPr lang="en-US" sz="2500" dirty="0"/>
          </a:p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WORKPLACES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58368" y="1325880"/>
            <a:ext cx="3337560" cy="1143000"/>
          </a:xfrm>
          <a:prstGeom prst="roundRect">
            <a:avLst/>
          </a:prstGeom>
          <a:solidFill>
            <a:srgbClr val="FFFFFF"/>
          </a:solidFill>
          <a:ln w="2667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REAL EXPOSURE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86968" y="18562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Map actual tasks, shifts, contractors and changing roles.</a:t>
            </a:r>
            <a:endParaRPr lang="en-US" sz="1370" dirty="0"/>
          </a:p>
        </p:txBody>
      </p:sp>
      <p:sp>
        <p:nvSpPr>
          <p:cNvPr id="13" name="Shape 11"/>
          <p:cNvSpPr/>
          <p:nvPr/>
        </p:nvSpPr>
        <p:spPr>
          <a:xfrm>
            <a:off x="4041648" y="1892808"/>
            <a:ext cx="722376" cy="987552"/>
          </a:xfrm>
          <a:prstGeom prst="line">
            <a:avLst/>
          </a:prstGeom>
          <a:noFill/>
          <a:ln w="2032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83880" y="1325880"/>
            <a:ext cx="3337560" cy="1143000"/>
          </a:xfrm>
          <a:prstGeom prst="roundRect">
            <a:avLst/>
          </a:prstGeom>
          <a:solidFill>
            <a:srgbClr val="FFFFFF"/>
          </a:solidFill>
          <a:ln w="26670">
            <a:solidFill>
              <a:srgbClr val="00A3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5048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 AND ACCESS</a:t>
            </a: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8412480" y="18562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PPE, tools, facilities and procedures that work for diverse users.</a:t>
            </a:r>
            <a:endParaRPr lang="en-US" sz="1370" dirty="0"/>
          </a:p>
        </p:txBody>
      </p:sp>
      <p:sp>
        <p:nvSpPr>
          <p:cNvPr id="17" name="Shape 15"/>
          <p:cNvSpPr/>
          <p:nvPr/>
        </p:nvSpPr>
        <p:spPr>
          <a:xfrm>
            <a:off x="8138160" y="1892808"/>
            <a:ext cx="-722376" cy="987552"/>
          </a:xfrm>
          <a:prstGeom prst="line">
            <a:avLst/>
          </a:prstGeom>
          <a:noFill/>
          <a:ln w="2032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58368" y="4617720"/>
            <a:ext cx="3337560" cy="1143000"/>
          </a:xfrm>
          <a:prstGeom prst="roundRect">
            <a:avLst/>
          </a:prstGeom>
          <a:solidFill>
            <a:srgbClr val="FFFFFF"/>
          </a:solidFill>
          <a:ln w="26670">
            <a:solidFill>
              <a:srgbClr val="2E8B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7914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VOICE AND PARTICIPATION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886968" y="514807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Consultation, stop-work authority and trusted reporting.</a:t>
            </a:r>
            <a:endParaRPr lang="en-US" sz="1370" dirty="0"/>
          </a:p>
        </p:txBody>
      </p:sp>
      <p:sp>
        <p:nvSpPr>
          <p:cNvPr id="21" name="Shape 19"/>
          <p:cNvSpPr/>
          <p:nvPr/>
        </p:nvSpPr>
        <p:spPr>
          <a:xfrm>
            <a:off x="4041648" y="5184648"/>
            <a:ext cx="722376" cy="-1115568"/>
          </a:xfrm>
          <a:prstGeom prst="line">
            <a:avLst/>
          </a:prstGeom>
          <a:noFill/>
          <a:ln w="2032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83880" y="4617720"/>
            <a:ext cx="3337560" cy="1143000"/>
          </a:xfrm>
          <a:prstGeom prst="roundRect">
            <a:avLst/>
          </a:prstGeom>
          <a:solidFill>
            <a:srgbClr val="FFFFFF"/>
          </a:solidFill>
          <a:ln w="26670">
            <a:solidFill>
              <a:srgbClr val="E7A3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85048" y="47914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 ORGANIZATION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8412480" y="514807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Staffing, working time, psychosocial prevention and support.</a:t>
            </a:r>
            <a:endParaRPr lang="en-US" sz="1370" dirty="0"/>
          </a:p>
        </p:txBody>
      </p:sp>
      <p:sp>
        <p:nvSpPr>
          <p:cNvPr id="25" name="Shape 23"/>
          <p:cNvSpPr/>
          <p:nvPr/>
        </p:nvSpPr>
        <p:spPr>
          <a:xfrm>
            <a:off x="8138160" y="5184648"/>
            <a:ext cx="-722376" cy="-1115568"/>
          </a:xfrm>
          <a:prstGeom prst="line">
            <a:avLst/>
          </a:prstGeom>
          <a:noFill/>
          <a:ln w="2032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828800" y="6108192"/>
            <a:ext cx="8549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Gender-responsive OSH is not a parallel programme. It improves the core OSH management system.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IRENA AND ILO EVIDENCE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Women’s participation varies sharply by occupation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13075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Administrative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2944368" y="132588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1325880"/>
            <a:ext cx="3991356" cy="256032"/>
          </a:xfrm>
          <a:prstGeom prst="round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70648" y="128016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45%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8368" y="190195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Non-STEM technical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2944368" y="192024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44368" y="1920240"/>
            <a:ext cx="3193085" cy="256032"/>
          </a:xfrm>
          <a:prstGeom prst="round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70648" y="187452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36%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58368" y="2496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Other roles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2944368" y="251460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44368" y="2514600"/>
            <a:ext cx="2572207" cy="256032"/>
          </a:xfrm>
          <a:prstGeom prst="roundRect">
            <a:avLst/>
          </a:prstGeom>
          <a:solidFill>
            <a:srgbClr val="7885BC"/>
          </a:solidFill>
          <a:ln w="12700">
            <a:solidFill>
              <a:srgbClr val="7885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0648" y="246888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885BC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29%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58368" y="30906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STEM technical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2944368" y="310896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44368" y="3108960"/>
            <a:ext cx="2483510" cy="256032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70648" y="306324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28%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58368" y="36850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Middle management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2944368" y="370332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44368" y="3703320"/>
            <a:ext cx="2306117" cy="256032"/>
          </a:xfrm>
          <a:prstGeom prst="roundRect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70648" y="365760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26%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58368" y="4279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Medium-skilled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2944368" y="429768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44368" y="4297680"/>
            <a:ext cx="1951330" cy="256032"/>
          </a:xfrm>
          <a:prstGeom prst="round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0648" y="425196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22%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658368" y="487375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Senior management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2944368" y="489204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44368" y="4892040"/>
            <a:ext cx="1685239" cy="256032"/>
          </a:xfrm>
          <a:prstGeom prst="roundRect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0648" y="484632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19%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7360920" y="1325880"/>
            <a:ext cx="4069080" cy="4389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6680" y="173736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98989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23%</a:t>
            </a:r>
            <a:endParaRPr lang="en-US" sz="3800" dirty="0"/>
          </a:p>
        </p:txBody>
      </p:sp>
      <p:sp>
        <p:nvSpPr>
          <p:cNvPr id="38" name="Text 36"/>
          <p:cNvSpPr/>
          <p:nvPr/>
        </p:nvSpPr>
        <p:spPr>
          <a:xfrm>
            <a:off x="9052560" y="18105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Oil and gas average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726680" y="2788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32%</a:t>
            </a:r>
            <a:endParaRPr lang="en-US" sz="3800" dirty="0"/>
          </a:p>
        </p:txBody>
      </p:sp>
      <p:sp>
        <p:nvSpPr>
          <p:cNvPr id="40" name="Text 38"/>
          <p:cNvSpPr/>
          <p:nvPr/>
        </p:nvSpPr>
        <p:spPr>
          <a:xfrm>
            <a:off x="9052560" y="2862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Renewable energy average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726680" y="38404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43%</a:t>
            </a:r>
            <a:endParaRPr lang="en-US" sz="3800" dirty="0"/>
          </a:p>
        </p:txBody>
      </p:sp>
      <p:sp>
        <p:nvSpPr>
          <p:cNvPr id="42" name="Text 40"/>
          <p:cNvSpPr/>
          <p:nvPr/>
        </p:nvSpPr>
        <p:spPr>
          <a:xfrm>
            <a:off x="9052560" y="39136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Global economy average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726680" y="4956048"/>
            <a:ext cx="3337560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26680" y="5138928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OSH implication is occupational exposure: different roles mean different hazards, controls and influence over decisions.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685800" y="6144768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Source: IRENA and ILO, Renewable energy and jobs: Annual review 2025, Figure 11.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OCCUPATIONAL SEGREGATION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Horizontal segregation concentrates tasks - and hazards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1353312"/>
            <a:ext cx="3429000" cy="4434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2E8B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6824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FIELD- AND TRADE-INTENSIVE ROLES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14400" y="2679192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560320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Line maintenance and emergency restoration</a:t>
            </a:r>
            <a:endParaRPr lang="en-US" sz="1520" dirty="0"/>
          </a:p>
        </p:txBody>
      </p:sp>
      <p:sp>
        <p:nvSpPr>
          <p:cNvPr id="12" name="Shape 10"/>
          <p:cNvSpPr/>
          <p:nvPr/>
        </p:nvSpPr>
        <p:spPr>
          <a:xfrm>
            <a:off x="914400" y="3300984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15568" y="3182112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Construction, installation and lifting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914400" y="3922776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3803904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Work at height, driving and isolated work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914400" y="4544568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4425696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Electrical, mechanical and physical hazards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4434840" y="1353312"/>
            <a:ext cx="3429000" cy="4434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E7A3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6824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OFFICE-, SUPPORT- AND CUSTOMER-INTENSIVE ROLES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782312" y="2679192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2560320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Administration, finance and human resources</a:t>
            </a:r>
            <a:endParaRPr lang="en-US" sz="1520" dirty="0"/>
          </a:p>
        </p:txBody>
      </p:sp>
      <p:sp>
        <p:nvSpPr>
          <p:cNvPr id="22" name="Shape 20"/>
          <p:cNvSpPr/>
          <p:nvPr/>
        </p:nvSpPr>
        <p:spPr>
          <a:xfrm>
            <a:off x="4782312" y="3300984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3182112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Planning, customer services and coordination</a:t>
            </a:r>
            <a:endParaRPr lang="en-US" sz="1520" dirty="0"/>
          </a:p>
        </p:txBody>
      </p:sp>
      <p:sp>
        <p:nvSpPr>
          <p:cNvPr id="24" name="Shape 22"/>
          <p:cNvSpPr/>
          <p:nvPr/>
        </p:nvSpPr>
        <p:spPr>
          <a:xfrm>
            <a:off x="4782312" y="3922776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3803904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Display-screen work and emotional demands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4782312" y="4544568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4425696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Work intensity, harassment and low recognition</a:t>
            </a:r>
            <a:endParaRPr lang="en-US" sz="1520" dirty="0"/>
          </a:p>
        </p:txBody>
      </p:sp>
      <p:sp>
        <p:nvSpPr>
          <p:cNvPr id="28" name="Shape 26"/>
          <p:cNvSpPr/>
          <p:nvPr/>
        </p:nvSpPr>
        <p:spPr>
          <a:xfrm>
            <a:off x="8302752" y="1353312"/>
            <a:ext cx="3429000" cy="4434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00A3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77072" y="16824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MIXED AND CHANGING ROLES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650224" y="267919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51392" y="2560320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Control rooms, engineering and diagnostics</a:t>
            </a:r>
            <a:endParaRPr lang="en-US" sz="1520" dirty="0"/>
          </a:p>
        </p:txBody>
      </p:sp>
      <p:sp>
        <p:nvSpPr>
          <p:cNvPr id="32" name="Shape 30"/>
          <p:cNvSpPr/>
          <p:nvPr/>
        </p:nvSpPr>
        <p:spPr>
          <a:xfrm>
            <a:off x="8650224" y="3300984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51392" y="3182112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Inspection, supervision and technical support</a:t>
            </a:r>
            <a:endParaRPr lang="en-US" sz="1520" dirty="0"/>
          </a:p>
        </p:txBody>
      </p:sp>
      <p:sp>
        <p:nvSpPr>
          <p:cNvPr id="34" name="Shape 32"/>
          <p:cNvSpPr/>
          <p:nvPr/>
        </p:nvSpPr>
        <p:spPr>
          <a:xfrm>
            <a:off x="8650224" y="3922776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51392" y="3803904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New entrants moving into unfamiliar tasks</a:t>
            </a:r>
            <a:endParaRPr lang="en-US" sz="1520" dirty="0"/>
          </a:p>
        </p:txBody>
      </p:sp>
      <p:sp>
        <p:nvSpPr>
          <p:cNvPr id="36" name="Shape 34"/>
          <p:cNvSpPr/>
          <p:nvPr/>
        </p:nvSpPr>
        <p:spPr>
          <a:xfrm>
            <a:off x="8650224" y="4544568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51392" y="4425696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Combined physical and psychosocial exposures</a:t>
            </a:r>
            <a:endParaRPr lang="en-US" sz="1520" dirty="0"/>
          </a:p>
        </p:txBody>
      </p:sp>
      <p:sp>
        <p:nvSpPr>
          <p:cNvPr id="38" name="Text 36"/>
          <p:cNvSpPr/>
          <p:nvPr/>
        </p:nvSpPr>
        <p:spPr>
          <a:xfrm>
            <a:off x="914400" y="6053328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Segregation can hide risks in female-concentrated work and normalize risk-taking in male-concentrated work.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4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DISCUSSION GROUNDED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is changing in the Ukrainian energy workforce?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" y="1636776"/>
            <a:ext cx="640080" cy="0"/>
          </a:xfrm>
          <a:prstGeom prst="line">
            <a:avLst/>
          </a:prstGeom>
          <a:noFill/>
          <a:ln w="76200">
            <a:solidFill>
              <a:srgbClr val="00A3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7048" y="13533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ROLES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624328" y="130759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Which occupations or tasks are now performed by a different mix of women and men than before?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327648" y="1636776"/>
            <a:ext cx="640080" cy="0"/>
          </a:xfrm>
          <a:prstGeom prst="line">
            <a:avLst/>
          </a:prstGeom>
          <a:noFill/>
          <a:ln w="7620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96328" y="13533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HAZARDS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93608" y="130759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Have new entrants inherited different physical, psychosocial or security risks?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58368" y="3118104"/>
            <a:ext cx="640080" cy="0"/>
          </a:xfrm>
          <a:prstGeom prst="line">
            <a:avLst/>
          </a:prstGeom>
          <a:noFill/>
          <a:ln w="76200">
            <a:solidFill>
              <a:srgbClr val="2E8B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27048" y="2834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PREPARATION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624328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Are induction, mentoring, competence assessment and supervision keeping pace?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327648" y="3118104"/>
            <a:ext cx="640080" cy="0"/>
          </a:xfrm>
          <a:prstGeom prst="line">
            <a:avLst/>
          </a:prstGeom>
          <a:noFill/>
          <a:ln w="76200">
            <a:solidFill>
              <a:srgbClr val="E7A3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96328" y="2834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93608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Do PPE, tools, facilities, transport and accommodation fit the current workforce?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8368" y="4599432"/>
            <a:ext cx="640080" cy="0"/>
          </a:xfrm>
          <a:prstGeom prst="line">
            <a:avLst/>
          </a:prstGeom>
          <a:noFill/>
          <a:ln w="76200">
            <a:solidFill>
              <a:srgbClr val="6B5A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27048" y="43159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VOICE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624328" y="427024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Who participates in risk assessment, emergency planning and post-incident learning?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327648" y="4599432"/>
            <a:ext cx="640080" cy="0"/>
          </a:xfrm>
          <a:prstGeom prst="line">
            <a:avLst/>
          </a:prstGeom>
          <a:noFill/>
          <a:ln w="76200">
            <a:solidFill>
              <a:srgbClr val="7885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96328" y="43159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DATA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293608" y="427024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evidence is missing on tasks, exposure, near misses, fatigue and harassment?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1051560" y="5870448"/>
            <a:ext cx="10058400" cy="4572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5240">
            <a:solidFill>
              <a:srgbClr val="00A3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25880" y="5989320"/>
            <a:ext cx="9509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Changing roles require renewed risk assessment - not assumptions that the task, worker or control has stayed the same.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RISK ASSESSMENT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Gender-neutral does not have to mean gender-blind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3429000" cy="45720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C95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645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GENDER-BLIND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23544" y="2240280"/>
            <a:ext cx="277063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Uses one “average worker” and assumes identical exposure, fit and ability to use controls.</a:t>
            </a:r>
            <a:endParaRPr lang="en-US" sz="1620" dirty="0"/>
          </a:p>
        </p:txBody>
      </p:sp>
      <p:sp>
        <p:nvSpPr>
          <p:cNvPr id="11" name="Shape 9"/>
          <p:cNvSpPr/>
          <p:nvPr/>
        </p:nvSpPr>
        <p:spPr>
          <a:xfrm>
            <a:off x="1097280" y="3474720"/>
            <a:ext cx="2423160" cy="0"/>
          </a:xfrm>
          <a:prstGeom prst="line">
            <a:avLst/>
          </a:prstGeom>
          <a:noFill/>
          <a:ln w="19050">
            <a:solidFill>
              <a:srgbClr val="C95B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272" y="3913632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3794760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Hidden task differences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1033272" y="4480560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361688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Missing groups in data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033272" y="5047488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4440" y="4928616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Controls tested on a narrow user profile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4462272" y="1298448"/>
            <a:ext cx="3429000" cy="45720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7885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36592" y="1645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885BC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GENDER-NEUTRAL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791456" y="2240280"/>
            <a:ext cx="277063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Applies the same rights, competence requirements and prevention principles to everyone.</a:t>
            </a:r>
            <a:endParaRPr lang="en-US" sz="1620" dirty="0"/>
          </a:p>
        </p:txBody>
      </p:sp>
      <p:sp>
        <p:nvSpPr>
          <p:cNvPr id="21" name="Shape 19"/>
          <p:cNvSpPr/>
          <p:nvPr/>
        </p:nvSpPr>
        <p:spPr>
          <a:xfrm>
            <a:off x="4965192" y="3474720"/>
            <a:ext cx="2423160" cy="0"/>
          </a:xfrm>
          <a:prstGeom prst="line">
            <a:avLst/>
          </a:prstGeom>
          <a:noFill/>
          <a:ln w="19050">
            <a:solidFill>
              <a:srgbClr val="7885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01184" y="3913632"/>
            <a:ext cx="109728" cy="109728"/>
          </a:xfrm>
          <a:prstGeom prst="ellipse">
            <a:avLst/>
          </a:prstGeom>
          <a:solidFill>
            <a:srgbClr val="7885BC"/>
          </a:solidFill>
          <a:ln w="12700">
            <a:solidFill>
              <a:srgbClr val="7885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02352" y="3794760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Equal standards</a:t>
            </a:r>
            <a:endParaRPr lang="en-US" sz="1520" dirty="0"/>
          </a:p>
        </p:txBody>
      </p:sp>
      <p:sp>
        <p:nvSpPr>
          <p:cNvPr id="24" name="Shape 22"/>
          <p:cNvSpPr/>
          <p:nvPr/>
        </p:nvSpPr>
        <p:spPr>
          <a:xfrm>
            <a:off x="4901184" y="4480560"/>
            <a:ext cx="109728" cy="109728"/>
          </a:xfrm>
          <a:prstGeom prst="ellipse">
            <a:avLst/>
          </a:prstGeom>
          <a:solidFill>
            <a:srgbClr val="7885BC"/>
          </a:solidFill>
          <a:ln w="12700">
            <a:solidFill>
              <a:srgbClr val="7885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02352" y="4361688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No automatic exclusion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4901184" y="5047488"/>
            <a:ext cx="109728" cy="109728"/>
          </a:xfrm>
          <a:prstGeom prst="ellipse">
            <a:avLst/>
          </a:prstGeom>
          <a:solidFill>
            <a:srgbClr val="7885BC"/>
          </a:solidFill>
          <a:ln w="12700">
            <a:solidFill>
              <a:srgbClr val="7885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02352" y="4928616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Consistent duty of care</a:t>
            </a:r>
            <a:endParaRPr lang="en-US" sz="1520" dirty="0"/>
          </a:p>
        </p:txBody>
      </p:sp>
      <p:sp>
        <p:nvSpPr>
          <p:cNvPr id="28" name="Shape 26"/>
          <p:cNvSpPr/>
          <p:nvPr/>
        </p:nvSpPr>
        <p:spPr>
          <a:xfrm>
            <a:off x="8330184" y="1298448"/>
            <a:ext cx="3429000" cy="45720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2E8B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04504" y="1645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GENDER-RESPONSIVE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659368" y="2240280"/>
            <a:ext cx="277063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Applies equal principles while adapting assessment and controls to real workers and real tasks.</a:t>
            </a:r>
            <a:endParaRPr lang="en-US" sz="1620" dirty="0"/>
          </a:p>
        </p:txBody>
      </p:sp>
      <p:sp>
        <p:nvSpPr>
          <p:cNvPr id="31" name="Shape 29"/>
          <p:cNvSpPr/>
          <p:nvPr/>
        </p:nvSpPr>
        <p:spPr>
          <a:xfrm>
            <a:off x="8833104" y="3474720"/>
            <a:ext cx="2423160" cy="0"/>
          </a:xfrm>
          <a:prstGeom prst="line">
            <a:avLst/>
          </a:prstGeom>
          <a:noFill/>
          <a:ln w="19050">
            <a:solidFill>
              <a:srgbClr val="2E8B7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69096" y="3913632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70264" y="3794760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Task-based evidence</a:t>
            </a:r>
            <a:endParaRPr lang="en-US" sz="1520" dirty="0"/>
          </a:p>
        </p:txBody>
      </p:sp>
      <p:sp>
        <p:nvSpPr>
          <p:cNvPr id="34" name="Shape 32"/>
          <p:cNvSpPr/>
          <p:nvPr/>
        </p:nvSpPr>
        <p:spPr>
          <a:xfrm>
            <a:off x="8769096" y="4480560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70264" y="4361688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Inclusive design and fit</a:t>
            </a:r>
            <a:endParaRPr lang="en-US" sz="1520" dirty="0"/>
          </a:p>
        </p:txBody>
      </p:sp>
      <p:sp>
        <p:nvSpPr>
          <p:cNvPr id="36" name="Shape 34"/>
          <p:cNvSpPr/>
          <p:nvPr/>
        </p:nvSpPr>
        <p:spPr>
          <a:xfrm>
            <a:off x="8769096" y="5047488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70264" y="4928616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Participation and accommodation</a:t>
            </a:r>
            <a:endParaRPr lang="en-US" sz="1520" dirty="0"/>
          </a:p>
        </p:txBody>
      </p:sp>
      <p:sp>
        <p:nvSpPr>
          <p:cNvPr id="38" name="Text 36"/>
          <p:cNvSpPr/>
          <p:nvPr/>
        </p:nvSpPr>
        <p:spPr>
          <a:xfrm>
            <a:off x="1097280" y="6126480"/>
            <a:ext cx="1001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Equal treatment can require different controls when exposure, fit or work organization differ.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EXPOSURE PATHWAY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same hazard can produce different exposure and outcomes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920240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84048" y="1691640"/>
            <a:ext cx="1572768" cy="2331720"/>
          </a:xfrm>
          <a:prstGeom prst="roundRect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493776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HAZARD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512064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Electricity, heat, chemicals, violence, workload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858768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22576" y="1691640"/>
            <a:ext cx="1572768" cy="2331720"/>
          </a:xfrm>
          <a:prstGeom prst="round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52928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2432304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TASK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450592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Who performs it, how often and for how long?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797296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261104" y="1691640"/>
            <a:ext cx="1572768" cy="2331720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4370832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4389120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Does equipment, PPE and the workstation fit?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35824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99632" y="1691640"/>
            <a:ext cx="1572768" cy="2331720"/>
          </a:xfrm>
          <a:prstGeom prst="round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9984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6309360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ORGANIZATION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327648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Staffing, shifts, autonomy, breaks and travel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674352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138160" y="1691640"/>
            <a:ext cx="1572768" cy="2331720"/>
          </a:xfrm>
          <a:prstGeom prst="roundRect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68512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5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8247888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POWER AND VOICE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266176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Can the worker refuse, report and influence controls?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10076688" y="1691640"/>
            <a:ext cx="1572768" cy="2331720"/>
          </a:xfrm>
          <a:prstGeom prst="round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07040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6</a:t>
            </a:r>
            <a:endParaRPr lang="en-US" sz="2900" dirty="0"/>
          </a:p>
        </p:txBody>
      </p:sp>
      <p:sp>
        <p:nvSpPr>
          <p:cNvPr id="35" name="Text 33"/>
          <p:cNvSpPr/>
          <p:nvPr/>
        </p:nvSpPr>
        <p:spPr>
          <a:xfrm>
            <a:off x="10186416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OUTCOME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204704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Safe performance, injury, illness, exclusion or turnover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60120" y="4754880"/>
            <a:ext cx="10241280" cy="960120"/>
          </a:xfrm>
          <a:prstGeom prst="roundRect">
            <a:avLst/>
          </a:prstGeom>
          <a:solidFill>
            <a:srgbClr val="D1D5E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80160" y="506577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 gender-responsive assessment follows the entire pathway. It does not stop after identifying the hazard.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RISK ASSESSMENT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Three questions that expose blind spots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685800" cy="685800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1517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737360" y="13898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WHO IS EXPOSED?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17720" y="1353312"/>
            <a:ext cx="6537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Include contractors, night workers, new entrants, pregnant workers, workers with disabilities and isolated workers.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777240" y="2788920"/>
            <a:ext cx="685800" cy="685800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35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280720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HOW IS THE TASK REALLY DONE?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17720" y="2770632"/>
            <a:ext cx="6537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Observe task allocation, duration, posture, pace, workarounds, travel and access to breaks.</a:t>
            </a:r>
            <a:endParaRPr lang="en-US" sz="1620" dirty="0"/>
          </a:p>
        </p:txBody>
      </p:sp>
      <p:sp>
        <p:nvSpPr>
          <p:cNvPr id="16" name="Shape 14"/>
          <p:cNvSpPr/>
          <p:nvPr/>
        </p:nvSpPr>
        <p:spPr>
          <a:xfrm>
            <a:off x="777240" y="4206240"/>
            <a:ext cx="685800" cy="685800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4352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37360" y="422452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WHO IS ABSENT FROM THE DATA?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617720" y="4187952"/>
            <a:ext cx="6537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Look for under-reporting, turnover, small groups, near misses and workers who do not feel safe to speak.</a:t>
            </a:r>
            <a:endParaRPr lang="en-US" sz="1620" dirty="0"/>
          </a:p>
        </p:txBody>
      </p:sp>
      <p:sp>
        <p:nvSpPr>
          <p:cNvPr id="20" name="Shape 18"/>
          <p:cNvSpPr/>
          <p:nvPr/>
        </p:nvSpPr>
        <p:spPr>
          <a:xfrm>
            <a:off x="822960" y="5715000"/>
            <a:ext cx="10607040" cy="502920"/>
          </a:xfrm>
          <a:prstGeom prst="roundRect">
            <a:avLst/>
          </a:prstGeom>
          <a:solidFill>
            <a:srgbClr val="FBEDEE"/>
          </a:solidFill>
          <a:ln w="13970">
            <a:solidFill>
              <a:srgbClr val="C95B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585216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C95B61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Common omissions: PPE fit | sanitation | pregnancy and fertility | violence and harassment | fatigue | commuting | contractor exposure | psychosocial risks</a:t>
            </a:r>
            <a:endParaRPr lang="en-US" sz="1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PPE, TOOLS AND FACILITIES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Fit is a control measure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pic>
        <p:nvPicPr>
          <p:cNvPr id="8" name="Image 0" descr="Energy technicians at wor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234440"/>
            <a:ext cx="4800600" cy="5074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94360" y="5230368"/>
            <a:ext cx="4800600" cy="1078992"/>
          </a:xfrm>
          <a:prstGeom prst="rect">
            <a:avLst/>
          </a:prstGeom>
          <a:solidFill>
            <a:srgbClr val="284B96">
              <a:alpha val="90000"/>
            </a:srgbClr>
          </a:solidFill>
          <a:ln w="12700">
            <a:solidFill>
              <a:srgbClr val="284B96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6112" y="5504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Protection that does not fit may not protect.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897880" y="1709928"/>
            <a:ext cx="731520" cy="0"/>
          </a:xfrm>
          <a:prstGeom prst="line">
            <a:avLst/>
          </a:prstGeom>
          <a:noFill/>
          <a:ln w="76200">
            <a:solidFill>
              <a:srgbClr val="C95B6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12280" y="1417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PPE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812280" y="184708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Size ranges, fall-arrest harnesses, gloves, respirators, hearing protection, body armour and pregnancy-related needs.</a:t>
            </a:r>
            <a:endParaRPr lang="en-US" sz="1580" dirty="0"/>
          </a:p>
        </p:txBody>
      </p:sp>
      <p:sp>
        <p:nvSpPr>
          <p:cNvPr id="14" name="Shape 11"/>
          <p:cNvSpPr/>
          <p:nvPr/>
        </p:nvSpPr>
        <p:spPr>
          <a:xfrm>
            <a:off x="5897880" y="3218688"/>
            <a:ext cx="731520" cy="0"/>
          </a:xfrm>
          <a:prstGeom prst="line">
            <a:avLst/>
          </a:prstGeom>
          <a:noFill/>
          <a:ln w="76200">
            <a:solidFill>
              <a:srgbClr val="00A3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12280" y="292608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TOOLS AND WORKSTATIONS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812280" y="335584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Grip size, reach, force, posture, controls, vehicle cabins, displays and emergency access.</a:t>
            </a:r>
            <a:endParaRPr lang="en-US" sz="1580" dirty="0"/>
          </a:p>
        </p:txBody>
      </p:sp>
      <p:sp>
        <p:nvSpPr>
          <p:cNvPr id="17" name="Shape 14"/>
          <p:cNvSpPr/>
          <p:nvPr/>
        </p:nvSpPr>
        <p:spPr>
          <a:xfrm>
            <a:off x="5897880" y="4727448"/>
            <a:ext cx="731520" cy="0"/>
          </a:xfrm>
          <a:prstGeom prst="line">
            <a:avLst/>
          </a:prstGeom>
          <a:noFill/>
          <a:ln w="76200">
            <a:solidFill>
              <a:srgbClr val="2E8B7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12280" y="44348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FACILITIES AND PROCEDURES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812280" y="486460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Changing rooms, sanitation, lighting, safe transport, accommodation, rescue and medical response.</a:t>
            </a:r>
            <a:endParaRPr lang="en-US" sz="15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REPRODUCTIVE HEALTH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Protect exposure - do not exclude people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1353312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EXCLUSIONARY APPROACH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49808" y="1828800"/>
            <a:ext cx="5074920" cy="3520440"/>
          </a:xfrm>
          <a:prstGeom prst="roundRect">
            <a:avLst/>
          </a:prstGeom>
          <a:solidFill>
            <a:srgbClr val="FBEDEE"/>
          </a:solidFill>
          <a:ln w="21590">
            <a:solidFill>
              <a:srgbClr val="C95B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856" y="2450592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5024" y="2331720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Assume certain jobs are unsuitable for women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1133856" y="3108960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5024" y="2990088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Use blanket restrictions instead of controlling hazards</a:t>
            </a:r>
            <a:endParaRPr lang="en-US" sz="1620" dirty="0"/>
          </a:p>
        </p:txBody>
      </p:sp>
      <p:sp>
        <p:nvSpPr>
          <p:cNvPr id="14" name="Shape 12"/>
          <p:cNvSpPr/>
          <p:nvPr/>
        </p:nvSpPr>
        <p:spPr>
          <a:xfrm>
            <a:off x="1133856" y="3767328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35024" y="3648456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Focus only on pregnancy and ignore fertility risks for all workers</a:t>
            </a:r>
            <a:endParaRPr lang="en-US" sz="1620" dirty="0"/>
          </a:p>
        </p:txBody>
      </p:sp>
      <p:sp>
        <p:nvSpPr>
          <p:cNvPr id="16" name="Shape 14"/>
          <p:cNvSpPr/>
          <p:nvPr/>
        </p:nvSpPr>
        <p:spPr>
          <a:xfrm>
            <a:off x="1133856" y="4425696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35024" y="4306824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Transfer responsibility for prevention to the individual</a:t>
            </a:r>
            <a:endParaRPr lang="en-US" sz="1620" dirty="0"/>
          </a:p>
        </p:txBody>
      </p:sp>
      <p:sp>
        <p:nvSpPr>
          <p:cNvPr id="18" name="Text 16"/>
          <p:cNvSpPr/>
          <p:nvPr/>
        </p:nvSpPr>
        <p:spPr>
          <a:xfrm>
            <a:off x="6327648" y="1353312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PREVENTIVE APPROACH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6327648" y="1828800"/>
            <a:ext cx="5074920" cy="3520440"/>
          </a:xfrm>
          <a:prstGeom prst="roundRect">
            <a:avLst/>
          </a:prstGeom>
          <a:solidFill>
            <a:srgbClr val="EAF6F2"/>
          </a:solidFill>
          <a:ln w="21590">
            <a:solidFill>
              <a:srgbClr val="2E8B7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11696" y="2450592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12864" y="2331720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Identify reproductive hazards for women and men</a:t>
            </a:r>
            <a:endParaRPr lang="en-US" sz="1620" dirty="0"/>
          </a:p>
        </p:txBody>
      </p:sp>
      <p:sp>
        <p:nvSpPr>
          <p:cNvPr id="22" name="Shape 20"/>
          <p:cNvSpPr/>
          <p:nvPr/>
        </p:nvSpPr>
        <p:spPr>
          <a:xfrm>
            <a:off x="6711696" y="3108960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12864" y="2990088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Eliminate or reduce chemical, physical, biological and psychosocial exposure</a:t>
            </a:r>
            <a:endParaRPr lang="en-US" sz="1620" dirty="0"/>
          </a:p>
        </p:txBody>
      </p:sp>
      <p:sp>
        <p:nvSpPr>
          <p:cNvPr id="24" name="Shape 22"/>
          <p:cNvSpPr/>
          <p:nvPr/>
        </p:nvSpPr>
        <p:spPr>
          <a:xfrm>
            <a:off x="6711696" y="3767328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12864" y="3648456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Provide confidential information, surveillance and accommodation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6711696" y="4425696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12864" y="4306824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Protect employment and prevent discrimination</a:t>
            </a:r>
            <a:endParaRPr lang="en-US" sz="1620" dirty="0"/>
          </a:p>
        </p:txBody>
      </p:sp>
      <p:sp>
        <p:nvSpPr>
          <p:cNvPr id="28" name="Shape 26"/>
          <p:cNvSpPr/>
          <p:nvPr/>
        </p:nvSpPr>
        <p:spPr>
          <a:xfrm>
            <a:off x="5504688" y="3566160"/>
            <a:ext cx="667512" cy="0"/>
          </a:xfrm>
          <a:prstGeom prst="line">
            <a:avLst/>
          </a:prstGeom>
          <a:noFill/>
          <a:ln w="38100">
            <a:solidFill>
              <a:srgbClr val="284B9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5742432"/>
            <a:ext cx="9555480" cy="502920"/>
          </a:xfrm>
          <a:prstGeom prst="roundRect">
            <a:avLst/>
          </a:prstGeom>
          <a:solidFill>
            <a:srgbClr val="D1D5E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00200" y="5879592"/>
            <a:ext cx="9006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Equal access to safe work depends on effective controls, confidentiality and reasonable accommodation.</a:t>
            </a:r>
            <a:endParaRPr lang="en-US" sz="1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4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VIOLENCE AND HARASSMENT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Violence and harassment are OSH risks for women and men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1261872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Every worker may experience violence and harassment. Gender-based forms may differ in pattern, context and impact.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658368" cy="0"/>
          </a:xfrm>
          <a:prstGeom prst="line">
            <a:avLst/>
          </a:prstGeom>
          <a:noFill/>
          <a:ln w="76200">
            <a:solidFill>
              <a:srgbClr val="00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21762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WITHIN TEAMS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29000" y="21214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70" dirty="0">
                <a:solidFill>
                  <a:srgbClr val="D1D5E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Bullying, humiliation, threats, unwanted conduct and abuse of authority.</a:t>
            </a:r>
            <a:endParaRPr lang="en-US" sz="1470" dirty="0"/>
          </a:p>
        </p:txBody>
      </p:sp>
      <p:sp>
        <p:nvSpPr>
          <p:cNvPr id="11" name="Shape 9"/>
          <p:cNvSpPr/>
          <p:nvPr/>
        </p:nvSpPr>
        <p:spPr>
          <a:xfrm>
            <a:off x="6263640" y="2468880"/>
            <a:ext cx="658368" cy="0"/>
          </a:xfrm>
          <a:prstGeom prst="line">
            <a:avLst/>
          </a:prstGeom>
          <a:noFill/>
          <a:ln w="76200">
            <a:solidFill>
              <a:srgbClr val="C95B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21762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THIRD-PARTY VIOLENCE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52560" y="21214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70" dirty="0">
                <a:solidFill>
                  <a:srgbClr val="D1D5E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Aggression from customers, members of the public, contractors or armed actors.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658368" cy="0"/>
          </a:xfrm>
          <a:prstGeom prst="line">
            <a:avLst/>
          </a:prstGeom>
          <a:noFill/>
          <a:ln w="76200">
            <a:solidFill>
              <a:srgbClr val="E7A3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3685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ISOLATED / NIGHT WORK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29000" y="36301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70" dirty="0">
                <a:solidFill>
                  <a:srgbClr val="D1D5E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Remote sites, call-outs, transport, accommodation and reduced access to support.</a:t>
            </a:r>
            <a:endParaRPr lang="en-US" sz="1470" dirty="0"/>
          </a:p>
        </p:txBody>
      </p:sp>
      <p:sp>
        <p:nvSpPr>
          <p:cNvPr id="17" name="Shape 15"/>
          <p:cNvSpPr/>
          <p:nvPr/>
        </p:nvSpPr>
        <p:spPr>
          <a:xfrm>
            <a:off x="6263640" y="3977640"/>
            <a:ext cx="658368" cy="0"/>
          </a:xfrm>
          <a:prstGeom prst="line">
            <a:avLst/>
          </a:prstGeom>
          <a:noFill/>
          <a:ln w="76200">
            <a:solidFill>
              <a:srgbClr val="6B5A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3685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DIGITAL CHANNELS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52560" y="36301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70" dirty="0">
                <a:solidFill>
                  <a:srgbClr val="D1D5E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Hostile messages, intrusive contact, monitoring and harassment through work technologies.</a:t>
            </a:r>
            <a:endParaRPr lang="en-US" sz="1470" dirty="0"/>
          </a:p>
        </p:txBody>
      </p:sp>
      <p:sp>
        <p:nvSpPr>
          <p:cNvPr id="20" name="Shape 18"/>
          <p:cNvSpPr/>
          <p:nvPr/>
        </p:nvSpPr>
        <p:spPr>
          <a:xfrm>
            <a:off x="932688" y="5349240"/>
            <a:ext cx="10332720" cy="713232"/>
          </a:xfrm>
          <a:prstGeom prst="roundRect">
            <a:avLst/>
          </a:prstGeom>
          <a:solidFill>
            <a:srgbClr val="FFFFFF">
              <a:alpha val="10000"/>
            </a:srgbClr>
          </a:solidFill>
          <a:ln w="16510">
            <a:solidFill>
              <a:srgbClr val="00A3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0" y="5559552"/>
            <a:ext cx="9829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Prevention: risk assessment | clear standards | safe staffing and travel | trusted reporting | survivor-centred support | accountability | worker participation</a:t>
            </a:r>
            <a:endParaRPr lang="en-US" sz="15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PSYCHOSOCIAL WORKING ENVIRONMENT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Psychosocial risks are work-design risks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46120" y="1325880"/>
            <a:ext cx="5715000" cy="4754880"/>
          </a:xfrm>
          <a:prstGeom prst="ellipse">
            <a:avLst/>
          </a:prstGeom>
          <a:solidFill>
            <a:srgbClr val="D1D5EB"/>
          </a:solidFill>
          <a:ln w="25400">
            <a:solidFill>
              <a:srgbClr val="7885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1993392"/>
            <a:ext cx="3977640" cy="3401568"/>
          </a:xfrm>
          <a:prstGeom prst="ellipse">
            <a:avLst/>
          </a:prstGeom>
          <a:solidFill>
            <a:srgbClr val="DDF4FB"/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83480" y="2724912"/>
            <a:ext cx="2240280" cy="192024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16916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SECTOR AND POLICY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03320" y="5440680"/>
            <a:ext cx="4800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Restructuring, insecurity, labour-market conditions, regulation, social dialogue and public expectations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4343400" y="22860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ORGANIZATION AND WORKPLACE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389120" y="47365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Staffing, schedules, leadership, fairness, support, participation and reporting systems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321808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TASK / ROLE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67588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Demands, workload, autonomy, role clarity and traumatic exposure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914400" y="619963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Prevention must act at all three levels - not only teach individuals to cope.</a:t>
            </a:r>
            <a:endParaRPr lang="en-US" sz="1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PSYCHOSOCIAL RISKS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psychosocial risk profile of energy work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175504" y="2423160"/>
            <a:ext cx="1828800" cy="182880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8112" y="2834640"/>
            <a:ext cx="12435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SAFE AND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SUSTAINABLE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PERFORMANCE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1325880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145389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FATIGUE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95528" y="180136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Long shifts, night work and interrupted recovery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2286000" y="2423160"/>
            <a:ext cx="2980944" cy="182880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60520" y="1005840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5A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338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TRAUMATIC EXPOSURE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4361688" y="148132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Serious incidents, attacks, disasters and repeated emergency work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5852160" y="2103120"/>
            <a:ext cx="237744" cy="502920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83880" y="1325880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A3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45389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TIME PRESSURE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8385048" y="180136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Pressure to restore service and avoid disruption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9875520" y="2423160"/>
            <a:ext cx="-2962656" cy="182880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302752" y="4315968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67344" y="444398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LOW CONTROL / ROLE CONFLICT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8503920" y="4791456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Competing instructions and unclear authority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9994392" y="4270248"/>
            <a:ext cx="-3081528" cy="-201168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187952" y="5074920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B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52544" y="52029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ISOLATION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4389120" y="555040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Remote sites, lone work and weak support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5879592" y="5029200"/>
            <a:ext cx="210312" cy="-960120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02920" y="4315968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5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444398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7885BC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INSECURITY / CHANGE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704088" y="4791456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Restructuring, new skills and uncertain careers</a:t>
            </a:r>
            <a:endParaRPr lang="en-US" sz="1320" dirty="0"/>
          </a:p>
        </p:txBody>
      </p:sp>
      <p:sp>
        <p:nvSpPr>
          <p:cNvPr id="33" name="Shape 31"/>
          <p:cNvSpPr/>
          <p:nvPr/>
        </p:nvSpPr>
        <p:spPr>
          <a:xfrm>
            <a:off x="2194560" y="4270248"/>
            <a:ext cx="3072384" cy="-201168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005840" y="610819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Possible outcomes: error and near misses | conflict | ill-health | turnover | unsafe shortcuts | exclusion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OSH IN TRANSITION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Modern energy work combines established and changing hazards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13258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ESTABLISHED HAZARDS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685800" y="1783080"/>
            <a:ext cx="5074920" cy="4160520"/>
          </a:xfrm>
          <a:prstGeom prst="roundRect">
            <a:avLst/>
          </a:prstGeom>
          <a:solidFill>
            <a:srgbClr val="FBEDEE"/>
          </a:solidFill>
          <a:ln w="21590">
            <a:solidFill>
              <a:srgbClr val="C95B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2359152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44168" y="2240280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Electrical energy, arc flash and stored energy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143000" y="2971800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44168" y="2852928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Work at height, falling objects and structural instability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3584448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4168" y="3465576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Machinery, lifting, vehicles and confined spaces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143000" y="4197096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44168" y="4078224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Fire, explosion, dusts, chemicals, noise and vibration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143000" y="4809744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44168" y="4690872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Manual handling, repetitive work and poor ergonomics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537960" y="13258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CHANGING OR INTENSIFYING HAZARDS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6446520" y="1783080"/>
            <a:ext cx="5074920" cy="4160520"/>
          </a:xfrm>
          <a:prstGeom prst="roundRect">
            <a:avLst/>
          </a:prstGeom>
          <a:solidFill>
            <a:srgbClr val="EAF7FB"/>
          </a:solidFill>
          <a:ln w="21590">
            <a:solidFill>
              <a:srgbClr val="00A3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235915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04888" y="2240280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Heat, extreme weather, disaster and wartime restoration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6903720" y="2971800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04888" y="2852928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Batteries, hydrogen and new materials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6903720" y="3584448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04888" y="3465576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Remote operation and cyber-physical failures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6903720" y="4197096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04888" y="4078224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Complex contractor interfaces and changing roles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6903720" y="4809744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04888" y="4690872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Fatigue, traumatic exposure, violence and harassment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43000" y="6144768"/>
            <a:ext cx="9921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New technology does not remove old hazards. Change management must cover both columns.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ergy infrastructure repair wor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B96">
              <a:alpha val="74000"/>
            </a:srgbClr>
          </a:solidFill>
          <a:ln w="12700">
            <a:solidFill>
              <a:srgbClr val="284B9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58368" y="502920"/>
            <a:ext cx="1051560" cy="310896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53949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70" kern="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UKRAINE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85800" y="1051560"/>
            <a:ext cx="5806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ENERGY RESILIENCE DEPENDS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ON WORKER PROTECTION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749808" y="3017520"/>
            <a:ext cx="685800" cy="0"/>
          </a:xfrm>
          <a:prstGeom prst="line">
            <a:avLst/>
          </a:prstGeom>
          <a:noFill/>
          <a:ln w="76200">
            <a:solidFill>
              <a:srgbClr val="00A3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27632" y="2788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IMMEDIATE OSH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3886200" y="2743200"/>
            <a:ext cx="6903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Wartime protocols, appropriate PPE, security information, emergency coordination and safe repair procedures.</a:t>
            </a:r>
            <a:endParaRPr lang="en-US" sz="1520" dirty="0"/>
          </a:p>
        </p:txBody>
      </p:sp>
      <p:sp>
        <p:nvSpPr>
          <p:cNvPr id="10" name="Shape 7"/>
          <p:cNvSpPr/>
          <p:nvPr/>
        </p:nvSpPr>
        <p:spPr>
          <a:xfrm>
            <a:off x="749808" y="4005072"/>
            <a:ext cx="685800" cy="0"/>
          </a:xfrm>
          <a:prstGeom prst="line">
            <a:avLst/>
          </a:prstGeom>
          <a:noFill/>
          <a:ln w="76200">
            <a:solidFill>
              <a:srgbClr val="2E8B7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627632" y="37764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PSYCHOSOCIAL PROTECTION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3886200" y="3730752"/>
            <a:ext cx="6903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Fatigue management, trauma-informed support, peer systems, confidential services and recovery after critical incidents.</a:t>
            </a:r>
            <a:endParaRPr lang="en-US" sz="1520" dirty="0"/>
          </a:p>
        </p:txBody>
      </p:sp>
      <p:sp>
        <p:nvSpPr>
          <p:cNvPr id="13" name="Shape 10"/>
          <p:cNvSpPr/>
          <p:nvPr/>
        </p:nvSpPr>
        <p:spPr>
          <a:xfrm>
            <a:off x="749808" y="4992624"/>
            <a:ext cx="685800" cy="0"/>
          </a:xfrm>
          <a:prstGeom prst="line">
            <a:avLst/>
          </a:prstGeom>
          <a:noFill/>
          <a:ln w="76200">
            <a:solidFill>
              <a:srgbClr val="E7A33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627632" y="47640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FUTURE CAPABILITY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886200" y="4718304"/>
            <a:ext cx="6903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Prepare a diverse workforce for reconstruction, decentralization, renewables and changing technical roles.</a:t>
            </a:r>
            <a:endParaRPr lang="en-US" sz="1520" dirty="0"/>
          </a:p>
        </p:txBody>
      </p:sp>
      <p:sp>
        <p:nvSpPr>
          <p:cNvPr id="16" name="Shape 1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WORKFORCE CAPABILITY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Inclusive recovery and safe reintegration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407408" y="2057400"/>
            <a:ext cx="3383280" cy="214884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25603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COMPETENCE +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SAFE ACCOMMODATION +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DIGNITY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502920" y="1280160"/>
            <a:ext cx="3456432" cy="11155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WOMEN ENTERING TECHNICAL ROLES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995928" y="1837944"/>
            <a:ext cx="256032" cy="1289304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211312" y="1280160"/>
            <a:ext cx="3456432" cy="11155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B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30768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VETERANS AND RETURNING WORKERS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65592" y="1837944"/>
            <a:ext cx="-256032" cy="1289304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2920" y="4480560"/>
            <a:ext cx="3456432" cy="11155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5A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PERSONS WITH DISABILITIES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995928" y="5038344"/>
            <a:ext cx="256032" cy="-1911096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211312" y="4480560"/>
            <a:ext cx="3456432" cy="11155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A3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0768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IDPs, RETURNEES AND OLDER WORKERS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65592" y="5038344"/>
            <a:ext cx="-256032" cy="-1911096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52928" y="4754880"/>
            <a:ext cx="6492240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63240" y="5020056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27832" y="495604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Accessible recruitment and training</a:t>
            </a:r>
            <a:endParaRPr lang="en-US" sz="1270" dirty="0"/>
          </a:p>
        </p:txBody>
      </p:sp>
      <p:sp>
        <p:nvSpPr>
          <p:cNvPr id="25" name="Shape 23"/>
          <p:cNvSpPr/>
          <p:nvPr/>
        </p:nvSpPr>
        <p:spPr>
          <a:xfrm>
            <a:off x="5102352" y="5020056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66944" y="495604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Individual reasonable adjustments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7141464" y="5020056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06056" y="495604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Return-to-work and rehabilitation</a:t>
            </a:r>
            <a:endParaRPr lang="en-US" sz="1270" dirty="0"/>
          </a:p>
        </p:txBody>
      </p:sp>
      <p:sp>
        <p:nvSpPr>
          <p:cNvPr id="29" name="Shape 27"/>
          <p:cNvSpPr/>
          <p:nvPr/>
        </p:nvSpPr>
        <p:spPr>
          <a:xfrm>
            <a:off x="3063240" y="5440680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27832" y="537667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Flexible task and schedule design</a:t>
            </a:r>
            <a:endParaRPr lang="en-US" sz="1270" dirty="0"/>
          </a:p>
        </p:txBody>
      </p:sp>
      <p:sp>
        <p:nvSpPr>
          <p:cNvPr id="31" name="Shape 29"/>
          <p:cNvSpPr/>
          <p:nvPr/>
        </p:nvSpPr>
        <p:spPr>
          <a:xfrm>
            <a:off x="5102352" y="5440680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66944" y="537667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Assistive technology and facilities</a:t>
            </a:r>
            <a:endParaRPr lang="en-US" sz="1270" dirty="0"/>
          </a:p>
        </p:txBody>
      </p:sp>
      <p:sp>
        <p:nvSpPr>
          <p:cNvPr id="33" name="Shape 31"/>
          <p:cNvSpPr/>
          <p:nvPr/>
        </p:nvSpPr>
        <p:spPr>
          <a:xfrm>
            <a:off x="7141464" y="5440680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06056" y="537667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Anti-stigma leadership and peer support</a:t>
            </a:r>
            <a:endParaRPr lang="en-US" sz="127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PARTICIPATION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Social dialogue is a safety control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37560" y="2697480"/>
            <a:ext cx="4663440" cy="0"/>
          </a:xfrm>
          <a:prstGeom prst="line">
            <a:avLst/>
          </a:prstGeom>
          <a:noFill/>
          <a:ln w="2540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23160" y="3383280"/>
            <a:ext cx="2377440" cy="1188720"/>
          </a:xfrm>
          <a:prstGeom prst="line">
            <a:avLst/>
          </a:prstGeom>
          <a:noFill/>
          <a:ln w="2540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509760" y="3383280"/>
            <a:ext cx="-2148840" cy="1188720"/>
          </a:xfrm>
          <a:prstGeom prst="line">
            <a:avLst/>
          </a:prstGeom>
          <a:noFill/>
          <a:ln w="2540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14400" y="1828800"/>
            <a:ext cx="3108960" cy="141732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23042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GOVERNMENT / MINISTRY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92440" y="1828800"/>
            <a:ext cx="3108960" cy="1417320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23042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EMPLOYERS / ENTERPRISES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26280" y="4206240"/>
            <a:ext cx="3108960" cy="1417320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46817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WORKERS / UNIONS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709160" y="2194560"/>
            <a:ext cx="274320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7A3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0" y="24414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SHARED RISK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INTELLIGENCE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9808" y="55961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SECTOR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1847088" y="55504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Standards, skills plans, campaigns and emergency coordination</a:t>
            </a:r>
            <a:endParaRPr lang="en-US" sz="1370" dirty="0"/>
          </a:p>
        </p:txBody>
      </p:sp>
      <p:sp>
        <p:nvSpPr>
          <p:cNvPr id="21" name="Text 19"/>
          <p:cNvSpPr/>
          <p:nvPr/>
        </p:nvSpPr>
        <p:spPr>
          <a:xfrm>
            <a:off x="4562856" y="55961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ENTERPRISE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5660136" y="55504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Risk assessment, staffing, schedules, reporting and procurement</a:t>
            </a:r>
            <a:endParaRPr lang="en-US" sz="1370" dirty="0"/>
          </a:p>
        </p:txBody>
      </p:sp>
      <p:sp>
        <p:nvSpPr>
          <p:cNvPr id="23" name="Text 21"/>
          <p:cNvSpPr/>
          <p:nvPr/>
        </p:nvSpPr>
        <p:spPr>
          <a:xfrm>
            <a:off x="8375904" y="55961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TASK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9473184" y="55504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Pre-job briefing, peer checks, stop-work authority and learning</a:t>
            </a:r>
            <a:endParaRPr lang="en-US" sz="137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to measure: a minimum dashboard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58368" y="1207008"/>
            <a:ext cx="109728" cy="521208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234440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WORKFORCE</a:t>
            </a:r>
            <a:endParaRPr lang="en-US" sz="1780" dirty="0"/>
          </a:p>
        </p:txBody>
      </p:sp>
      <p:sp>
        <p:nvSpPr>
          <p:cNvPr id="10" name="Text 8"/>
          <p:cNvSpPr/>
          <p:nvPr/>
        </p:nvSpPr>
        <p:spPr>
          <a:xfrm>
            <a:off x="2615184" y="1207008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Participation, recruitment, retention and progression by sex, age, disability, contract and location</a:t>
            </a:r>
            <a:endParaRPr lang="en-US" sz="1530" dirty="0"/>
          </a:p>
        </p:txBody>
      </p:sp>
      <p:sp>
        <p:nvSpPr>
          <p:cNvPr id="11" name="Shape 9"/>
          <p:cNvSpPr/>
          <p:nvPr/>
        </p:nvSpPr>
        <p:spPr>
          <a:xfrm>
            <a:off x="658368" y="1975104"/>
            <a:ext cx="109728" cy="521208"/>
          </a:xfrm>
          <a:prstGeom prst="rect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2002536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EXPOSURE</a:t>
            </a:r>
            <a:endParaRPr lang="en-US" sz="1780" dirty="0"/>
          </a:p>
        </p:txBody>
      </p:sp>
      <p:sp>
        <p:nvSpPr>
          <p:cNvPr id="13" name="Text 11"/>
          <p:cNvSpPr/>
          <p:nvPr/>
        </p:nvSpPr>
        <p:spPr>
          <a:xfrm>
            <a:off x="2615184" y="1975104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High-risk tasks, shifts, emergency call-outs, travel and contractor exposure</a:t>
            </a:r>
            <a:endParaRPr lang="en-US" sz="1530" dirty="0"/>
          </a:p>
        </p:txBody>
      </p:sp>
      <p:sp>
        <p:nvSpPr>
          <p:cNvPr id="14" name="Shape 12"/>
          <p:cNvSpPr/>
          <p:nvPr/>
        </p:nvSpPr>
        <p:spPr>
          <a:xfrm>
            <a:off x="658368" y="2743200"/>
            <a:ext cx="109728" cy="521208"/>
          </a:xfrm>
          <a:prstGeom prst="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277063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OSH OUTCOMES</a:t>
            </a:r>
            <a:endParaRPr lang="en-US" sz="1780" dirty="0"/>
          </a:p>
        </p:txBody>
      </p:sp>
      <p:sp>
        <p:nvSpPr>
          <p:cNvPr id="16" name="Text 14"/>
          <p:cNvSpPr/>
          <p:nvPr/>
        </p:nvSpPr>
        <p:spPr>
          <a:xfrm>
            <a:off x="2615184" y="274320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Incidents, near misses, occupational disease, fatigue, violence, harassment and psychosocial indicators by task</a:t>
            </a:r>
            <a:endParaRPr lang="en-US" sz="1530" dirty="0"/>
          </a:p>
        </p:txBody>
      </p:sp>
      <p:sp>
        <p:nvSpPr>
          <p:cNvPr id="17" name="Shape 15"/>
          <p:cNvSpPr/>
          <p:nvPr/>
        </p:nvSpPr>
        <p:spPr>
          <a:xfrm>
            <a:off x="658368" y="3511296"/>
            <a:ext cx="109728" cy="5212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538728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 AND ACCESS</a:t>
            </a:r>
            <a:endParaRPr lang="en-US" sz="1780" dirty="0"/>
          </a:p>
        </p:txBody>
      </p:sp>
      <p:sp>
        <p:nvSpPr>
          <p:cNvPr id="19" name="Text 17"/>
          <p:cNvSpPr/>
          <p:nvPr/>
        </p:nvSpPr>
        <p:spPr>
          <a:xfrm>
            <a:off x="2615184" y="3511296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PPE fit, facilities, reasonable adjustments, accessible training and equipment trials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58368" y="4279392"/>
            <a:ext cx="109728" cy="521208"/>
          </a:xfrm>
          <a:prstGeom prst="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306824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CAPABILITY</a:t>
            </a:r>
            <a:endParaRPr lang="en-US" sz="1780" dirty="0"/>
          </a:p>
        </p:txBody>
      </p:sp>
      <p:sp>
        <p:nvSpPr>
          <p:cNvPr id="22" name="Text 20"/>
          <p:cNvSpPr/>
          <p:nvPr/>
        </p:nvSpPr>
        <p:spPr>
          <a:xfrm>
            <a:off x="2615184" y="4279392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Certification, mentoring and access to technical and leadership development</a:t>
            </a:r>
            <a:endParaRPr lang="en-US" sz="1530" dirty="0"/>
          </a:p>
        </p:txBody>
      </p:sp>
      <p:sp>
        <p:nvSpPr>
          <p:cNvPr id="23" name="Shape 21"/>
          <p:cNvSpPr/>
          <p:nvPr/>
        </p:nvSpPr>
        <p:spPr>
          <a:xfrm>
            <a:off x="658368" y="5047488"/>
            <a:ext cx="109728" cy="521208"/>
          </a:xfrm>
          <a:prstGeom prst="rect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5074920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WORKER VOICE</a:t>
            </a:r>
            <a:endParaRPr lang="en-US" sz="1780" dirty="0"/>
          </a:p>
        </p:txBody>
      </p:sp>
      <p:sp>
        <p:nvSpPr>
          <p:cNvPr id="25" name="Text 23"/>
          <p:cNvSpPr/>
          <p:nvPr/>
        </p:nvSpPr>
        <p:spPr>
          <a:xfrm>
            <a:off x="2615184" y="5047488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Concerns raised, response time, action closure, stop-work use and participation quality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8915400" y="1325880"/>
            <a:ext cx="2423160" cy="4315968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62288" y="166420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DATA SAFEGUARDS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162288" y="235915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63456" y="224028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Protect confidentiality</a:t>
            </a:r>
            <a:endParaRPr lang="en-US" sz="1430" dirty="0"/>
          </a:p>
        </p:txBody>
      </p:sp>
      <p:sp>
        <p:nvSpPr>
          <p:cNvPr id="30" name="Shape 28"/>
          <p:cNvSpPr/>
          <p:nvPr/>
        </p:nvSpPr>
        <p:spPr>
          <a:xfrm>
            <a:off x="9162288" y="295351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63456" y="283464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Avoid identifying small groups</a:t>
            </a:r>
            <a:endParaRPr lang="en-US" sz="1430" dirty="0"/>
          </a:p>
        </p:txBody>
      </p:sp>
      <p:sp>
        <p:nvSpPr>
          <p:cNvPr id="32" name="Shape 30"/>
          <p:cNvSpPr/>
          <p:nvPr/>
        </p:nvSpPr>
        <p:spPr>
          <a:xfrm>
            <a:off x="9162288" y="354787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63456" y="342900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Explain the purpose of collection</a:t>
            </a:r>
            <a:endParaRPr lang="en-US" sz="1430" dirty="0"/>
          </a:p>
        </p:txBody>
      </p:sp>
      <p:sp>
        <p:nvSpPr>
          <p:cNvPr id="34" name="Shape 32"/>
          <p:cNvSpPr/>
          <p:nvPr/>
        </p:nvSpPr>
        <p:spPr>
          <a:xfrm>
            <a:off x="9162288" y="414223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63456" y="402336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Separate prevention from punitive monitoring</a:t>
            </a:r>
            <a:endParaRPr lang="en-US" sz="1430" dirty="0"/>
          </a:p>
        </p:txBody>
      </p:sp>
      <p:sp>
        <p:nvSpPr>
          <p:cNvPr id="36" name="Shape 34"/>
          <p:cNvSpPr/>
          <p:nvPr/>
        </p:nvSpPr>
        <p:spPr>
          <a:xfrm>
            <a:off x="9162288" y="473659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63456" y="461772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Combine numbers with worker experience</a:t>
            </a:r>
            <a:endParaRPr lang="en-US" sz="1430" dirty="0"/>
          </a:p>
        </p:txBody>
      </p:sp>
      <p:sp>
        <p:nvSpPr>
          <p:cNvPr id="38" name="Text 36"/>
          <p:cNvSpPr/>
          <p:nvPr/>
        </p:nvSpPr>
        <p:spPr>
          <a:xfrm>
            <a:off x="914400" y="5998464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Measure change - not only activity.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 practical 30-60-90 day agenda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1325880"/>
            <a:ext cx="3429000" cy="45262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00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1627632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057400" y="18745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DAYS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24128" y="2487168"/>
            <a:ext cx="2651760" cy="0"/>
          </a:xfrm>
          <a:prstGeom prst="line">
            <a:avLst/>
          </a:prstGeom>
          <a:noFill/>
          <a:ln w="25400">
            <a:solidFill>
              <a:srgbClr val="00A3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" y="290779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25296" y="2788920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Map high-risk tasks and workforce groups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" y="3566160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25296" y="3447288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Consult workers and representatives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024128" y="4224528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25296" y="4105656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Audit PPE, facilities and exposure data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24128" y="4882896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25296" y="4764024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Identify one urgent psychosocial or harassment risk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462272" y="1325880"/>
            <a:ext cx="3429000" cy="45262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2E8B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9744" y="1627632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60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5879592" y="18745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DAYS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846320" y="2487168"/>
            <a:ext cx="2651760" cy="0"/>
          </a:xfrm>
          <a:prstGeom prst="line">
            <a:avLst/>
          </a:prstGeom>
          <a:noFill/>
          <a:ln w="25400">
            <a:solidFill>
              <a:srgbClr val="2E8B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2907792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47488" y="2788920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Pilot corrected PPE or work design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846320" y="3566160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47488" y="3447288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Update fatigue and emergency protocols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846320" y="4224528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47488" y="4105656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Strengthen reporting and support routes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846320" y="4882896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47488" y="4764024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Launch targeted mentoring or skills pathways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284464" y="1325880"/>
            <a:ext cx="3429000" cy="45262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E7A33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31936" y="1627632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90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9701784" y="18745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DAYS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8668512" y="2487168"/>
            <a:ext cx="2651760" cy="0"/>
          </a:xfrm>
          <a:prstGeom prst="line">
            <a:avLst/>
          </a:prstGeom>
          <a:noFill/>
          <a:ln w="25400">
            <a:solidFill>
              <a:srgbClr val="E7A3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68512" y="2907792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0" y="2788920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Integrate actions into the OSH system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668512" y="3566160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69680" y="3447288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Assign owners, resources and indicators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668512" y="4224528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69680" y="4105656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Embed requirements in procurement and contractor management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8668512" y="4882896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69680" y="4764024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Review results through social dialogue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97280" y="6126480"/>
            <a:ext cx="10012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One action + one owner + one indicator before the session ends.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ergy infrastructure restoration wor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284B96">
              <a:alpha val="91000"/>
            </a:srgbClr>
          </a:solidFill>
          <a:ln w="12700">
            <a:solidFill>
              <a:srgbClr val="284B9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457200"/>
            <a:ext cx="2148840" cy="310896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3232" y="493776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70" kern="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FICTIONAL COMPOSITE CASE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58368" y="960120"/>
            <a:ext cx="5440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RESTORATION AFTER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INFRASTRUCTURE DAMAGE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804672" y="235915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2240280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02:30 in winter. A substation is damaged and a hospital circuit must be restored.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04672" y="3072384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2953512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crew includes two new recruits, a woman technician, a veteran with hearing loss, a contractor and an experienced supervisor.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04672" y="3785616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3666744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Several workers have already been on duty for 12 hours. Communication is intermittent.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4672" y="4498848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4379976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Security clearance is not fully documented. Only one fall-arrest harness is available in a smaller size.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" y="5212080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05840" y="5093208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Management requests restoration within 90 minutes.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21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CASE EXERCISE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Exercise: make one integrated decision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2331720" cy="233172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53312" y="18745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12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1307592" y="26700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MINUTES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4160520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5B5B5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Prepare a two-minute response that connects technical controls, work organization and inclusion.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3657600" y="1417320"/>
            <a:ext cx="3429000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95B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22192" y="1581912"/>
            <a:ext cx="502920" cy="502920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77640" y="1691640"/>
            <a:ext cx="182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80560" y="15819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STOP / GO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13632" y="2167128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must be verified or controlled before work starts?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7543800" y="1417320"/>
            <a:ext cx="3429000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08392" y="1581912"/>
            <a:ext cx="502920" cy="502920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0" y="1691640"/>
            <a:ext cx="182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66760" y="15819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TASK ALLOCATION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799832" y="2167128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How will work be assigned by competence without stereotypes or exclusion?</a:t>
            </a:r>
            <a:endParaRPr lang="en-US" sz="1440" dirty="0"/>
          </a:p>
        </p:txBody>
      </p:sp>
      <p:sp>
        <p:nvSpPr>
          <p:cNvPr id="22" name="Shape 20"/>
          <p:cNvSpPr/>
          <p:nvPr/>
        </p:nvSpPr>
        <p:spPr>
          <a:xfrm>
            <a:off x="3657600" y="3502152"/>
            <a:ext cx="3429000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B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22192" y="3666744"/>
            <a:ext cx="502920" cy="502920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77640" y="3776472"/>
            <a:ext cx="182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80560" y="36667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 AND ACCOMMODATION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913632" y="425196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PPE, communication and work-design adjustments are required?</a:t>
            </a:r>
            <a:endParaRPr lang="en-US" sz="1440" dirty="0"/>
          </a:p>
        </p:txBody>
      </p:sp>
      <p:sp>
        <p:nvSpPr>
          <p:cNvPr id="27" name="Shape 25"/>
          <p:cNvSpPr/>
          <p:nvPr/>
        </p:nvSpPr>
        <p:spPr>
          <a:xfrm>
            <a:off x="7543800" y="3502152"/>
            <a:ext cx="3429000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5A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08392" y="3666744"/>
            <a:ext cx="502920" cy="502920"/>
          </a:xfrm>
          <a:prstGeom prst="ellipse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0" y="3776472"/>
            <a:ext cx="182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366760" y="36667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PSYCHOSOCIAL AND LEARNING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799832" y="425196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How will fatigue, pressure, support and the post-job review be managed?</a:t>
            </a:r>
            <a:endParaRPr lang="en-US" sz="144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CASE EXERCISE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Debrief: from immediate control to system learning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1170432"/>
            <a:ext cx="1051560" cy="694944"/>
          </a:xfrm>
          <a:prstGeom prst="roundRect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13167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011680" y="124358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PAUSE AND VERIFY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09160" y="121615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Clearance, isolation, stability, communication and rescue.</a:t>
            </a:r>
            <a:endParaRPr lang="en-US" sz="1570" dirty="0"/>
          </a:p>
        </p:txBody>
      </p:sp>
      <p:sp>
        <p:nvSpPr>
          <p:cNvPr id="12" name="Shape 10"/>
          <p:cNvSpPr/>
          <p:nvPr/>
        </p:nvSpPr>
        <p:spPr>
          <a:xfrm>
            <a:off x="1207008" y="1892808"/>
            <a:ext cx="0" cy="192024"/>
          </a:xfrm>
          <a:prstGeom prst="line">
            <a:avLst/>
          </a:prstGeom>
          <a:noFill/>
          <a:ln w="1778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5800" y="2121408"/>
            <a:ext cx="1051560" cy="694944"/>
          </a:xfrm>
          <a:prstGeom prst="round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2011680" y="219456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RE-PLAN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09160" y="21671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Realistic sequence, staffing, supervision and stop-work authority.</a:t>
            </a:r>
            <a:endParaRPr lang="en-US" sz="1570" dirty="0"/>
          </a:p>
        </p:txBody>
      </p:sp>
      <p:sp>
        <p:nvSpPr>
          <p:cNvPr id="17" name="Shape 15"/>
          <p:cNvSpPr/>
          <p:nvPr/>
        </p:nvSpPr>
        <p:spPr>
          <a:xfrm>
            <a:off x="1207008" y="2843784"/>
            <a:ext cx="0" cy="192024"/>
          </a:xfrm>
          <a:prstGeom prst="line">
            <a:avLst/>
          </a:prstGeom>
          <a:noFill/>
          <a:ln w="1778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85800" y="3072384"/>
            <a:ext cx="1051560" cy="694944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2186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2011680" y="314553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MATCH COMPETENCE AND FIT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709160" y="3118104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Task allocation, correct PPE and communication accommodation.</a:t>
            </a:r>
            <a:endParaRPr lang="en-US" sz="1570" dirty="0"/>
          </a:p>
        </p:txBody>
      </p:sp>
      <p:sp>
        <p:nvSpPr>
          <p:cNvPr id="22" name="Shape 20"/>
          <p:cNvSpPr/>
          <p:nvPr/>
        </p:nvSpPr>
        <p:spPr>
          <a:xfrm>
            <a:off x="1207008" y="3794760"/>
            <a:ext cx="0" cy="192024"/>
          </a:xfrm>
          <a:prstGeom prst="line">
            <a:avLst/>
          </a:prstGeom>
          <a:noFill/>
          <a:ln w="1778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85800" y="4023360"/>
            <a:ext cx="1051560" cy="694944"/>
          </a:xfrm>
          <a:prstGeom prst="round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" y="41696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2011680" y="40965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CONTROL FATIGUE AND PRESSURE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709160" y="406908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Rest, rotation, replacement and realistic restoration targets.</a:t>
            </a:r>
            <a:endParaRPr lang="en-US" sz="1570" dirty="0"/>
          </a:p>
        </p:txBody>
      </p:sp>
      <p:sp>
        <p:nvSpPr>
          <p:cNvPr id="27" name="Shape 25"/>
          <p:cNvSpPr/>
          <p:nvPr/>
        </p:nvSpPr>
        <p:spPr>
          <a:xfrm>
            <a:off x="1207008" y="4745736"/>
            <a:ext cx="0" cy="192024"/>
          </a:xfrm>
          <a:prstGeom prst="line">
            <a:avLst/>
          </a:prstGeom>
          <a:noFill/>
          <a:ln w="1778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5800" y="4974336"/>
            <a:ext cx="1051560" cy="694944"/>
          </a:xfrm>
          <a:prstGeom prst="roundRect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7552" y="51206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5</a:t>
            </a:r>
            <a:endParaRPr lang="en-US" sz="2500" dirty="0"/>
          </a:p>
        </p:txBody>
      </p:sp>
      <p:sp>
        <p:nvSpPr>
          <p:cNvPr id="30" name="Text 28"/>
          <p:cNvSpPr/>
          <p:nvPr/>
        </p:nvSpPr>
        <p:spPr>
          <a:xfrm>
            <a:off x="2011680" y="504748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LEARN AND IMPROVE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709160" y="502005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Debrief, near misses, support, procurement and protocol updates.</a:t>
            </a:r>
            <a:endParaRPr lang="en-US" sz="1570" dirty="0"/>
          </a:p>
        </p:txBody>
      </p:sp>
      <p:sp>
        <p:nvSpPr>
          <p:cNvPr id="32" name="Shape 30"/>
          <p:cNvSpPr/>
          <p:nvPr/>
        </p:nvSpPr>
        <p:spPr>
          <a:xfrm>
            <a:off x="1097280" y="6080760"/>
            <a:ext cx="9966960" cy="384048"/>
          </a:xfrm>
          <a:prstGeom prst="roundRect">
            <a:avLst/>
          </a:prstGeom>
          <a:solidFill>
            <a:srgbClr val="D1D5E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0" y="6163056"/>
            <a:ext cx="9418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fastest safe restoration is the one that prevents a second emergency.</a:t>
            </a:r>
            <a:endParaRPr lang="en-US" sz="1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84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FOUR COMMITMENTS FOR MODERN ENERGY WORK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508760"/>
            <a:ext cx="5230368" cy="1417320"/>
          </a:xfrm>
          <a:prstGeom prst="round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" y="173736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ASSESS REAL TASKS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9848" y="225856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Map who does what, under which conditions and with which controls.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91072" y="1508760"/>
            <a:ext cx="5230368" cy="1417320"/>
          </a:xfrm>
          <a:prstGeom prst="round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E8B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73736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DESIGN FOR FIT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702552" y="225856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Make PPE, tools, facilities, communication and schedules work for diverse users.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58368" y="3429000"/>
            <a:ext cx="5230368" cy="1417320"/>
          </a:xfrm>
          <a:prstGeom prst="round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C95B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65760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PREVENT HARM AND HARASSMENT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69848" y="417880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Treat psychosocial risks, violence and harassment as OSH issues for all workers.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291072" y="3429000"/>
            <a:ext cx="5230368" cy="1417320"/>
          </a:xfrm>
          <a:prstGeom prst="round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E7A3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365760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LEARN WITH WORKERS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702552" y="417880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Use participation, data and social dialogue to improve the system continuously.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143000" y="5349240"/>
            <a:ext cx="9921240" cy="0"/>
          </a:xfrm>
          <a:prstGeom prst="line">
            <a:avLst/>
          </a:prstGeom>
          <a:noFill/>
          <a:ln w="1905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65960" y="5669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is the first workplace decision you will change?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SemiCondens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emiCondense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ITCILO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and inclusive energy work for the future - revised</dc:title>
  <dc:subject>Gender-responsive occupational safety and health in the energy sector</dc:subject>
  <dc:creator>International Training Centre of the ILO</dc:creator>
  <cp:lastModifiedBy>International Training Centre of the ILO</cp:lastModifiedBy>
  <cp:revision>1</cp:revision>
  <dcterms:created xsi:type="dcterms:W3CDTF">2026-10-21T20:15:04Z</dcterms:created>
  <dcterms:modified xsi:type="dcterms:W3CDTF">2026-10-21T20:15:04Z</dcterms:modified>
</cp:coreProperties>
</file>